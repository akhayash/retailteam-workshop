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269" r:id="rId5"/>
    <p:sldId id="276" r:id="rId6"/>
    <p:sldId id="282" r:id="rId7"/>
    <p:sldId id="283" r:id="rId8"/>
    <p:sldId id="285" r:id="rId9"/>
    <p:sldId id="286" r:id="rId10"/>
    <p:sldId id="287" r:id="rId11"/>
    <p:sldId id="288" r:id="rId12"/>
    <p:sldId id="289" r:id="rId13"/>
    <p:sldId id="284" r:id="rId14"/>
    <p:sldId id="290" r:id="rId15"/>
    <p:sldId id="291" r:id="rId16"/>
    <p:sldId id="292" r:id="rId17"/>
    <p:sldId id="293" r:id="rId18"/>
    <p:sldId id="294" r:id="rId19"/>
    <p:sldId id="29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2BE16F-A98F-430D-B679-25F3F494962B}">
          <p14:sldIdLst>
            <p14:sldId id="269"/>
            <p14:sldId id="276"/>
            <p14:sldId id="282"/>
            <p14:sldId id="283"/>
            <p14:sldId id="285"/>
            <p14:sldId id="286"/>
            <p14:sldId id="287"/>
            <p14:sldId id="288"/>
            <p14:sldId id="289"/>
            <p14:sldId id="284"/>
            <p14:sldId id="290"/>
            <p14:sldId id="291"/>
            <p14:sldId id="292"/>
            <p14:sldId id="293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B57"/>
    <a:srgbClr val="D4A017"/>
    <a:srgbClr val="B7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9E620-0C71-43FC-A747-BB1C5409AD53}" v="4" dt="2026-05-14T10:42:21.608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76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CBED2-4A09-41C9-81A5-834C3E8680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CB1C3-4F09-4424-9967-4A591E473F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3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67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50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ft Title Black Bk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25780"/>
            <a:ext cx="5511800" cy="1107996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>
              <a:defRPr sz="36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18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0FD32619-3819-428A-8565-629596C914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24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3840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5D8072-A0CA-4D25-667F-9A9BCD4E9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C308C-A43C-59E4-53C1-04BA0232E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55F95E2-6278-840F-EAEA-A9ED2D12D8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9" y="291903"/>
            <a:ext cx="11141564" cy="365125"/>
          </a:xfrm>
          <a:prstGeom prst="rect">
            <a:avLst/>
          </a:prstGeom>
        </p:spPr>
        <p:txBody>
          <a:bodyPr lIns="0"/>
          <a:lstStyle>
            <a:lvl1pPr algn="l">
              <a:buNone/>
              <a:defRPr sz="1400" b="1" i="0">
                <a:solidFill>
                  <a:srgbClr val="3175D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3E57D3-82F1-3802-8E63-E01E3EC547C2}"/>
              </a:ext>
            </a:extLst>
          </p:cNvPr>
          <p:cNvSpPr txBox="1"/>
          <p:nvPr userDrawn="1"/>
        </p:nvSpPr>
        <p:spPr>
          <a:xfrm>
            <a:off x="365760" y="6537960"/>
            <a:ext cx="44630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900" b="0" i="1">
                <a:solidFill>
                  <a:srgbClr val="6B6B6B"/>
                </a:solidFill>
                <a:latin typeface="Calibri"/>
              </a:defRPr>
            </a:pPr>
            <a:r>
              <a:rPr lang="en-US"/>
              <a:t>AI-First Architecting Value with AI  |  From Discovery to Delivery — SOW on Microsoft Paper</a:t>
            </a:r>
          </a:p>
        </p:txBody>
      </p:sp>
    </p:spTree>
    <p:extLst>
      <p:ext uri="{BB962C8B-B14F-4D97-AF65-F5344CB8AC3E}">
        <p14:creationId xmlns:p14="http://schemas.microsoft.com/office/powerpoint/2010/main" val="383495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23975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4C3F4F8-4402-CF7F-453A-5D791400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DDEBC48-607B-D42F-7241-33415344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70D57D-346B-F858-6872-677AA80CE591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47914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3600" b="0" cap="none" spc="-50" baseline="0" dirty="0">
                <a:ln w="3175">
                  <a:noFill/>
                </a:ln>
                <a:effectLst/>
                <a:ea typeface="+mn-ea"/>
                <a:cs typeface="Segoe UI" pitchFamily="34" charset="0"/>
              </a:defRPr>
            </a:lvl1pPr>
          </a:lstStyle>
          <a:p>
            <a:pPr lvl="0" algn="l" defTabSz="932742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1953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8DAE3174-F8CC-E826-BCB8-60B5A9B2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CCB410E-B977-86A8-D057-373BA578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804A2-2884-0625-86F6-605CEA464243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61151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6F9B73C-310F-FBBC-B1C5-EE1B1E2C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B6206A7-CB8F-639C-EA9C-3F263D65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3900" y="6348721"/>
            <a:ext cx="1420695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A63FEE-F13E-E890-68A6-1C8EB5D30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30089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creenshot, colorfulness&#10;&#10;Description automatically generated">
            <a:extLst>
              <a:ext uri="{FF2B5EF4-FFF2-40B4-BE49-F238E27FC236}">
                <a16:creationId xmlns:a16="http://schemas.microsoft.com/office/drawing/2014/main" id="{FBE4EE1B-40D7-D076-6049-390D913335E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53532" y="0"/>
            <a:ext cx="1040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3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61FA89-3A27-F684-278C-6330A3E61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90" r="8201" b="8956"/>
          <a:stretch>
            <a:fillRect/>
          </a:stretch>
        </p:blipFill>
        <p:spPr>
          <a:xfrm>
            <a:off x="0" y="-2"/>
            <a:ext cx="12192000" cy="685800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0777E1-B797-E64A-56B4-4AD7291F9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0"/>
            <a:ext cx="12192000" cy="6858001"/>
          </a:xfrm>
          <a:prstGeom prst="rect">
            <a:avLst/>
          </a:prstGeom>
          <a:solidFill>
            <a:schemeClr val="tx1">
              <a:alpha val="2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42031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300" b="1" i="0">
                <a:solidFill>
                  <a:srgbClr val="1F9EB7"/>
                </a:solidFill>
                <a:latin typeface="Calibri"/>
              </a:defRPr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95C7E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ARCHITECT TRANSFORMATION PROGRAM  |  TEAM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5000" b="1" i="0">
                <a:solidFill>
                  <a:srgbClr val="14366E"/>
                </a:solidFill>
                <a:latin typeface="Calibri"/>
              </a:defRPr>
            </a:pPr>
            <a:r>
              <a:rPr kumimoji="0" lang="en-US" sz="5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From Discovery to Delivery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3200" b="1" i="0">
                <a:solidFill>
                  <a:srgbClr val="2E6ED4"/>
                </a:solidFill>
                <a:latin typeface="Calibri"/>
              </a:defRPr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8DC8E8"/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SOW on Microsoft Paper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1">
                <a:solidFill>
                  <a:srgbClr val="6B6B6B"/>
                </a:solidFill>
                <a:latin typeface="Calibri"/>
              </a:defRPr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Segoe Sans Text Semibold"/>
                <a:ea typeface="+mn-ea"/>
                <a:cs typeface="+mn-cs"/>
              </a:rPr>
              <a:t>Translating Insight → Solution → Delivery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61782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0" i="1">
                <a:solidFill>
                  <a:srgbClr val="6B6B6B"/>
                </a:solidFill>
                <a:latin typeface="Calibri"/>
              </a:defRPr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Write a customer-ready SOW where every line item traces back to discovery.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BAA811-4304-5F40-EFF1-4381B06F0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645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3649DB-817F-21EB-2DAF-221E3AA3E5AC}"/>
              </a:ext>
            </a:extLst>
          </p:cNvPr>
          <p:cNvSpPr txBox="1"/>
          <p:nvPr/>
        </p:nvSpPr>
        <p:spPr>
          <a:xfrm>
            <a:off x="365760" y="6537960"/>
            <a:ext cx="446308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 b="0" i="1">
                <a:solidFill>
                  <a:srgbClr val="6B6B6B"/>
                </a:solidFill>
                <a:latin typeface="Calibri"/>
              </a:defRPr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6B6B6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AI-First Architecting Value with AI  |  From Discovery to Delivery — SOW on Microsoft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E491-AE27-0623-55F2-A36ABA69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Purpose &amp; Guardrail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EB0CB-E763-FCE2-25BC-9FFA570207B2}"/>
              </a:ext>
            </a:extLst>
          </p:cNvPr>
          <p:cNvSpPr txBox="1"/>
          <p:nvPr/>
        </p:nvSpPr>
        <p:spPr>
          <a:xfrm>
            <a:off x="457200" y="1346076"/>
            <a:ext cx="4657685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What this exercise tests — and the one rule that governs 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1624E2-FB2C-FD32-51F1-AD0F8981BA74}"/>
              </a:ext>
            </a:extLst>
          </p:cNvPr>
          <p:cNvSpPr/>
          <p:nvPr/>
        </p:nvSpPr>
        <p:spPr>
          <a:xfrm>
            <a:off x="457198" y="2104450"/>
            <a:ext cx="11277603" cy="59436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spcBef>
                <a:spcPts val="0"/>
              </a:spcBef>
              <a:spcAft>
                <a:spcPts val="60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rPr lang="en-US" sz="2000">
                <a:latin typeface="Segoe Sans Display" pitchFamily="2" charset="0"/>
                <a:cs typeface="Segoe Sans Display" pitchFamily="2" charset="0"/>
              </a:rPr>
              <a:t>The rules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37DD43-3D69-E58C-551C-4715FD123F0F}"/>
              </a:ext>
            </a:extLst>
          </p:cNvPr>
          <p:cNvSpPr/>
          <p:nvPr/>
        </p:nvSpPr>
        <p:spPr>
          <a:xfrm>
            <a:off x="457199" y="2698810"/>
            <a:ext cx="11277603" cy="2999104"/>
          </a:xfrm>
          <a:prstGeom prst="rect">
            <a:avLst/>
          </a:prstGeom>
          <a:solidFill>
            <a:schemeClr val="accent3">
              <a:lumMod val="20000"/>
              <a:lumOff val="80000"/>
              <a:alpha val="68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tlCol="0" anchor="t"/>
          <a:lstStyle/>
          <a:p>
            <a:pPr>
              <a:spcAft>
                <a:spcPts val="1000"/>
              </a:spcAft>
              <a:defRPr sz="13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Translate customer discovery into a credible, outcome-driven SOW that reflects: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Clear business outcomes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A grounded solution approach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3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Realistic scope, roles, and effort estimates</a:t>
            </a:r>
          </a:p>
          <a:p>
            <a:pPr>
              <a:spcAft>
                <a:spcPts val="400"/>
              </a:spcAft>
              <a:defRPr sz="1300" b="1" i="0">
                <a:solidFill>
                  <a:srgbClr val="0B5594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Tests whether teams can move from</a:t>
            </a:r>
          </a:p>
          <a:p>
            <a:pPr>
              <a:spcAft>
                <a:spcPts val="600"/>
              </a:spcAft>
              <a:defRPr sz="1600" b="1" i="0">
                <a:solidFill>
                  <a:srgbClr val="14366E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Insight   →   Solution   →   Delivery Reality</a:t>
            </a:r>
            <a:endParaRPr lang="en-US" sz="1600">
              <a:solidFill>
                <a:srgbClr val="1F1F1F"/>
              </a:solidFill>
              <a:latin typeface="Segoe Sans Display" pitchFamily="2" charset="0"/>
              <a:cs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964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A4A7363-33E3-A26D-7844-759B676B1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385" y="2572202"/>
            <a:ext cx="860746" cy="8567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9765DB7-D683-805C-0271-72D606D0E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697" t="29123" r="1391" b="50000"/>
          <a:stretch>
            <a:fillRect/>
          </a:stretch>
        </p:blipFill>
        <p:spPr>
          <a:xfrm>
            <a:off x="10076221" y="2572201"/>
            <a:ext cx="1083088" cy="9456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6851B3-93BA-9EB1-EE38-AEB547A54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120" t="28333" r="51968" b="50790"/>
          <a:stretch>
            <a:fillRect/>
          </a:stretch>
        </p:blipFill>
        <p:spPr>
          <a:xfrm>
            <a:off x="3884448" y="2550613"/>
            <a:ext cx="1083088" cy="9456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A9974E-5AB1-EB91-3308-BBA265CFB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762" r="74157" b="50361"/>
          <a:stretch>
            <a:fillRect/>
          </a:stretch>
        </p:blipFill>
        <p:spPr>
          <a:xfrm>
            <a:off x="952236" y="2550613"/>
            <a:ext cx="1170563" cy="9456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90B20A-35FF-3BD3-82DF-195F5551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Why This Exercise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6F1E8-8DA5-E4C3-048E-6CAD1B0A6852}"/>
              </a:ext>
            </a:extLst>
          </p:cNvPr>
          <p:cNvSpPr txBox="1"/>
          <p:nvPr/>
        </p:nvSpPr>
        <p:spPr>
          <a:xfrm>
            <a:off x="163961" y="1463040"/>
            <a:ext cx="12028039" cy="800887"/>
          </a:xfrm>
          <a:prstGeom prst="rect">
            <a:avLst/>
          </a:prstGeom>
          <a:noFill/>
        </p:spPr>
        <p:txBody>
          <a:bodyPr wrap="square" lIns="365760" rtlCol="0" anchor="ctr">
            <a:noAutofit/>
          </a:bodyPr>
          <a:lstStyle/>
          <a:p>
            <a:r>
              <a:rPr lang="en-US" sz="1600" i="1"/>
              <a:t>Mirrors real Microsoft delivery expectations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2DDDD-CE2E-E4A2-FC52-0C3EC53D246E}"/>
              </a:ext>
            </a:extLst>
          </p:cNvPr>
          <p:cNvSpPr txBox="1"/>
          <p:nvPr/>
        </p:nvSpPr>
        <p:spPr>
          <a:xfrm>
            <a:off x="457200" y="3566849"/>
            <a:ext cx="216063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Translate insight into scope</a:t>
            </a:r>
            <a:endParaRPr lang="en-US" sz="1400"/>
          </a:p>
          <a:p>
            <a:pPr algn="ctr"/>
            <a:r>
              <a:rPr lang="en-US" sz="1400"/>
              <a:t>Discovery is the source of every line item.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6458B-E3CF-84BF-80C3-B85F01F9F230}"/>
              </a:ext>
            </a:extLst>
          </p:cNvPr>
          <p:cNvSpPr txBox="1"/>
          <p:nvPr/>
        </p:nvSpPr>
        <p:spPr>
          <a:xfrm>
            <a:off x="3297621" y="3566849"/>
            <a:ext cx="216063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Write outcome-aligned SOWs</a:t>
            </a:r>
          </a:p>
          <a:p>
            <a:pPr algn="ctr"/>
            <a:r>
              <a:rPr lang="en-US" sz="1400"/>
              <a:t>Customer language. Measurable. Reviewable.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4CD468-3E57-1204-0CBF-ED597DB432EB}"/>
              </a:ext>
            </a:extLst>
          </p:cNvPr>
          <p:cNvSpPr txBox="1"/>
          <p:nvPr/>
        </p:nvSpPr>
        <p:spPr>
          <a:xfrm>
            <a:off x="6138042" y="3566849"/>
            <a:ext cx="248921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Defend estimates and roles</a:t>
            </a:r>
          </a:p>
          <a:p>
            <a:pPr algn="ctr"/>
            <a:r>
              <a:rPr lang="en-US" sz="1400"/>
              <a:t>Hours and roles must hold up to challenge.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F0EEDC-6517-51DE-7D98-EEA60FBC2319}"/>
              </a:ext>
            </a:extLst>
          </p:cNvPr>
          <p:cNvSpPr txBox="1"/>
          <p:nvPr/>
        </p:nvSpPr>
        <p:spPr>
          <a:xfrm>
            <a:off x="9307038" y="3566849"/>
            <a:ext cx="262145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Prevent over-engineering</a:t>
            </a:r>
          </a:p>
          <a:p>
            <a:pPr algn="ctr"/>
            <a:r>
              <a:rPr lang="en-US" sz="1400"/>
              <a:t>Tight scope. Explicit in / out boundaries.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B4217-E7F6-9082-7823-77F891ED85B2}"/>
              </a:ext>
            </a:extLst>
          </p:cNvPr>
          <p:cNvSpPr txBox="1"/>
          <p:nvPr/>
        </p:nvSpPr>
        <p:spPr>
          <a:xfrm>
            <a:off x="457199" y="5296153"/>
            <a:ext cx="11471295" cy="104180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1800" b="1" i="1">
                <a:solidFill>
                  <a:srgbClr val="14366E"/>
                </a:solidFill>
                <a:latin typeface="Calibri"/>
              </a:defRPr>
            </a:pPr>
            <a:r>
              <a:rPr>
                <a:latin typeface="Segoe Sans Display" pitchFamily="2" charset="0"/>
                <a:cs typeface="Segoe Sans Display" pitchFamily="2" charset="0"/>
              </a:rPr>
              <a:t>Great architecture is inseparable from delivery reality.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0B5594"/>
                </a:solidFill>
                <a:latin typeface="Calibri"/>
              </a:defRPr>
            </a:pPr>
            <a:r>
              <a:rPr>
                <a:latin typeface="Segoe Sans Display" pitchFamily="2" charset="0"/>
                <a:cs typeface="Segoe Sans Display" pitchFamily="2" charset="0"/>
              </a:rPr>
              <a:t>A core theme of the Architect Transformation Program.</a:t>
            </a:r>
          </a:p>
        </p:txBody>
      </p:sp>
    </p:spTree>
    <p:extLst>
      <p:ext uri="{BB962C8B-B14F-4D97-AF65-F5344CB8AC3E}">
        <p14:creationId xmlns:p14="http://schemas.microsoft.com/office/powerpoint/2010/main" val="3357054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5E3-5ECA-3835-FD8E-953EA3998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SOW Structure  |  19 Required Sections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6A67D-5CF5-9977-4423-9ADC7DB672C3}"/>
              </a:ext>
            </a:extLst>
          </p:cNvPr>
          <p:cNvSpPr txBox="1"/>
          <p:nvPr/>
        </p:nvSpPr>
        <p:spPr>
          <a:xfrm>
            <a:off x="457200" y="1346076"/>
            <a:ext cx="6395340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Every team’s SOW must include these. Same skeleton, different industry content.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D6118E-2B4F-642B-35C3-C0578A1F9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152262"/>
              </p:ext>
            </p:extLst>
          </p:nvPr>
        </p:nvGraphicFramePr>
        <p:xfrm>
          <a:off x="457200" y="1710667"/>
          <a:ext cx="11606349" cy="48737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4421">
                  <a:extLst>
                    <a:ext uri="{9D8B030D-6E8A-4147-A177-3AD203B41FA5}">
                      <a16:colId xmlns:a16="http://schemas.microsoft.com/office/drawing/2014/main" val="2869363616"/>
                    </a:ext>
                  </a:extLst>
                </a:gridCol>
                <a:gridCol w="2429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772418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Section title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gridSpan="2"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kern="1200">
                          <a:solidFill>
                            <a:srgbClr val="0B5594"/>
                          </a:solidFill>
                          <a:latin typeface="+mn-lt"/>
                          <a:ea typeface="+mn-ea"/>
                          <a:cs typeface="+mn-cs"/>
                        </a:rPr>
                        <a:t>Document Control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Title (Project / Program Name)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Customer / Prepared for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Provider (e.g., Microsoft ISD)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Version, date, status (Draft / Final)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Work Order reference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solidFill>
                            <a:srgbClr val="1F1F1F"/>
                          </a:solidFill>
                        </a:rPr>
                        <a:t>Validity / expiration terms</a:t>
                      </a: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Introduction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 Context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environment / industry context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Strategic initiative alignment (e.g., digital transformation, platform modernization, AI enablement)</a:t>
                      </a: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 Purpose of Engagement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the engagement delivers (solution, program, migration, platform, etc.) 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Nature of collaboration (joint delivery, co-innovation, transformation program)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 Engagement Model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Explicit statement of: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Agile / fixed capacity / variable scope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Program vs project model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Multi-project / pod / feature team structure (if applicable</a:t>
                      </a:r>
                      <a:endParaRPr lang="en-US"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Objectives and Scope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 Business Objectives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High-level customer outcomes (experience, consolidation, modernization, compliance, etc.)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Non-guarantee clause: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Objectives guide planning but are </a:t>
                      </a: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guaranteed within capacity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 Value Themes (Normalized Across Docs)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categories: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 enablement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consolidation / delivery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&amp; AI enablement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&amp; governance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Migration / modernization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Operational efficiency</a:t>
                      </a: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 Scope Model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Explicit definition: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 scope governed by backlog prioritization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Capacity-driven delivery constraint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Ownership: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Product Owner prioritizes backlog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 executes within capacity</a:t>
                      </a: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73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A89CE-2E99-4440-D84F-A7034EF8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41F9-6E4C-685D-B9D5-E80CF0AD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SOW Structure  |  19 Required Sections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A60F7-A9A9-66D0-FFEF-CB26F97A6495}"/>
              </a:ext>
            </a:extLst>
          </p:cNvPr>
          <p:cNvSpPr txBox="1"/>
          <p:nvPr/>
        </p:nvSpPr>
        <p:spPr>
          <a:xfrm>
            <a:off x="457200" y="1346076"/>
            <a:ext cx="6395340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Every team’s SOW must include these. Same skeleton, different industry content.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FD17F2-9658-7789-E08E-2E69C18A9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850403"/>
              </p:ext>
            </p:extLst>
          </p:nvPr>
        </p:nvGraphicFramePr>
        <p:xfrm>
          <a:off x="457200" y="1710667"/>
          <a:ext cx="11606349" cy="43373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4421">
                  <a:extLst>
                    <a:ext uri="{9D8B030D-6E8A-4147-A177-3AD203B41FA5}">
                      <a16:colId xmlns:a16="http://schemas.microsoft.com/office/drawing/2014/main" val="2869363616"/>
                    </a:ext>
                  </a:extLst>
                </a:gridCol>
                <a:gridCol w="2429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772418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Section title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gridSpan="2"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Structured Scope (Epics / Workstreams / Service Areas)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the </a:t>
                      </a: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reusable structural layer 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 Common Epic Categories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(Consistently observed across Caixa + B3 + OSU)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Foundation / Baseline / Intake</a:t>
                      </a: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Discovery, assessment, architecture validation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Architecture &amp; Platform</a:t>
                      </a: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 architecture, DevOps, infrastructure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&amp; Identity</a:t>
                      </a: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Authentication, encryption, Zero Trust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Build / Migration / Execution</a:t>
                      </a: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 build or data/platform migration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Governance &amp; Monitoring</a:t>
                      </a: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KPIs, telemetry, compliance, lifecycle </a:t>
                      </a:r>
                      <a:r>
                        <a:rPr lang="en-US" sz="11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mgmt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Scale / Expansion / Waves</a:t>
                      </a: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Migration waves or additional product increments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Knowledge Transfer</a:t>
                      </a: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Documentation, training, enablement</a:t>
                      </a: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 Scope Characteristics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Scope is: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Non-fixed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Continuously reprioritized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drives: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 execution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 sequence</a:t>
                      </a:r>
                      <a:endParaRPr lang="en-US"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457200" rtl="0" eaLnBrk="1" latinLnBrk="0" hangingPunct="1"/>
                      <a:endParaRPr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Out of Scope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 General Pattern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documents include explicit exclusion tables.</a:t>
                      </a: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 Common Exclusions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licenses and subscriptions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/ infrastructure provisioning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cleansing or large-scale data migration (unless specified)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Third-party software implementation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Organizational change management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End-user training and communications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Production support &amp; operations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testing (often excluded or customer-owned)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integration beyond defined scope</a:t>
                      </a: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657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E6DDD-0C8D-9EB6-749B-1BC43D94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98DC-D910-A7C9-88DD-5A836AAF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SOW Structure  |  19 Required Sections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6F80D-ECC4-3B45-B808-B671DA4D36A6}"/>
              </a:ext>
            </a:extLst>
          </p:cNvPr>
          <p:cNvSpPr txBox="1"/>
          <p:nvPr/>
        </p:nvSpPr>
        <p:spPr>
          <a:xfrm>
            <a:off x="457200" y="1346076"/>
            <a:ext cx="6395340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Every team’s SOW must include these. Same skeleton, different industry content.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A9886EA-4571-6AB6-5BAD-E9B03320D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76423"/>
              </p:ext>
            </p:extLst>
          </p:nvPr>
        </p:nvGraphicFramePr>
        <p:xfrm>
          <a:off x="457200" y="1710667"/>
          <a:ext cx="11609205" cy="50413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4421">
                  <a:extLst>
                    <a:ext uri="{9D8B030D-6E8A-4147-A177-3AD203B41FA5}">
                      <a16:colId xmlns:a16="http://schemas.microsoft.com/office/drawing/2014/main" val="2869363616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772418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Section title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gridSpan="2"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Delivery Approach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 Methodology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Agile Scrum (primary model across all documents)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Fixed capacity + variable scope</a:t>
                      </a: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 Core Mechanics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backlog (central artifact)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 cycles (typically 2–4 weeks)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Iterative delivery with continuous reprioritization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 Delivery Phases (Normalized)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Initiation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Baseline planning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 sprints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Completion / closure</a:t>
                      </a:r>
                    </a:p>
                    <a:p>
                      <a:pPr marL="0" algn="l" defTabSz="457200" rtl="0" eaLnBrk="1" latinLnBrk="0" hangingPunct="1"/>
                      <a:endParaRPr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1321002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Timeline and Capacity Model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Relative timeline (not fixed commitments)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Defined during baseline planning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Examples: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Multi-month project (12–16 months)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Multi-year program (OSU: up to 36 months)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principle: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Timeline adapts to scope and capacity changes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3661177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Organization and Roles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7.1 Structural Model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Common layering across all SOWs: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Executive Steering Committee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Program / Product Governance Layer (Product Council / Control Tower)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 Teams (Feature teams / Pods)</a:t>
                      </a:r>
                    </a:p>
                    <a:p>
                      <a:pPr marL="0" algn="l" defTabSz="457200" rtl="0" eaLnBrk="1" latinLnBrk="0" hangingPunct="1"/>
                      <a:endParaRPr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7.2 Roles (Normalized)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Executive Sponsor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Owner (critical role)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Project / Program Manager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stakeholders / SMEs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 Management Executive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Program / Project Manager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Architect / Technical Lead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Consulting Product Delivery Manager (</a:t>
                      </a:r>
                      <a:r>
                        <a:rPr lang="en-US" sz="110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CPdM</a:t>
                      </a: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Engineers / Consultants</a:t>
                      </a: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541923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593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EB87-1508-2F90-B79A-C066AFDB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309C-6972-C1D7-AF6E-FFF7835A6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SOW Structure  |  19 Required Sections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56405-00E7-669D-9E05-940B1235FC05}"/>
              </a:ext>
            </a:extLst>
          </p:cNvPr>
          <p:cNvSpPr txBox="1"/>
          <p:nvPr/>
        </p:nvSpPr>
        <p:spPr>
          <a:xfrm>
            <a:off x="457200" y="1346076"/>
            <a:ext cx="6395340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Every team’s SOW must include these. Same skeleton, different industry content.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A6B319-5AF5-CF51-75BA-9D1C8C391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779336"/>
              </p:ext>
            </p:extLst>
          </p:nvPr>
        </p:nvGraphicFramePr>
        <p:xfrm>
          <a:off x="457200" y="1710667"/>
          <a:ext cx="11609205" cy="48737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4421">
                  <a:extLst>
                    <a:ext uri="{9D8B030D-6E8A-4147-A177-3AD203B41FA5}">
                      <a16:colId xmlns:a16="http://schemas.microsoft.com/office/drawing/2014/main" val="2869363616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772418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Section title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gridSpan="2"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Governance Framework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 Governance Bodies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Executive Steering Committee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Council / Program Governance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(Optional) Architecture Review Board (OSU program)</a:t>
                      </a: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8.2 Governance Functions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Strategy alignment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prioritization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Issue resolution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authority</a:t>
                      </a: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8.3 Communication Model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 reports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 reviews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Stakeholder reviews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Communication plan</a:t>
                      </a: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3441844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Delivery Execution (Sprint Model)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 Sprint Activities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 planning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Daily standups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 review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Retrospective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9.2 Key Artifacts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backlog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 backlog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 completion report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Roadmaps / burn charts</a:t>
                      </a:r>
                    </a:p>
                    <a:p>
                      <a:pPr marL="0" algn="l" defTabSz="457200" rtl="0" eaLnBrk="1" latinLnBrk="0" hangingPunct="1"/>
                      <a:endParaRPr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3933759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Testing and Quality Management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10.1 Testing Types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Functional testing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testing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Non-functional testing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Acceptance Testing (UAT)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10.2 Responsibility Model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Feature-level validation, system testing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UAT, performance testing (usually)</a:t>
                      </a: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 Defect Management 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Priority levels (P1–P4)</a:t>
                      </a:r>
                    </a:p>
                    <a:p>
                      <a:pPr lvl="0"/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Severity levels (S1–S4)</a:t>
                      </a:r>
                    </a:p>
                    <a:p>
                      <a:pPr lvl="0"/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Backlog-driven remediation</a:t>
                      </a: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523433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92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5854E-B640-2D4B-CF0E-A53892F6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BDE6-5C8A-C300-E7F1-4FEF1777B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SOW Structure  |  19 Required Sections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1D856-563D-7EC4-8B08-9161665CF86D}"/>
              </a:ext>
            </a:extLst>
          </p:cNvPr>
          <p:cNvSpPr txBox="1"/>
          <p:nvPr/>
        </p:nvSpPr>
        <p:spPr>
          <a:xfrm>
            <a:off x="457200" y="1346076"/>
            <a:ext cx="6395340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Every team’s SOW must include these. Same skeleton, different industry content.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D9C2F90-017D-89A5-E2E2-B5790AE15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63106"/>
              </p:ext>
            </p:extLst>
          </p:nvPr>
        </p:nvGraphicFramePr>
        <p:xfrm>
          <a:off x="457200" y="1710667"/>
          <a:ext cx="11609205" cy="4572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4421">
                  <a:extLst>
                    <a:ext uri="{9D8B030D-6E8A-4147-A177-3AD203B41FA5}">
                      <a16:colId xmlns:a16="http://schemas.microsoft.com/office/drawing/2014/main" val="2869363616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772418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Section title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gridSpan="2"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Change Management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 Core Principle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changes must be formally approved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11.2 Trigger Conditions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Capacity exhausted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Scope expansion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Timeline extension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changes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11.3 Process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Written request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 analysis (cost/schedule/scope)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Approval within defined SLA (commonly 3 business days)</a:t>
                      </a:r>
                    </a:p>
                    <a:p>
                      <a:pPr marL="0" algn="l" defTabSz="457200" rtl="0" eaLnBrk="1" latinLnBrk="0" hangingPunct="1"/>
                      <a:endParaRPr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3850321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Risk and Issue Management</a:t>
                      </a:r>
                    </a:p>
                  </a:txBody>
                  <a:tcPr marL="182880" marR="182880" marT="100584" marB="100584"/>
                </a:tc>
                <a:tc gridSpan="2"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RAID log (Risks, Actions, Issues, Decisions)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 monitoring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Escalation process</a:t>
                      </a:r>
                    </a:p>
                  </a:txBody>
                  <a:tcPr marL="182880" marR="182880" marT="100584" marB="100584"/>
                </a:tc>
                <a:tc hMerge="1">
                  <a:txBody>
                    <a:bodyPr/>
                    <a:lstStyle/>
                    <a:p>
                      <a:pPr marL="0" algn="l" defTabSz="457200" rtl="0" eaLnBrk="1" latinLnBrk="0" hangingPunct="1"/>
                      <a:endParaRPr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1059675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Escalation Path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hierarchy:</a:t>
                      </a:r>
                    </a:p>
                    <a:p>
                      <a:pPr marL="228600" lvl="0" indent="-228600">
                        <a:buFont typeface="+mj-lt"/>
                        <a:buAutoNum type="arabicPeriod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 team</a:t>
                      </a:r>
                    </a:p>
                    <a:p>
                      <a:pPr marL="228600" lvl="0" indent="-228600">
                        <a:buFont typeface="+mj-lt"/>
                        <a:buAutoNum type="arabicPeriod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/ Project manager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228600" lvl="0" indent="-228600">
                        <a:buFont typeface="+mj-lt"/>
                        <a:buAutoNum type="arabicPeriod" startAt="3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owner / Program manager</a:t>
                      </a:r>
                    </a:p>
                    <a:p>
                      <a:pPr marL="228600" lvl="0" indent="-228600">
                        <a:buFont typeface="+mj-lt"/>
                        <a:buAutoNum type="arabicPeriod" startAt="3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council / governance body</a:t>
                      </a:r>
                    </a:p>
                    <a:p>
                      <a:pPr marL="228600" indent="-228600">
                        <a:buFont typeface="+mj-lt"/>
                        <a:buAutoNum type="arabicPeriod" startAt="3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Executive steering committee</a:t>
                      </a:r>
                      <a:endParaRPr lang="en-US"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1097129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Work Products and Deliverables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 Typical Outputs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Architecture and design documents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backlog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 reports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Roadmaps / metrics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Migration/runbooks (B3)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Knowledge transfer artifacts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 Acceptance Model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items typically: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 </a:t>
                      </a:r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require formal sign-off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Validated through sprint review</a:t>
                      </a:r>
                      <a:endParaRPr lang="en-US"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2770652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35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03C9E-8C42-ECB5-7C7B-192B17FB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73BB-84A3-2F3F-1C8A-8BC4AE669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SOW Structure  |  19 Required Sections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DE188-26F5-4107-3A8F-C90A209654A0}"/>
              </a:ext>
            </a:extLst>
          </p:cNvPr>
          <p:cNvSpPr txBox="1"/>
          <p:nvPr/>
        </p:nvSpPr>
        <p:spPr>
          <a:xfrm>
            <a:off x="457200" y="1346076"/>
            <a:ext cx="6395340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Every team’s SOW must include these. Same skeleton, different industry content.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4F7951-989C-FBF1-21AB-CEB8FA9B7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78625"/>
              </p:ext>
            </p:extLst>
          </p:nvPr>
        </p:nvGraphicFramePr>
        <p:xfrm>
          <a:off x="457200" y="1710667"/>
          <a:ext cx="11609205" cy="47731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64421">
                  <a:extLst>
                    <a:ext uri="{9D8B030D-6E8A-4147-A177-3AD203B41FA5}">
                      <a16:colId xmlns:a16="http://schemas.microsoft.com/office/drawing/2014/main" val="2869363616"/>
                    </a:ext>
                  </a:extLst>
                </a:gridCol>
                <a:gridCol w="2432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772418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Section title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gridSpan="2"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1400" b="1">
                        <a:solidFill>
                          <a:srgbClr val="FFFFFF"/>
                        </a:solidFill>
                      </a:endParaRPr>
                    </a:p>
                  </a:txBody>
                  <a:tcPr marL="182880" marR="182880" marT="100584" marB="100584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Technical and Environment Requirements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15.1 Common Stack Patterns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Azure (core platform)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DevOps / GitHub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Databricks / AI (program-specific)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 frameworks (Super App case)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15.2 Environment Model</a:t>
                      </a:r>
                      <a:endParaRPr lang="en-US" sz="11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 / Test / Production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Customer-owned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 granted access</a:t>
                      </a:r>
                    </a:p>
                    <a:p>
                      <a:pPr marL="0" algn="l" defTabSz="457200" rtl="0" eaLnBrk="1" latinLnBrk="0" hangingPunct="1"/>
                      <a:endParaRPr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3279603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Customer Responsibilities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Access to systems and environments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SMEs and stakeholders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Documentation and requirements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UAT execution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Manage: 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External dependencies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Organizational readiness</a:t>
                      </a:r>
                    </a:p>
                    <a:p>
                      <a:pPr marL="628650" lvl="1" indent="-171450">
                        <a:buFont typeface="Courier New" panose="02070309020205020404" pitchFamily="49" charset="0"/>
                        <a:buChar char="o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Third-party interactions</a:t>
                      </a:r>
                    </a:p>
                    <a:p>
                      <a:pPr marL="0" algn="l" defTabSz="457200" rtl="0" eaLnBrk="1" latinLnBrk="0" hangingPunct="1"/>
                      <a:endParaRPr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4224437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Assumptions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 categories: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availability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Tooling readiness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Continuous schedule (no breaks)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Remote or hybrid delivery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Compliance/training affects capacity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Agile variability acknowledged</a:t>
                      </a:r>
                      <a:endParaRPr lang="en-US"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848431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18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Program / Project Completion Criteria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Completion occurs when: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Capacity is consumed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Timeline expires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 complete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Contract terminated</a:t>
                      </a: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2796862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marL="182880" marR="182880" marT="100584" marB="10058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B5594"/>
                          </a:solidFill>
                        </a:rPr>
                        <a:t>Appendices and Supporting Material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Definitions / acronyms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Architecture diagrams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backlog samples</a:t>
                      </a:r>
                    </a:p>
                  </a:txBody>
                  <a:tcPr marL="182880" marR="182880" marT="100584" marB="100584"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Technology requirements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Governance visuals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100" kern="1200">
                        <a:solidFill>
                          <a:srgbClr val="1F1F1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82880" marT="100584" marB="100584"/>
                </a:tc>
                <a:extLst>
                  <a:ext uri="{0D108BD9-81ED-4DB2-BD59-A6C34878D82A}">
                    <a16:rowId xmlns:a16="http://schemas.microsoft.com/office/drawing/2014/main" val="2947615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412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2A48-4649-287F-6990-57B431DA2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Worksheet A  |  SOW Header + Outcomes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C68134-41F1-6EF0-B144-89A8EF911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856807"/>
              </p:ext>
            </p:extLst>
          </p:nvPr>
        </p:nvGraphicFramePr>
        <p:xfrm>
          <a:off x="457199" y="1788618"/>
          <a:ext cx="11402293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98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3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Customer / Company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Industry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Team Members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Date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2B57329-32D6-DBA2-6E9A-84B6F260BE60}"/>
              </a:ext>
            </a:extLst>
          </p:cNvPr>
          <p:cNvSpPr/>
          <p:nvPr/>
        </p:nvSpPr>
        <p:spPr>
          <a:xfrm>
            <a:off x="457200" y="3931920"/>
            <a:ext cx="3657601" cy="2371898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t"/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Business Outcomes (2–3)</a:t>
            </a:r>
          </a:p>
          <a:p>
            <a:pPr>
              <a:spcAft>
                <a:spcPts val="1000"/>
              </a:spcAft>
              <a:defRPr sz="1000" b="0" i="1">
                <a:solidFill>
                  <a:srgbClr val="6B6B6B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Measurable. Customer-owned.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___________________________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___________________________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___________________________</a:t>
            </a:r>
            <a:endParaRPr lang="en-US" sz="1600" i="1">
              <a:solidFill>
                <a:schemeClr val="tx1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BE550B-1EB6-950A-60A2-A36A16A1C84A}"/>
              </a:ext>
            </a:extLst>
          </p:cNvPr>
          <p:cNvSpPr txBox="1"/>
          <p:nvPr/>
        </p:nvSpPr>
        <p:spPr>
          <a:xfrm>
            <a:off x="457200" y="1401499"/>
            <a:ext cx="5447966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Identify the engagement and the measurable outcomes it will deliver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54B202-3CAA-2CF7-E110-979B1E5EBFA2}"/>
              </a:ext>
            </a:extLst>
          </p:cNvPr>
          <p:cNvSpPr/>
          <p:nvPr/>
        </p:nvSpPr>
        <p:spPr>
          <a:xfrm>
            <a:off x="4329546" y="3931920"/>
            <a:ext cx="3657601" cy="2371898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t"/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In-Scope Boundaries (3)</a:t>
            </a:r>
          </a:p>
          <a:p>
            <a:pPr>
              <a:spcAft>
                <a:spcPts val="1000"/>
              </a:spcAft>
              <a:defRPr sz="1000" b="0" i="1">
                <a:solidFill>
                  <a:srgbClr val="6B6B6B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What Microsoft will deliver.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___________________________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___________________________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___________________________</a:t>
            </a:r>
            <a:endParaRPr lang="en-US" sz="1600" i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9B094F-C105-DAA2-6E24-6471D570D53B}"/>
              </a:ext>
            </a:extLst>
          </p:cNvPr>
          <p:cNvSpPr/>
          <p:nvPr/>
        </p:nvSpPr>
        <p:spPr>
          <a:xfrm>
            <a:off x="8201892" y="3931920"/>
            <a:ext cx="3657601" cy="2371898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t"/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accent1"/>
                </a:solidFill>
              </a:rPr>
              <a:t>Out of Scope (3)</a:t>
            </a:r>
          </a:p>
          <a:p>
            <a:pPr>
              <a:spcAft>
                <a:spcPts val="1000"/>
              </a:spcAft>
              <a:defRPr sz="1000" b="0" i="1">
                <a:solidFill>
                  <a:srgbClr val="6B6B6B"/>
                </a:solidFill>
                <a:latin typeface="Calibri"/>
              </a:defRPr>
            </a:pPr>
            <a:r>
              <a:rPr lang="en-US" sz="1400">
                <a:latin typeface="Segoe Sans Display" pitchFamily="2" charset="0"/>
                <a:cs typeface="Segoe Sans Display" pitchFamily="2" charset="0"/>
              </a:rPr>
              <a:t>Prevent scope creep — say it explicitly.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___________________________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___________________________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200" b="0" i="0">
                <a:solidFill>
                  <a:srgbClr val="1F1F1F"/>
                </a:solidFill>
                <a:latin typeface="Calibri"/>
              </a:defRPr>
            </a:pPr>
            <a:r>
              <a:rPr lang="en-US" sz="1600">
                <a:latin typeface="Segoe Sans Display" pitchFamily="2" charset="0"/>
                <a:cs typeface="Segoe Sans Display" pitchFamily="2" charset="0"/>
              </a:rPr>
              <a:t>___________________________</a:t>
            </a:r>
            <a:endParaRPr lang="en-US" sz="120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17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7EDE-F4D3-0EC2-CAEF-817C67C2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Worksheet B  |  Deliverables + Acceptance Criteria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DA6F47-5CFA-2085-485D-A55B0636F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636566"/>
              </p:ext>
            </p:extLst>
          </p:nvPr>
        </p:nvGraphicFramePr>
        <p:xfrm>
          <a:off x="457200" y="1716520"/>
          <a:ext cx="11338560" cy="438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Description (customer language)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Acceptance Criteria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Outcome Supported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BD58B6-9346-EAC5-E4FC-9308C17D00B4}"/>
              </a:ext>
            </a:extLst>
          </p:cNvPr>
          <p:cNvSpPr txBox="1"/>
          <p:nvPr/>
        </p:nvSpPr>
        <p:spPr>
          <a:xfrm>
            <a:off x="457200" y="1401499"/>
            <a:ext cx="5047216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If a deliverable has no acceptance criteria, it is not a deliverable.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79498-375A-6246-CF52-74CC80E11871}"/>
              </a:ext>
            </a:extLst>
          </p:cNvPr>
          <p:cNvSpPr txBox="1"/>
          <p:nvPr/>
        </p:nvSpPr>
        <p:spPr>
          <a:xfrm>
            <a:off x="457200" y="6198485"/>
            <a:ext cx="11338560" cy="39747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0" i="1">
                <a:solidFill>
                  <a:srgbClr val="0B5594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Each deliverable must map to an outcome  ·  Each must be reviewable, signable, or testable</a:t>
            </a:r>
          </a:p>
        </p:txBody>
      </p:sp>
    </p:spTree>
    <p:extLst>
      <p:ext uri="{BB962C8B-B14F-4D97-AF65-F5344CB8AC3E}">
        <p14:creationId xmlns:p14="http://schemas.microsoft.com/office/powerpoint/2010/main" val="2717409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7B560-3583-AFB7-05A8-39CC9445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C90D-03BD-387C-2742-1223F088B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Worksheet B  |  Deliverables + Acceptance Criteria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B579F4-0C3B-41FA-8199-2926DC90F70B}"/>
              </a:ext>
            </a:extLst>
          </p:cNvPr>
          <p:cNvSpPr txBox="1"/>
          <p:nvPr/>
        </p:nvSpPr>
        <p:spPr>
          <a:xfrm>
            <a:off x="457200" y="1401499"/>
            <a:ext cx="7762702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Estimate by work package first, then allocate hours to roles. Call out uncertainty as an assumption.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E2EC34-F316-B5E2-51FF-C4829A848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391410"/>
              </p:ext>
            </p:extLst>
          </p:nvPr>
        </p:nvGraphicFramePr>
        <p:xfrm>
          <a:off x="457200" y="1724605"/>
          <a:ext cx="11338560" cy="3657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2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Work package / phase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2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Key activities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2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Role(s)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2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Est. hours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2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Notes / dependencies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959112-4E3F-DB40-79AE-E4C5415CE04E}"/>
              </a:ext>
            </a:extLst>
          </p:cNvPr>
          <p:cNvSpPr txBox="1"/>
          <p:nvPr/>
        </p:nvSpPr>
        <p:spPr>
          <a:xfrm>
            <a:off x="457199" y="5519681"/>
            <a:ext cx="11338560" cy="6661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lIns="182880" bIns="182880" anchor="b">
            <a:noAutofit/>
          </a:bodyPr>
          <a:lstStyle/>
          <a:p>
            <a:pPr algn="l"/>
            <a:r>
              <a:rPr sz="1200" b="1">
                <a:solidFill>
                  <a:srgbClr val="0B5594"/>
                </a:solidFill>
              </a:rPr>
              <a:t>Total estimated hours: </a:t>
            </a:r>
            <a:r>
              <a:rPr sz="1200">
                <a:solidFill>
                  <a:srgbClr val="1F1F1F"/>
                </a:solidFill>
              </a:rPr>
              <a:t>____________     </a:t>
            </a:r>
            <a:r>
              <a:rPr sz="1200" b="1">
                <a:solidFill>
                  <a:srgbClr val="0B5594"/>
                </a:solidFill>
              </a:rPr>
              <a:t>Delivery duration (weeks): </a:t>
            </a:r>
            <a:r>
              <a:rPr sz="1200">
                <a:solidFill>
                  <a:srgbClr val="1F1F1F"/>
                </a:solidFill>
              </a:rPr>
              <a:t>____________     </a:t>
            </a:r>
            <a:r>
              <a:rPr sz="1200" b="1">
                <a:solidFill>
                  <a:srgbClr val="0B5594"/>
                </a:solidFill>
              </a:rPr>
              <a:t>Top 3 assumptions: </a:t>
            </a:r>
            <a:r>
              <a:rPr sz="1200">
                <a:solidFill>
                  <a:srgbClr val="1F1F1F"/>
                </a:solidFill>
              </a:rPr>
              <a:t>____________________________________________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98FB8-E791-B1A7-9CBA-7D724D6FAD9E}"/>
              </a:ext>
            </a:extLst>
          </p:cNvPr>
          <p:cNvSpPr txBox="1"/>
          <p:nvPr/>
        </p:nvSpPr>
        <p:spPr>
          <a:xfrm>
            <a:off x="1726855" y="6251513"/>
            <a:ext cx="873829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100" b="0" i="1">
                <a:solidFill>
                  <a:srgbClr val="6B6B6B"/>
                </a:solidFill>
                <a:latin typeface="Calibri"/>
              </a:defRPr>
            </a:pPr>
            <a:r>
              <a:rPr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rPr>
              <a:t>If a deliverable has no acceptance criteria, it is not a deliverable.  ·  Include customer responsibilities (stakeholder time, data access, SMEs).</a:t>
            </a:r>
          </a:p>
        </p:txBody>
      </p:sp>
    </p:spTree>
    <p:extLst>
      <p:ext uri="{BB962C8B-B14F-4D97-AF65-F5344CB8AC3E}">
        <p14:creationId xmlns:p14="http://schemas.microsoft.com/office/powerpoint/2010/main" val="106323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37FE-80E5-1AFB-6FBE-78EFAE815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Default Roles &amp; Estimation Guidance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79DF8-5772-DDFF-BC0A-F0BE9DD6BB56}"/>
              </a:ext>
            </a:extLst>
          </p:cNvPr>
          <p:cNvSpPr txBox="1"/>
          <p:nvPr/>
        </p:nvSpPr>
        <p:spPr>
          <a:xfrm>
            <a:off x="457200" y="1401499"/>
            <a:ext cx="5302092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Use as a starting point. Add or remove roles to fit the engagement.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4C166-EA74-5FC4-A0B2-3E82A20B4D55}"/>
              </a:ext>
            </a:extLst>
          </p:cNvPr>
          <p:cNvSpPr txBox="1"/>
          <p:nvPr/>
        </p:nvSpPr>
        <p:spPr>
          <a:xfrm>
            <a:off x="373225" y="1812719"/>
            <a:ext cx="6718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1" i="0">
                <a:solidFill>
                  <a:srgbClr val="0B5594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Default Delivery Roles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6038F97-3033-8F9C-52DF-BBFE02700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701437"/>
              </p:ext>
            </p:extLst>
          </p:nvPr>
        </p:nvGraphicFramePr>
        <p:xfrm>
          <a:off x="457199" y="2165010"/>
          <a:ext cx="6400800" cy="4206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Responsibility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Engagement Lead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</a:rPr>
                        <a:t>Overall delivery accountability, customer alignment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Solution Architect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</a:rPr>
                        <a:t>End-to-end solution design tied to outcomes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Industry SME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</a:rPr>
                        <a:t>Business context, industry validation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Delivery Consultant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</a:rPr>
                        <a:t>Execution of defined work packages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B5594"/>
                          </a:solidFill>
                        </a:rPr>
                        <a:t>Project Manager</a:t>
                      </a:r>
                    </a:p>
                  </a:txBody>
                  <a:tcPr marL="182880"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1F1F"/>
                          </a:solidFill>
                        </a:rPr>
                        <a:t>Planning, cadence, risk management</a:t>
                      </a:r>
                    </a:p>
                  </a:txBody>
                  <a:tcPr marL="1828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F354B5E-08FD-043B-D5FD-46F58EE8BD47}"/>
              </a:ext>
            </a:extLst>
          </p:cNvPr>
          <p:cNvSpPr/>
          <p:nvPr/>
        </p:nvSpPr>
        <p:spPr>
          <a:xfrm>
            <a:off x="7091265" y="2165010"/>
            <a:ext cx="4704495" cy="4206240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182880" rtlCol="0" anchor="t"/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Estimation Quick Rules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Estimate by work package first, then allocate hours to roles.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Show hours by role AND by work package — both must be present.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Include what drives the estimate (complexity, sites, data sources, environments).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Call out uncertainty explicitly as an assumption — do not hide it in the numbers.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Include customer responsibilities required to hit the plan.</a:t>
            </a:r>
          </a:p>
          <a:p>
            <a:pPr>
              <a:spcAft>
                <a:spcPts val="1200"/>
              </a:spcAft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396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2D95-382F-1840-50DC-8C126F36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E970-86B8-0BA3-5DD8-8A43D147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“Microsoft Paper” Writing Checklist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2628A-8DEA-BFBB-251F-B5BE11C16DCA}"/>
              </a:ext>
            </a:extLst>
          </p:cNvPr>
          <p:cNvSpPr txBox="1"/>
          <p:nvPr/>
        </p:nvSpPr>
        <p:spPr>
          <a:xfrm>
            <a:off x="457200" y="1401499"/>
            <a:ext cx="5302092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Use as a starting point. Add or remove roles to fit the engagement.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31573D-D63A-7A93-B9EE-B27F8A1444A9}"/>
              </a:ext>
            </a:extLst>
          </p:cNvPr>
          <p:cNvSpPr/>
          <p:nvPr/>
        </p:nvSpPr>
        <p:spPr>
          <a:xfrm>
            <a:off x="457200" y="1990838"/>
            <a:ext cx="5660572" cy="2083529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182880" rtlCol="0" anchor="t"/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Structure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Start with objective + outcomes in customer language (no internal jargon).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Short sections with headings: Objective, Scope, Deliverables, Workplan, Roles, Estimates, Assumptions.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Keep deliverables concrete — reviewable, signable, or testable.</a:t>
            </a:r>
          </a:p>
          <a:p>
            <a:pPr>
              <a:spcAft>
                <a:spcPts val="1200"/>
              </a:spcAft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6348D4-BFC3-8D67-701A-348D82E5658F}"/>
              </a:ext>
            </a:extLst>
          </p:cNvPr>
          <p:cNvSpPr/>
          <p:nvPr/>
        </p:nvSpPr>
        <p:spPr>
          <a:xfrm>
            <a:off x="457199" y="4171091"/>
            <a:ext cx="5660572" cy="2083529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182880" rtlCol="0" anchor="t"/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Estimation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Show hours by role AND by work package.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Include drivers (complexity, number of sites, data sources, environments).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Add an explicit assumptions list that makes the estimate true.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8A8798-5F54-E3F1-65EC-AE0B947FCFB1}"/>
              </a:ext>
            </a:extLst>
          </p:cNvPr>
          <p:cNvSpPr/>
          <p:nvPr/>
        </p:nvSpPr>
        <p:spPr>
          <a:xfrm>
            <a:off x="6245291" y="1990838"/>
            <a:ext cx="5660572" cy="2083529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182880" rtlCol="0" anchor="t"/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Clarity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One idea per paragraph. Prefer bullets over long prose.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Define acronyms the first time they appear.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Avoid solutioning language in scope statements; describe outcomes and deliverables.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3C207B-6419-3270-5F0E-183701783768}"/>
              </a:ext>
            </a:extLst>
          </p:cNvPr>
          <p:cNvSpPr/>
          <p:nvPr/>
        </p:nvSpPr>
        <p:spPr>
          <a:xfrm>
            <a:off x="6245290" y="4171091"/>
            <a:ext cx="5660572" cy="2083529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182880" rtlCol="0" anchor="t"/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accent2"/>
                </a:solidFill>
              </a:rPr>
              <a:t>Delivery Realism + Finish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List customer responsibilities (access, SMEs, data, security reviews).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Add a “scope traps” callout for what could expand hours quickly.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200">
                <a:solidFill>
                  <a:schemeClr val="tx1"/>
                </a:solidFill>
              </a:rPr>
              <a:t>Active voice, consistent tense; reads like a customer-facing document.</a:t>
            </a:r>
          </a:p>
        </p:txBody>
      </p:sp>
    </p:spTree>
    <p:extLst>
      <p:ext uri="{BB962C8B-B14F-4D97-AF65-F5344CB8AC3E}">
        <p14:creationId xmlns:p14="http://schemas.microsoft.com/office/powerpoint/2010/main" val="2004517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8CA9-D1CF-DA2E-FB1F-0C893B60C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E6BC-D4B4-D370-E514-FAB97CC3C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Scoring Rubric  |  21 points total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A3A4F-6230-FD67-C0DC-F5A1B4E6AB77}"/>
              </a:ext>
            </a:extLst>
          </p:cNvPr>
          <p:cNvSpPr txBox="1"/>
          <p:nvPr/>
        </p:nvSpPr>
        <p:spPr>
          <a:xfrm>
            <a:off x="457200" y="1401499"/>
            <a:ext cx="6071534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Score each dimension 0–3. Use to compare teams and coach improvements.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89E252-2ED8-4DA6-2A11-82BA1E6DE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081923"/>
              </p:ext>
            </p:extLst>
          </p:nvPr>
        </p:nvGraphicFramePr>
        <p:xfrm>
          <a:off x="457200" y="1752816"/>
          <a:ext cx="11338560" cy="47372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0–1  Needs Work</a:t>
                      </a:r>
                    </a:p>
                  </a:txBody>
                  <a:tcPr marL="182880" marT="0" anchor="ctr">
                    <a:solidFill>
                      <a:srgbClr val="B7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chemeClr val="tx1"/>
                          </a:solidFill>
                        </a:rPr>
                        <a:t>2  Good</a:t>
                      </a:r>
                    </a:p>
                  </a:txBody>
                  <a:tcPr marL="182880" marT="0" anchor="ctr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3  Excellent</a:t>
                      </a:r>
                    </a:p>
                  </a:txBody>
                  <a:tcPr marL="182880" marT="0" anchor="ctr"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366E"/>
                          </a:solidFill>
                        </a:rPr>
                        <a:t>Traceability to discovery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Scope feels invented; weak linkage to pressures/outcomes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Most elements map back; a few gaps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Every deliverable and hour ties to pressures / outcomes / constraints</a:t>
                      </a:r>
                    </a:p>
                  </a:txBody>
                  <a:tcPr marL="182880" marT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366E"/>
                          </a:solidFill>
                        </a:rPr>
                        <a:t>Outcome clarity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Outcomes vague or unmeasurable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Outcomes measurable but incomplete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Outcomes measurable, prioritized, customer-owned</a:t>
                      </a:r>
                    </a:p>
                  </a:txBody>
                  <a:tcPr marL="182880" marT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366E"/>
                          </a:solidFill>
                        </a:rPr>
                        <a:t>Scope discipline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Bloated scope; unclear boundaries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Reasonable scope; some ambiguity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Tight scope, explicit in/out, protects from creep</a:t>
                      </a:r>
                    </a:p>
                  </a:txBody>
                  <a:tcPr marL="182880" marT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366E"/>
                          </a:solidFill>
                        </a:rPr>
                        <a:t>Deliverables + acceptance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Deliverables unclear; no acceptance criteria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Deliverables clear; criteria partial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Clear deliverables with testable acceptance criteria</a:t>
                      </a:r>
                    </a:p>
                  </a:txBody>
                  <a:tcPr marL="182880" marT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366E"/>
                          </a:solidFill>
                        </a:rPr>
                        <a:t>Estimate realism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Hours/roles not credible or missing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Mostly credible; some under/over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Credible, role-based estimates with assumptions and drivers</a:t>
                      </a:r>
                    </a:p>
                  </a:txBody>
                  <a:tcPr marL="182880" marT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366E"/>
                          </a:solidFill>
                        </a:rPr>
                        <a:t>Roles &amp; responsibilities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Roles unclear; overlaps and gaps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Roles mostly clear; minor gaps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Roles crisp, accountable; customer responsibilities explicit</a:t>
                      </a:r>
                    </a:p>
                  </a:txBody>
                  <a:tcPr marL="182880" marT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4366E"/>
                          </a:solidFill>
                        </a:rPr>
                        <a:t>Risk &amp; assumptions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Risks hidden; assumptions missing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Some assumptions stated</a:t>
                      </a:r>
                    </a:p>
                  </a:txBody>
                  <a:tcPr marL="182880" marT="0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1F1F"/>
                          </a:solidFill>
                        </a:rPr>
                        <a:t>Key assumptions/risks explicit with mitigation/validation plan</a:t>
                      </a:r>
                    </a:p>
                  </a:txBody>
                  <a:tcPr marL="182880" marT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370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69AC8-F2B5-F7A0-44CF-ED348689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5C3810-C194-0B0F-676E-F5BA7D4D1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772536">
            <a:off x="8425650" y="877718"/>
            <a:ext cx="3451335" cy="64479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1300" b="0" cap="none" spc="0">
                <a:ln w="0"/>
                <a:solidFill>
                  <a:schemeClr val="tx2">
                    <a:lumMod val="40000"/>
                    <a:lumOff val="60000"/>
                    <a:alpha val="31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 ExtraBold" panose="020B0004020202020204" pitchFamily="34" charset="0"/>
              </a:rPr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CF22D4-54D2-FB39-E201-8648B71C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2204"/>
            <a:ext cx="11141565" cy="553998"/>
          </a:xfrm>
        </p:spPr>
        <p:txBody>
          <a:bodyPr/>
          <a:lstStyle/>
          <a:p>
            <a:r>
              <a:rPr lang="en-US"/>
              <a:t>Facilitator Debrief  |  Use After Present-Out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D9CE3-0FC7-38E2-2E41-6E5F3ADD668C}"/>
              </a:ext>
            </a:extLst>
          </p:cNvPr>
          <p:cNvSpPr txBox="1"/>
          <p:nvPr/>
        </p:nvSpPr>
        <p:spPr>
          <a:xfrm>
            <a:off x="457200" y="1401499"/>
            <a:ext cx="5762155" cy="307777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 i="1">
                <a:solidFill>
                  <a:srgbClr val="1F1F1F"/>
                </a:solidFill>
                <a:latin typeface="Calibri"/>
              </a:defRPr>
            </a:pPr>
            <a:r>
              <a:rPr lang="en-US">
                <a:latin typeface="Segoe Sans Display" pitchFamily="2" charset="0"/>
                <a:cs typeface="Segoe Sans Display" pitchFamily="2" charset="0"/>
              </a:rPr>
              <a:t>Five questions to surface coaching moments and reinforce the discipline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1EEAB5-68F3-85F5-9EC7-48D0D8C57814}"/>
              </a:ext>
            </a:extLst>
          </p:cNvPr>
          <p:cNvSpPr txBox="1"/>
          <p:nvPr/>
        </p:nvSpPr>
        <p:spPr>
          <a:xfrm>
            <a:off x="457198" y="2664426"/>
            <a:ext cx="7735079" cy="688685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0" tIns="0" rIns="182880" bIns="0" rtlCol="0" anchor="ctr"/>
          <a:lstStyle>
            <a:defPPr>
              <a:defRPr lang="en-US"/>
            </a:defPPr>
            <a:lvl1pPr>
              <a:spcAft>
                <a:spcPts val="1200"/>
              </a:spcAft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Are the outcomes customer-owned and measurable?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53D147-348E-98FD-9630-A259E410CCA5}"/>
              </a:ext>
            </a:extLst>
          </p:cNvPr>
          <p:cNvSpPr/>
          <p:nvPr/>
        </p:nvSpPr>
        <p:spPr>
          <a:xfrm>
            <a:off x="615817" y="2731769"/>
            <a:ext cx="578498" cy="553998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5234E-55EB-0F99-B513-EE31B26C9F04}"/>
              </a:ext>
            </a:extLst>
          </p:cNvPr>
          <p:cNvSpPr txBox="1"/>
          <p:nvPr/>
        </p:nvSpPr>
        <p:spPr>
          <a:xfrm>
            <a:off x="457198" y="3480336"/>
            <a:ext cx="7735079" cy="688685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0" tIns="0" rIns="182880" bIns="0" rtlCol="0" anchor="ctr"/>
          <a:lstStyle>
            <a:defPPr>
              <a:defRPr lang="en-US"/>
            </a:defPPr>
            <a:lvl1pPr>
              <a:spcAft>
                <a:spcPts val="1200"/>
              </a:spcAft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Do the roles and hours feel credible for the scope?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EAC5F2D-B466-EF19-58D4-302F3D4A7AEB}"/>
              </a:ext>
            </a:extLst>
          </p:cNvPr>
          <p:cNvSpPr/>
          <p:nvPr/>
        </p:nvSpPr>
        <p:spPr>
          <a:xfrm>
            <a:off x="615817" y="3547679"/>
            <a:ext cx="578498" cy="553998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ADCD8-0EEA-05EF-207A-83037CA02150}"/>
              </a:ext>
            </a:extLst>
          </p:cNvPr>
          <p:cNvSpPr txBox="1"/>
          <p:nvPr/>
        </p:nvSpPr>
        <p:spPr>
          <a:xfrm>
            <a:off x="457198" y="4296246"/>
            <a:ext cx="7735079" cy="688685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0" tIns="0" rIns="182880" bIns="0" rtlCol="0" anchor="ctr"/>
          <a:lstStyle>
            <a:defPPr>
              <a:defRPr lang="en-US"/>
            </a:defPPr>
            <a:lvl1pPr>
              <a:spcAft>
                <a:spcPts val="1200"/>
              </a:spcAft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What assumptions create the highest delivery risk?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B7A2731-EF91-B903-2F66-1D0BC81C87A2}"/>
              </a:ext>
            </a:extLst>
          </p:cNvPr>
          <p:cNvSpPr/>
          <p:nvPr/>
        </p:nvSpPr>
        <p:spPr>
          <a:xfrm>
            <a:off x="615817" y="4363589"/>
            <a:ext cx="578498" cy="553998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90AF2D-8A12-BC4D-6EDD-819824A1DC1F}"/>
              </a:ext>
            </a:extLst>
          </p:cNvPr>
          <p:cNvSpPr txBox="1"/>
          <p:nvPr/>
        </p:nvSpPr>
        <p:spPr>
          <a:xfrm>
            <a:off x="457198" y="5112158"/>
            <a:ext cx="7735079" cy="688685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0" tIns="0" rIns="182880" bIns="0" rtlCol="0" anchor="ctr"/>
          <a:lstStyle>
            <a:defPPr>
              <a:defRPr lang="en-US"/>
            </a:defPPr>
            <a:lvl1pPr>
              <a:spcAft>
                <a:spcPts val="1200"/>
              </a:spcAft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Where did the team over- or under-scope the work?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3A353D-C6DA-74DA-D6F7-AC6319468DE6}"/>
              </a:ext>
            </a:extLst>
          </p:cNvPr>
          <p:cNvSpPr/>
          <p:nvPr/>
        </p:nvSpPr>
        <p:spPr>
          <a:xfrm>
            <a:off x="615817" y="5179501"/>
            <a:ext cx="578498" cy="553998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583038-DA95-E48C-D2DC-A257163F4206}"/>
              </a:ext>
            </a:extLst>
          </p:cNvPr>
          <p:cNvSpPr txBox="1"/>
          <p:nvPr/>
        </p:nvSpPr>
        <p:spPr>
          <a:xfrm>
            <a:off x="457199" y="6113935"/>
            <a:ext cx="7735077" cy="3552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200" b="1" i="1">
                <a:solidFill>
                  <a:srgbClr val="0B5594"/>
                </a:solidFill>
                <a:latin typeface="Calibri"/>
              </a:defRPr>
            </a:pPr>
            <a:r>
              <a:rPr>
                <a:latin typeface="Segoe Sans Display" pitchFamily="2" charset="0"/>
                <a:cs typeface="Segoe Sans Display" pitchFamily="2" charset="0"/>
              </a:rPr>
              <a:t>If a line in the SOW cannot point back to a line in discovery — it does not belong.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CE221-7154-9A14-14C3-9CE296BF3D3A}"/>
              </a:ext>
            </a:extLst>
          </p:cNvPr>
          <p:cNvSpPr txBox="1"/>
          <p:nvPr/>
        </p:nvSpPr>
        <p:spPr>
          <a:xfrm>
            <a:off x="457198" y="1847370"/>
            <a:ext cx="7735079" cy="689831"/>
          </a:xfrm>
          <a:prstGeom prst="rect">
            <a:avLst/>
          </a:prstGeom>
          <a:solidFill>
            <a:schemeClr val="accent3">
              <a:lumMod val="20000"/>
              <a:lumOff val="80000"/>
              <a:alpha val="75000"/>
            </a:schemeClr>
          </a:solidFill>
          <a:ln w="635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0" tIns="0" rIns="182880" bIns="0" rtlCol="0" anchor="ctr"/>
          <a:lstStyle>
            <a:defPPr>
              <a:defRPr lang="en-US"/>
            </a:defPPr>
            <a:lvl1pPr>
              <a:spcAft>
                <a:spcPts val="1200"/>
              </a:spcAft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t>Is every element of the SOW traceable to discovery?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43BCA5-78FF-3938-FF97-46EDF5A37B4F}"/>
              </a:ext>
            </a:extLst>
          </p:cNvPr>
          <p:cNvSpPr/>
          <p:nvPr/>
        </p:nvSpPr>
        <p:spPr>
          <a:xfrm>
            <a:off x="615817" y="1915286"/>
            <a:ext cx="578498" cy="553998"/>
          </a:xfrm>
          <a:prstGeom prst="ellipse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204576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1">
      <a:dk1>
        <a:sysClr val="windowText" lastClr="000000"/>
      </a:dk1>
      <a:lt1>
        <a:srgbClr val="FFFFFF"/>
      </a:lt1>
      <a:dk2>
        <a:srgbClr val="463668"/>
      </a:dk2>
      <a:lt2>
        <a:srgbClr val="E7E6E6"/>
      </a:lt2>
      <a:accent1>
        <a:srgbClr val="434343"/>
      </a:accent1>
      <a:accent2>
        <a:srgbClr val="2A446F"/>
      </a:accent2>
      <a:accent3>
        <a:srgbClr val="8DC8E8"/>
      </a:accent3>
      <a:accent4>
        <a:srgbClr val="8661C5"/>
      </a:accent4>
      <a:accent5>
        <a:srgbClr val="225B62"/>
      </a:accent5>
      <a:accent6>
        <a:srgbClr val="2F2F2F"/>
      </a:accent6>
      <a:hlink>
        <a:srgbClr val="0078D4"/>
      </a:hlink>
      <a:folHlink>
        <a:srgbClr val="7B7B7B"/>
      </a:folHlink>
    </a:clrScheme>
    <a:fontScheme name="Custom 1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29BA2C596FC949B2F4B7CB2497383C" ma:contentTypeVersion="13" ma:contentTypeDescription="Create a new document." ma:contentTypeScope="" ma:versionID="8b7cb8938f8f5cb192d5e22a256442fe">
  <xsd:schema xmlns:xsd="http://www.w3.org/2001/XMLSchema" xmlns:xs="http://www.w3.org/2001/XMLSchema" xmlns:p="http://schemas.microsoft.com/office/2006/metadata/properties" xmlns:ns1="http://schemas.microsoft.com/sharepoint/v3" xmlns:ns2="f366ca2c-0331-4b68-94c5-c8ac92536882" xmlns:ns3="010a4d30-4de2-46dd-b668-2c35ef8d0964" targetNamespace="http://schemas.microsoft.com/office/2006/metadata/properties" ma:root="true" ma:fieldsID="c6dc196e439cb4b0c24b8dc563536a53" ns1:_="" ns2:_="" ns3:_="">
    <xsd:import namespace="http://schemas.microsoft.com/sharepoint/v3"/>
    <xsd:import namespace="f366ca2c-0331-4b68-94c5-c8ac92536882"/>
    <xsd:import namespace="010a4d30-4de2-46dd-b668-2c35ef8d0964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66ca2c-0331-4b68-94c5-c8ac92536882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0a4d30-4de2-46dd-b668-2c35ef8d09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81b033c-46a0-4780-8372-6f58a352d34c}" ma:internalName="TaxCatchAll" ma:showField="CatchAllData" ma:web="010a4d30-4de2-46dd-b668-2c35ef8d09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f366ca2c-0331-4b68-94c5-c8ac92536882">
      <Terms xmlns="http://schemas.microsoft.com/office/infopath/2007/PartnerControls"/>
    </lcf76f155ced4ddcb4097134ff3c332f>
    <TaxCatchAll xmlns="010a4d30-4de2-46dd-b668-2c35ef8d096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33841A-2356-4AE3-9D5F-87CB89806EE9}">
  <ds:schemaRefs>
    <ds:schemaRef ds:uri="010a4d30-4de2-46dd-b668-2c35ef8d0964"/>
    <ds:schemaRef ds:uri="f366ca2c-0331-4b68-94c5-c8ac9253688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76EC370-2032-4B9E-9B7D-A713386B9521}">
  <ds:schemaRefs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sharepoint/v3"/>
    <ds:schemaRef ds:uri="http://schemas.microsoft.com/office/infopath/2007/PartnerControls"/>
    <ds:schemaRef ds:uri="010a4d30-4de2-46dd-b668-2c35ef8d0964"/>
    <ds:schemaRef ds:uri="http://purl.org/dc/elements/1.1/"/>
    <ds:schemaRef ds:uri="http://schemas.openxmlformats.org/package/2006/metadata/core-properties"/>
    <ds:schemaRef ds:uri="f366ca2c-0331-4b68-94c5-c8ac9253688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88BB9D9-97F9-45F4-AF22-F78E0F7384B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2071</Words>
  <Application>Microsoft Office PowerPoint</Application>
  <PresentationFormat>Widescreen</PresentationFormat>
  <Paragraphs>429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ExtraBold</vt:lpstr>
      <vt:lpstr>Arial</vt:lpstr>
      <vt:lpstr>Calibri</vt:lpstr>
      <vt:lpstr>Courier New</vt:lpstr>
      <vt:lpstr>Segoe Sans Display</vt:lpstr>
      <vt:lpstr>Segoe Sans Text</vt:lpstr>
      <vt:lpstr>Segoe Sans Text Semibold</vt:lpstr>
      <vt:lpstr>Wingdings</vt:lpstr>
      <vt:lpstr>1_Office Theme</vt:lpstr>
      <vt:lpstr>PowerPoint Presentation</vt:lpstr>
      <vt:lpstr>Purpose &amp; Guardrail</vt:lpstr>
      <vt:lpstr>Why This Exercise Matters</vt:lpstr>
      <vt:lpstr>SOW Structure  |  19 Required Sections</vt:lpstr>
      <vt:lpstr>SOW Structure  |  19 Required Sections</vt:lpstr>
      <vt:lpstr>SOW Structure  |  19 Required Sections</vt:lpstr>
      <vt:lpstr>SOW Structure  |  19 Required Sections</vt:lpstr>
      <vt:lpstr>SOW Structure  |  19 Required Sections</vt:lpstr>
      <vt:lpstr>SOW Structure  |  19 Required Sections</vt:lpstr>
      <vt:lpstr>Worksheet A  |  SOW Header + Outcomes</vt:lpstr>
      <vt:lpstr>Worksheet B  |  Deliverables + Acceptance Criteria</vt:lpstr>
      <vt:lpstr>Worksheet B  |  Deliverables + Acceptance Criteria</vt:lpstr>
      <vt:lpstr>Default Roles &amp; Estimation Guidance</vt:lpstr>
      <vt:lpstr>“Microsoft Paper” Writing Checklist</vt:lpstr>
      <vt:lpstr>Scoring Rubric  |  21 points total</vt:lpstr>
      <vt:lpstr>Facilitator Debrief  |  Use After Present-Out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Robert Potocnik</dc:creator>
  <cp:keywords/>
  <dc:description>generated using python-pptx</dc:description>
  <cp:lastModifiedBy>Robert Potocnik</cp:lastModifiedBy>
  <cp:revision>2</cp:revision>
  <dcterms:created xsi:type="dcterms:W3CDTF">2013-01-27T09:14:16Z</dcterms:created>
  <dcterms:modified xsi:type="dcterms:W3CDTF">2026-05-14T10:42:21Z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0x0101007729BA2C596FC949B2F4B7CB2497383C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Order">
    <vt:r8>531100</vt:r8>
  </property>
</Properties>
</file>