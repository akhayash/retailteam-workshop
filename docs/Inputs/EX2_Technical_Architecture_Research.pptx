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14_2CE151EF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17"/>
  </p:notesMasterIdLst>
  <p:handoutMasterIdLst>
    <p:handoutMasterId r:id="rId18"/>
  </p:handoutMasterIdLst>
  <p:sldIdLst>
    <p:sldId id="269" r:id="rId6"/>
    <p:sldId id="276" r:id="rId7"/>
    <p:sldId id="275" r:id="rId8"/>
    <p:sldId id="277" r:id="rId9"/>
    <p:sldId id="278" r:id="rId10"/>
    <p:sldId id="279" r:id="rId11"/>
    <p:sldId id="280" r:id="rId12"/>
    <p:sldId id="281" r:id="rId13"/>
    <p:sldId id="282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1BD13B-2344-4F41-99AC-2DDA9613BFA3}">
          <p14:sldIdLst>
            <p14:sldId id="269"/>
            <p14:sldId id="276"/>
            <p14:sldId id="275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Food for thought" id="{7E6BA749-AAEC-4B36-884F-BD0C1EB6CB81}">
          <p14:sldIdLst>
            <p14:sldId id="265"/>
            <p14:sldId id="266"/>
          </p14:sldIdLst>
        </p14:section>
        <p14:section name="Original" id="{0670563B-B2A4-458D-86FB-E9ADC323AAB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FB7706-D677-880B-F9E8-65D27F5D3DE3}" name="Kevin Fleck" initials="KF" userId="S::kfleck@microsoft.com::592a24b6-d598-4a89-99db-55218655c98f" providerId="AD"/>
  <p188:author id="{78D4F1FB-D4A7-101A-E123-4F368CC74BFB}" name="Darryl Schaffer" initials="DS" userId="S::darrylsc@microsoft.com::949d0210-9a49-4bf8-9209-1c37b4bbaf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1C91D-AE03-4903-97DE-02007C0FDA4F}" v="2" dt="2026-05-13T15:45:25.753"/>
    <p1510:client id="{21B993C7-78B2-4B6C-9394-2E32F8AE230A}" v="1" dt="2026-05-13T14:10:56.778"/>
    <p1510:client id="{C0477D6C-43A1-44D4-84F5-8DE82092F0AC}" v="4" dt="2026-05-13T21:24:37.280"/>
    <p1510:client id="{CAA01F5A-3139-4291-BAD7-3EDA3960AF01}" v="1" dt="2026-05-13T14:09:58.063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08" autoAdjust="0"/>
    <p:restoredTop sz="94660"/>
  </p:normalViewPr>
  <p:slideViewPr>
    <p:cSldViewPr snapToGrid="0">
      <p:cViewPr varScale="1">
        <p:scale>
          <a:sx n="93" d="100"/>
          <a:sy n="93" d="100"/>
        </p:scale>
        <p:origin x="68" y="2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omments/modernComment_114_2CE151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5414F-F62E-4666-9336-43AF15264F06}" authorId="{78D4F1FB-D4A7-101A-E123-4F368CC74BFB}" created="2026-05-13T14:09:57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52964079" sldId="276"/>
      <ac:spMk id="13" creationId="{B5887EF4-F186-C3B6-29BE-12AF31004059}"/>
      <ac:txMk cp="174" len="6">
        <ac:context len="282" hash="4112931035"/>
      </ac:txMk>
    </ac:txMkLst>
    <p188:pos x="3403767" y="1423485"/>
    <p188:replyLst>
      <p188:reply id="{41350C95-29FD-4349-ACBC-B785A748BA8B}" authorId="{EFFB7706-D677-880B-F9E8-65D27F5D3DE3}" created="2026-05-13T14:10:56.730">
        <p188:txBody>
          <a:bodyPr/>
          <a:lstStyle/>
          <a:p>
            <a:r>
              <a:rPr lang="en-US"/>
              <a:t>Huh?
</a:t>
            </a:r>
          </a:p>
        </p188:txBody>
      </p188:reply>
    </p188:replyLst>
    <p188:txBody>
      <a:bodyPr/>
      <a:lstStyle/>
      <a:p>
        <a:r>
          <a:rPr lang="en-US"/>
          <a:t>Huh?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73CB56-EB37-77F4-6836-9131A4C0F9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9C11D-FB53-6549-1E55-6D47B4E262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C2D47-8B52-4FE9-A9A2-1ADA2F43B27D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49A9E-E413-75D4-2F2C-2EED83D46C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B02A3-7ED6-A0D3-3D4C-BA35CF407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E6494-6CA0-4E26-91AE-FEB834235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9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B5C32-1647-4DB7-8BB3-6DC9D8B8AEA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F8B0C-73E7-44BF-865F-7E1ECD967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7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5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7D71-727F-7B16-D02E-12D75044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D988C-4DAF-AA89-0881-C29E6FFC4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C78FD-8EB4-3DDF-653C-85F21A4A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90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67EC-62B0-4276-98CE-68ED0B11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FC89B-0BDB-DA0F-4372-99DA744C6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8BAB0-9788-DB50-FB51-B908BA58C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59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 1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Velocity &amp; Confidence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Workforce Productivity &amp; Focus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Resilience &amp; Risk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 Enablement &amp; Innovation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column answers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must improve for this business to succeed?”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ISD guidance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column is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negotiable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it belongs to the customer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Architects should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here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with platforms or tools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 item does not map to a value driver, it should not drive a solution decision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capabilities AI and platforms make possible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independent of any one product.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layer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between business intent and implementation.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 2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insight generation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Embedded intelligence in workflows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 modeling and synthesis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Scalable data integration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Governed AI decision support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ISD mapping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where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 IQ, Foundry IQ, and Fabric IQ naturally belong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enablers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headlines.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 IQ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How intelligence shows up in daily work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 IQ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How insights, scenarios, and synthesis are created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 IQ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How data is unified, governed, and trusted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column answers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must the technology 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support the value driver?”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ISD guidance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column is about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capability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configuration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 shows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business behavior, decisions, or outcomes actually change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 result of Columns 1 and 2 being aligned.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is realized or lost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 entries in Column 3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 executive decision cycles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Reduced rework and downstream risk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adoption and trust in AI outputs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Clearer tradeoffs and prioritization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Measurable movement on cost, speed, or growth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column answers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is different for the business because we made this technology decision?”</a:t>
            </a: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B4649-EBF7-418D-9157-0AEA38DA08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3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 for and coach toward the following behaviors after this slide is introduced: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Signals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 explains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Work IQ / Foundry IQ / Fabric IQ decision matters to the business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Tradeoffs are discussed in terms of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risk, cost, speed, or adoption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is positioned as a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the outcome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Recommendations are framed around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drivers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architecture diagrams</a:t>
            </a:r>
          </a:p>
          <a:p>
            <a:pPr fontAlgn="t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Coaching Opportunities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 leads with features or tools instead of business impact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“AI will help” statements without clarity on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work or decisions change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discussion of risk, governance, or adoption implications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Over‑optimization for technical elegance at the expense of business clarity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B4649-EBF7-418D-9157-0AEA38DA08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0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ft Title Black Bk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25780"/>
            <a:ext cx="55118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>
              <a:defRPr sz="36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17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4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5D8072-A0CA-4D25-667F-9A9BCD4E9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C308C-A43C-59E4-53C1-04BA0232E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5F95E2-6278-840F-EAEA-A9ED2D12D8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291903"/>
            <a:ext cx="11141564" cy="365125"/>
          </a:xfrm>
          <a:prstGeom prst="rect">
            <a:avLst/>
          </a:prstGeom>
        </p:spPr>
        <p:txBody>
          <a:bodyPr lIns="0"/>
          <a:lstStyle>
            <a:lvl1pPr algn="l">
              <a:buNone/>
              <a:defRPr sz="1400" b="1" i="0">
                <a:solidFill>
                  <a:srgbClr val="3175D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57D3-82F1-3802-8E63-E01E3EC547C2}"/>
              </a:ext>
            </a:extLst>
          </p:cNvPr>
          <p:cNvSpPr txBox="1"/>
          <p:nvPr userDrawn="1"/>
        </p:nvSpPr>
        <p:spPr>
          <a:xfrm>
            <a:off x="365760" y="6537960"/>
            <a:ext cx="445827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lang="en-US"/>
              <a:t>AI-First Architecting Value with AI  |  Technical Architecture Research &amp; Future-State Design</a:t>
            </a:r>
          </a:p>
        </p:txBody>
      </p:sp>
    </p:spTree>
    <p:extLst>
      <p:ext uri="{BB962C8B-B14F-4D97-AF65-F5344CB8AC3E}">
        <p14:creationId xmlns:p14="http://schemas.microsoft.com/office/powerpoint/2010/main" val="1708805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3975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4C3F4F8-4402-CF7F-453A-5D79140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DEBC48-607B-D42F-7241-33415344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0D57D-346B-F858-6872-677AA80CE591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82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1953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DAE3174-F8CC-E826-BCB8-60B5A9B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CCB410E-B977-86A8-D057-373BA578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804A2-2884-0625-86F6-605CEA464243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31195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6F9B73C-310F-FBBC-B1C5-EE1B1E2C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B6206A7-CB8F-639C-EA9C-3F263D65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63FEE-F13E-E890-68A6-1C8EB5D30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2342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creenshot, colorfulness&#10;&#10;Description automatically generated">
            <a:extLst>
              <a:ext uri="{FF2B5EF4-FFF2-40B4-BE49-F238E27FC236}">
                <a16:creationId xmlns:a16="http://schemas.microsoft.com/office/drawing/2014/main" id="{FBE4EE1B-40D7-D076-6049-390D913335E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3532" y="0"/>
            <a:ext cx="1040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1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4_2CE151EF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879E36-FE12-8C37-09FE-AE16ED97A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62" r="11767" b="20161"/>
          <a:stretch>
            <a:fillRect/>
          </a:stretch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0777E1-B797-E64A-56B4-4AD7291F9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12192001" cy="6858001"/>
          </a:xfrm>
          <a:prstGeom prst="rect">
            <a:avLst/>
          </a:prstGeom>
          <a:solidFill>
            <a:schemeClr val="tx1">
              <a:alpha val="2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0337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300" b="1" i="0">
                <a:solidFill>
                  <a:srgbClr val="1F9EB7"/>
                </a:solidFill>
                <a:latin typeface="Calibri"/>
              </a:defRPr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95C7E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 TRANSFORMATION  •  FACILITATOR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50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Technical Architecture Research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3200" b="1" i="0">
                <a:solidFill>
                  <a:srgbClr val="2E6ED4"/>
                </a:solidFill>
                <a:latin typeface="Calibri"/>
              </a:defRPr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&amp; Future-State Design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Multi-Industry  |  Same Muscle, Same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90829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Practice architectural synthesis, hypothesis-building, and future-state design — with AI as accelerator, not crutch.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445827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AI-First Architecting Value with AI  |  Technical Architecture Research &amp; Future-State Design</a:t>
            </a:r>
            <a:endParaRPr kumimoji="0" sz="900" b="0" i="1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AA811-4304-5F40-EFF1-4381B06F0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E491-AE27-0623-55F2-A36ABA69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Context &amp; Goal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EB0CB-E763-FCE2-25BC-9FFA570207B2}"/>
              </a:ext>
            </a:extLst>
          </p:cNvPr>
          <p:cNvSpPr txBox="1"/>
          <p:nvPr/>
        </p:nvSpPr>
        <p:spPr>
          <a:xfrm>
            <a:off x="457200" y="1346076"/>
            <a:ext cx="3373039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What this exercise is — and what it is not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1624E2-FB2C-FD32-51F1-AD0F8981BA74}"/>
              </a:ext>
            </a:extLst>
          </p:cNvPr>
          <p:cNvSpPr/>
          <p:nvPr/>
        </p:nvSpPr>
        <p:spPr>
          <a:xfrm>
            <a:off x="457198" y="2104450"/>
            <a:ext cx="5562601" cy="5943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rPr lang="en-US" sz="2000">
                <a:latin typeface="Segoe Sans Display" pitchFamily="2" charset="0"/>
                <a:cs typeface="Segoe Sans Display" pitchFamily="2" charset="0"/>
              </a:rPr>
              <a:t>The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6FB9C2-D7DA-5169-1A8D-D7D0665793C5}"/>
              </a:ext>
            </a:extLst>
          </p:cNvPr>
          <p:cNvSpPr/>
          <p:nvPr/>
        </p:nvSpPr>
        <p:spPr>
          <a:xfrm>
            <a:off x="6339838" y="2104450"/>
            <a:ext cx="5562602" cy="594360"/>
          </a:xfrm>
          <a:prstGeom prst="rect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rPr lang="en-US" sz="2000">
                <a:latin typeface="Segoe Sans Display" pitchFamily="2" charset="0"/>
                <a:cs typeface="Segoe Sans Display" pitchFamily="2" charset="0"/>
              </a:rPr>
              <a:t>The Real Goal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7DD43-3D69-E58C-551C-4715FD123F0F}"/>
              </a:ext>
            </a:extLst>
          </p:cNvPr>
          <p:cNvSpPr/>
          <p:nvPr/>
        </p:nvSpPr>
        <p:spPr>
          <a:xfrm>
            <a:off x="457200" y="2698810"/>
            <a:ext cx="5562600" cy="2999104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t"/>
          <a:lstStyle/>
          <a:p>
            <a:pPr>
              <a:spcAft>
                <a:spcPts val="1200"/>
              </a:spcAft>
            </a:pPr>
            <a:r>
              <a:rPr lang="en-US" sz="1600">
                <a:solidFill>
                  <a:srgbClr val="1F1F1F"/>
                </a:solidFill>
                <a:latin typeface="Segoe Sans Display" pitchFamily="2" charset="0"/>
                <a:cs typeface="Segoe Sans Display" pitchFamily="2" charset="0"/>
              </a:rPr>
              <a:t>Each team represents a different industry and is responsible for developing a credible, industry-appropriate technical architecture point of view for a representative company in that industry.</a:t>
            </a:r>
          </a:p>
          <a:p>
            <a:pPr>
              <a:spcAft>
                <a:spcPts val="1200"/>
              </a:spcAft>
            </a:pPr>
            <a:r>
              <a:rPr lang="en-US" sz="1600">
                <a:solidFill>
                  <a:srgbClr val="1F1F1F"/>
                </a:solidFill>
                <a:latin typeface="Segoe Sans Display" pitchFamily="2" charset="0"/>
                <a:cs typeface="Segoe Sans Display" pitchFamily="2" charset="0"/>
              </a:rPr>
              <a:t>All teams run the same two-phase exercise. Only the industry and company change.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887EF4-F186-C3B6-29BE-12AF31004059}"/>
              </a:ext>
            </a:extLst>
          </p:cNvPr>
          <p:cNvSpPr/>
          <p:nvPr/>
        </p:nvSpPr>
        <p:spPr>
          <a:xfrm>
            <a:off x="6339840" y="2698810"/>
            <a:ext cx="5562600" cy="2999104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t"/>
          <a:lstStyle/>
          <a:p>
            <a:pPr>
              <a:spcAft>
                <a:spcPts val="1200"/>
              </a:spcAft>
              <a:defRPr sz="15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solidFill>
                  <a:schemeClr val="accent2"/>
                </a:solidFill>
                <a:latin typeface="+mj-lt"/>
                <a:cs typeface="Segoe Sans Display" pitchFamily="2" charset="0"/>
              </a:rPr>
              <a:t>The goal is NOT to become industry experts.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solidFill>
                  <a:schemeClr val="accent2"/>
                </a:solidFill>
                <a:latin typeface="+mj-lt"/>
                <a:cs typeface="Segoe Sans Display" pitchFamily="2" charset="0"/>
              </a:rPr>
              <a:t>The goal IS to practice architectural synthesis, hypothesis-building, and future-state design — using AI as an accelerator, not a crutch.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1F1F1F"/>
                </a:solidFill>
                <a:latin typeface="Calibri"/>
              </a:defRPr>
            </a:pPr>
            <a:r>
              <a:rPr lang="en-US" sz="1600" i="1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Treat all outputs as hypotheses, not facts. Clearly separate what is likely from what is confirmed.</a:t>
            </a:r>
          </a:p>
        </p:txBody>
      </p:sp>
    </p:spTree>
    <p:extLst>
      <p:ext uri="{BB962C8B-B14F-4D97-AF65-F5344CB8AC3E}">
        <p14:creationId xmlns:p14="http://schemas.microsoft.com/office/powerpoint/2010/main" val="7529640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1D1B-21C5-E212-32AE-FBB3EF01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Phase A  |  Technical Architecture Research 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012353-A2E9-2A75-F8DF-928BCB2AF7C6}"/>
              </a:ext>
            </a:extLst>
          </p:cNvPr>
          <p:cNvSpPr/>
          <p:nvPr/>
        </p:nvSpPr>
        <p:spPr>
          <a:xfrm>
            <a:off x="457199" y="1884217"/>
            <a:ext cx="2202877" cy="2563091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457200" rtlCol="0" anchor="t"/>
          <a:lstStyle/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endParaRPr lang="en-US"/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Uncover the Tech Stack</a:t>
            </a: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Core platforms, cloud strategy, ERP, domain systems, data platforms, current AI/ML.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BC8D61-0BE6-A2D8-E1A1-F8C63A75B80D}"/>
              </a:ext>
            </a:extLst>
          </p:cNvPr>
          <p:cNvSpPr/>
          <p:nvPr/>
        </p:nvSpPr>
        <p:spPr>
          <a:xfrm>
            <a:off x="689958" y="2019993"/>
            <a:ext cx="502920" cy="502920"/>
          </a:xfrm>
          <a:prstGeom prst="ellipse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91FF8F-A232-1AC3-AB14-1C34794CE8AD}"/>
              </a:ext>
            </a:extLst>
          </p:cNvPr>
          <p:cNvSpPr/>
          <p:nvPr/>
        </p:nvSpPr>
        <p:spPr>
          <a:xfrm>
            <a:off x="2763981" y="1884217"/>
            <a:ext cx="2202877" cy="2563091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457200" rtlCol="0" anchor="t"/>
          <a:lstStyle/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endParaRPr lang="en-US"/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Identify Limitations</a:t>
            </a: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What modernization or AI operationalization challenges has the company faced?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764CEBC-D252-479B-643C-F742651B476F}"/>
              </a:ext>
            </a:extLst>
          </p:cNvPr>
          <p:cNvSpPr/>
          <p:nvPr/>
        </p:nvSpPr>
        <p:spPr>
          <a:xfrm>
            <a:off x="2996740" y="2019993"/>
            <a:ext cx="502920" cy="502920"/>
          </a:xfrm>
          <a:prstGeom prst="ellipse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rPr lang="en-US"/>
              <a:t>2</a:t>
            </a:r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CC1A1A-2C22-56AC-B43B-9374EC0826D4}"/>
              </a:ext>
            </a:extLst>
          </p:cNvPr>
          <p:cNvSpPr/>
          <p:nvPr/>
        </p:nvSpPr>
        <p:spPr>
          <a:xfrm>
            <a:off x="5070763" y="1884217"/>
            <a:ext cx="2202877" cy="2563091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457200" rtlCol="0" anchor="t"/>
          <a:lstStyle/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endParaRPr lang="en-US"/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Emerging Patterns</a:t>
            </a:r>
            <a:br>
              <a:rPr lang="en-US">
                <a:latin typeface="Segoe Sans Display" pitchFamily="2" charset="0"/>
                <a:cs typeface="Segoe Sans Display" pitchFamily="2" charset="0"/>
              </a:rPr>
            </a:br>
            <a:endParaRPr lang="en-US">
              <a:latin typeface="Segoe Sans Display" pitchFamily="2" charset="0"/>
              <a:cs typeface="Segoe Sans Display" pitchFamily="2" charset="0"/>
            </a:endParaRP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Modern reference architectures and design patterns rising in this industry.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18CEF7-63BE-4A1A-542B-749CAD025328}"/>
              </a:ext>
            </a:extLst>
          </p:cNvPr>
          <p:cNvSpPr/>
          <p:nvPr/>
        </p:nvSpPr>
        <p:spPr>
          <a:xfrm>
            <a:off x="5303522" y="2019993"/>
            <a:ext cx="502920" cy="502920"/>
          </a:xfrm>
          <a:prstGeom prst="ellipse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rPr lang="en-US"/>
              <a:t>3</a:t>
            </a:r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D7DA2E2-2B13-33E7-BF60-F13A0DD27A48}"/>
              </a:ext>
            </a:extLst>
          </p:cNvPr>
          <p:cNvSpPr/>
          <p:nvPr/>
        </p:nvSpPr>
        <p:spPr>
          <a:xfrm>
            <a:off x="7377545" y="1884217"/>
            <a:ext cx="2202877" cy="2563091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457200" rIns="182880" rtlCol="0" anchor="t"/>
          <a:lstStyle/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endParaRPr lang="en-US"/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Owners → Domains</a:t>
            </a: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Map executive/leadership roles to their architectural areas of focus.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76CFEA8-F857-B05F-40D0-F0D9B71C27B8}"/>
              </a:ext>
            </a:extLst>
          </p:cNvPr>
          <p:cNvSpPr/>
          <p:nvPr/>
        </p:nvSpPr>
        <p:spPr>
          <a:xfrm>
            <a:off x="7610304" y="2019993"/>
            <a:ext cx="502920" cy="502920"/>
          </a:xfrm>
          <a:prstGeom prst="ellipse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rPr lang="en-US"/>
              <a:t>4</a:t>
            </a:r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66BF949-2ED6-8092-683D-6776310425AC}"/>
              </a:ext>
            </a:extLst>
          </p:cNvPr>
          <p:cNvSpPr/>
          <p:nvPr/>
        </p:nvSpPr>
        <p:spPr>
          <a:xfrm>
            <a:off x="9684327" y="1884217"/>
            <a:ext cx="2202877" cy="2563091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457200" rtlCol="0" anchor="t"/>
          <a:lstStyle/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endParaRPr lang="en-US"/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Persona Profiles</a:t>
            </a:r>
            <a:br>
              <a:rPr lang="en-US">
                <a:latin typeface="Segoe Sans Display" pitchFamily="2" charset="0"/>
                <a:cs typeface="Segoe Sans Display" pitchFamily="2" charset="0"/>
              </a:rPr>
            </a:br>
            <a:endParaRPr lang="en-US">
              <a:latin typeface="Segoe Sans Display" pitchFamily="2" charset="0"/>
              <a:cs typeface="Segoe Sans Display" pitchFamily="2" charset="0"/>
            </a:endParaRP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Frontline, transformation leader, risk/compliance — goals, constraints, friction.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3AE2343-DC9D-A333-0B71-9F943677A7C3}"/>
              </a:ext>
            </a:extLst>
          </p:cNvPr>
          <p:cNvSpPr/>
          <p:nvPr/>
        </p:nvSpPr>
        <p:spPr>
          <a:xfrm>
            <a:off x="9917086" y="2019993"/>
            <a:ext cx="502920" cy="502920"/>
          </a:xfrm>
          <a:prstGeom prst="ellipse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rPr lang="en-US"/>
              <a:t>5</a:t>
            </a:r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272E7F-05F8-F752-1880-93C20350A289}"/>
              </a:ext>
            </a:extLst>
          </p:cNvPr>
          <p:cNvSpPr txBox="1"/>
          <p:nvPr/>
        </p:nvSpPr>
        <p:spPr>
          <a:xfrm>
            <a:off x="457200" y="1346076"/>
            <a:ext cx="6487673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Current state  —  use Copilot to research and synthesize a probable architecture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75927B-13F3-E36E-CD2B-0671333F3B0D}"/>
              </a:ext>
            </a:extLst>
          </p:cNvPr>
          <p:cNvSpPr txBox="1"/>
          <p:nvPr/>
        </p:nvSpPr>
        <p:spPr>
          <a:xfrm>
            <a:off x="2573299" y="4742130"/>
            <a:ext cx="71978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Treat outputs as hypotheses. Separate likely from confirmed. Cite sources where possible.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A06245-A41B-227D-ADC7-D71BC3C0EBD1}"/>
              </a:ext>
            </a:extLst>
          </p:cNvPr>
          <p:cNvSpPr txBox="1"/>
          <p:nvPr/>
        </p:nvSpPr>
        <p:spPr>
          <a:xfrm>
            <a:off x="457200" y="5225197"/>
            <a:ext cx="11430004" cy="12240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48895" dist="38100" dir="5400000" algn="tl" rotWithShape="0">
              <a:prstClr val="black">
                <a:alpha val="22000"/>
              </a:prstClr>
            </a:outerShdw>
          </a:effectLst>
        </p:spPr>
        <p:txBody>
          <a:bodyPr wrap="square" lIns="274320" tIns="91440" rIns="18288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0B5594"/>
                </a:solidFill>
                <a:latin typeface="Calibri"/>
              </a:defRPr>
            </a:pPr>
            <a:r>
              <a:rPr sz="1600">
                <a:latin typeface="Segoe Sans Display" pitchFamily="2" charset="0"/>
                <a:cs typeface="Segoe Sans Display" pitchFamily="2" charset="0"/>
              </a:rPr>
              <a:t>Quality bar for Phase 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1F1F1F"/>
                </a:solidFill>
                <a:latin typeface="Calibri"/>
              </a:defRPr>
            </a:pPr>
            <a:r>
              <a:rPr sz="1350">
                <a:latin typeface="Segoe Sans Display" pitchFamily="2" charset="0"/>
                <a:cs typeface="Segoe Sans Display" pitchFamily="2" charset="0"/>
              </a:rPr>
              <a:t>•  Every claim labeled as Hypothesis or Verified     •  Sources cited where they exist     •  Persona insights tied to actual workflows — not job titles</a:t>
            </a:r>
          </a:p>
        </p:txBody>
      </p:sp>
    </p:spTree>
    <p:extLst>
      <p:ext uri="{BB962C8B-B14F-4D97-AF65-F5344CB8AC3E}">
        <p14:creationId xmlns:p14="http://schemas.microsoft.com/office/powerpoint/2010/main" val="366730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100B-CFF6-5DF8-617B-EDB2016D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Phase A  |  Copilot Prompts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C922C-3328-53AF-C58B-FEC094AC72AF}"/>
              </a:ext>
            </a:extLst>
          </p:cNvPr>
          <p:cNvSpPr txBox="1"/>
          <p:nvPr/>
        </p:nvSpPr>
        <p:spPr>
          <a:xfrm>
            <a:off x="457200" y="1346076"/>
            <a:ext cx="6339236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Use these as your starting point. Substitute &lt;Company Name&gt; and &lt;Industry&gt;.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A4556D-414B-374A-AC42-009846274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5145"/>
              </p:ext>
            </p:extLst>
          </p:nvPr>
        </p:nvGraphicFramePr>
        <p:xfrm>
          <a:off x="457200" y="1773728"/>
          <a:ext cx="11338560" cy="43569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03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Copilot Prompt</a:t>
                      </a: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1. Tech Stack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</a:rPr>
                        <a:t>“Summarize &lt;Company Name&gt;’s digital transformation architecture, including core platforms, cloud strategy, enterprise systems (e.g., ERP), operational or domain-specific systems, data platforms, and current use of AI/ML — within the context of the &lt;Industry&gt; industry.”</a:t>
                      </a:r>
                      <a:endParaRPr sz="1050" i="1">
                        <a:solidFill>
                          <a:srgbClr val="1F1F1F"/>
                        </a:solidFill>
                      </a:endParaRP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2. Limitations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</a:rPr>
                        <a:t>“What challenges has &lt;Company Name&gt; faced in modernizing its technology stack or operationalizing AI, given the constraints and realities of the &lt;Industry&gt; industry?”</a:t>
                      </a:r>
                      <a:endParaRPr sz="1050" i="1">
                        <a:solidFill>
                          <a:srgbClr val="1F1F1F"/>
                        </a:solidFill>
                      </a:endParaRP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3. Patterns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</a:rPr>
                        <a:t>“What modern reference architectures and design patterns are emerging in the &lt;Industry&gt; industry to improve scalability, resilience, decision-making, or operational effectiveness?”</a:t>
                      </a:r>
                      <a:endParaRPr sz="1050" i="1">
                        <a:solidFill>
                          <a:srgbClr val="1F1F1F"/>
                        </a:solidFill>
                      </a:endParaRP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4. Owners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</a:rPr>
                        <a:t>“Who at &lt;Company Name&gt; likely leads digital transformation, core operations, IT/platform engineering, and innovation? Map executive or leadership roles to their architectural areas of focus.”</a:t>
                      </a:r>
                      <a:endParaRPr sz="1050" i="1">
                        <a:solidFill>
                          <a:srgbClr val="1F1F1F"/>
                        </a:solidFill>
                      </a:endParaRP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9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5. Personas</a:t>
                      </a:r>
                    </a:p>
                  </a:txBody>
                  <a:tcPr marL="182880" marR="182880" marT="0" marB="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1F1F"/>
                          </a:solidFill>
                        </a:rPr>
                        <a:t>“Create sample personas relevant to the &lt;Industry&gt; industry at &lt;Company Name&gt;, including one frontline/operational role, one digital/transformation leader, and one risk/compliance/sustainability role. Describe goals, constraints, and how technology supports or hinders their work.”</a:t>
                      </a:r>
                      <a:endParaRPr sz="1050" i="1">
                        <a:solidFill>
                          <a:srgbClr val="1F1F1F"/>
                        </a:solidFill>
                      </a:endParaRPr>
                    </a:p>
                  </a:txBody>
                  <a:tcPr marL="182880" marR="1828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52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C10F-4C54-4F44-2E4B-9CA350BA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Phase B  |  Design Future-State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B2C8A-D1B4-7BA0-57A5-420677F4D194}"/>
              </a:ext>
            </a:extLst>
          </p:cNvPr>
          <p:cNvSpPr txBox="1"/>
          <p:nvPr/>
        </p:nvSpPr>
        <p:spPr>
          <a:xfrm>
            <a:off x="457200" y="1346076"/>
            <a:ext cx="7135928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Synthesize your research into a cohesive future-state, grounded in your industry’s realities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75FAF-1124-BED5-399E-BE02DD096AFF}"/>
              </a:ext>
            </a:extLst>
          </p:cNvPr>
          <p:cNvSpPr txBox="1"/>
          <p:nvPr/>
        </p:nvSpPr>
        <p:spPr>
          <a:xfrm>
            <a:off x="457199" y="1856232"/>
            <a:ext cx="11402291" cy="1309532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1800">
                <a:latin typeface="Segoe Sans Display" pitchFamily="2" charset="0"/>
                <a:cs typeface="Segoe Sans Display" pitchFamily="2" charset="0"/>
              </a:rPr>
              <a:t>Three Architecture Concept Diagrams</a:t>
            </a:r>
          </a:p>
          <a:p>
            <a:r>
              <a:rPr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Cloud-centric platform  ·  Edge + AI Agent operations  ·  Data fabric / intelligence layer</a:t>
            </a:r>
          </a:p>
          <a:p>
            <a:r>
              <a:rPr sz="1200" b="0" i="1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rPr>
              <a:t>Show how agentic AI could transform workflows, decisions, safety, reliability, or optimization — appropriate to the industry</a:t>
            </a:r>
            <a:r>
              <a:rPr sz="1200" i="1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rPr>
              <a:t>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4B1D80-3DAC-B1D3-0606-9E0F46287F6E}"/>
              </a:ext>
            </a:extLst>
          </p:cNvPr>
          <p:cNvSpPr/>
          <p:nvPr/>
        </p:nvSpPr>
        <p:spPr>
          <a:xfrm>
            <a:off x="671946" y="2123070"/>
            <a:ext cx="796636" cy="775855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FB1A9-96DD-3322-66B9-580F9817FA88}"/>
              </a:ext>
            </a:extLst>
          </p:cNvPr>
          <p:cNvSpPr txBox="1"/>
          <p:nvPr/>
        </p:nvSpPr>
        <p:spPr>
          <a:xfrm>
            <a:off x="457199" y="3325445"/>
            <a:ext cx="11402291" cy="1309532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>
                <a:latin typeface="Segoe Sans Display" pitchFamily="2" charset="0"/>
                <a:cs typeface="Segoe Sans Display" pitchFamily="2" charset="0"/>
              </a:rPr>
              <a:t>Persona-Driven Scenarios</a:t>
            </a:r>
          </a:p>
          <a:p>
            <a:r>
              <a:rPr lang="en-US"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What the AI agent does  ·  Decisions it supports (not replaces)  ·  Human + AI collaboration  ·  New roles / hybrid interfaces</a:t>
            </a:r>
          </a:p>
          <a:p>
            <a:r>
              <a:rPr lang="en-US" sz="1200" b="0" i="1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rPr>
              <a:t>“An AI copilot that assists &lt;persona&gt; by synthesizing &lt;data&gt;, flagging &lt;risks&gt;, and recommending &lt;actions&gt; — while the human retains accountability.”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634140-FC33-0D97-2200-4266D105B43E}"/>
              </a:ext>
            </a:extLst>
          </p:cNvPr>
          <p:cNvSpPr/>
          <p:nvPr/>
        </p:nvSpPr>
        <p:spPr>
          <a:xfrm>
            <a:off x="671946" y="3592283"/>
            <a:ext cx="796636" cy="775855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E2BC3-B377-49E6-2978-5376366E3AB2}"/>
              </a:ext>
            </a:extLst>
          </p:cNvPr>
          <p:cNvSpPr txBox="1"/>
          <p:nvPr/>
        </p:nvSpPr>
        <p:spPr>
          <a:xfrm>
            <a:off x="457200" y="4794658"/>
            <a:ext cx="11402291" cy="1309532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>
                <a:latin typeface="Segoe Sans Display" pitchFamily="2" charset="0"/>
                <a:cs typeface="Segoe Sans Display" pitchFamily="2" charset="0"/>
              </a:rPr>
              <a:t>C-Suite Relevance  (“So What?”)</a:t>
            </a:r>
          </a:p>
          <a:p>
            <a:r>
              <a:rPr lang="en-US"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CIO  ·  Business / Operations Leader  ·  Risk / Compliance / Sustainability Leader</a:t>
            </a:r>
          </a:p>
          <a:p>
            <a:r>
              <a:rPr lang="en-US" sz="1200" b="0" i="1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rPr>
              <a:t>Articulate the value of each architecture concept for each executive lens — in their language.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49DE76-8AE2-69C9-D26C-5B8BC3084467}"/>
              </a:ext>
            </a:extLst>
          </p:cNvPr>
          <p:cNvSpPr/>
          <p:nvPr/>
        </p:nvSpPr>
        <p:spPr>
          <a:xfrm>
            <a:off x="671947" y="5061496"/>
            <a:ext cx="796636" cy="775855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03455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EBE045-D8B0-1217-03CD-06799ED4FCCE}"/>
              </a:ext>
            </a:extLst>
          </p:cNvPr>
          <p:cNvSpPr txBox="1"/>
          <p:nvPr/>
        </p:nvSpPr>
        <p:spPr>
          <a:xfrm>
            <a:off x="186164" y="1566956"/>
            <a:ext cx="12005835" cy="441475"/>
          </a:xfrm>
          <a:prstGeom prst="rect">
            <a:avLst/>
          </a:prstGeom>
          <a:noFill/>
        </p:spPr>
        <p:txBody>
          <a:bodyPr wrap="square" lIns="365760" anchor="ctr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/>
              <a:t>Deliverable 1  |  Three Architecture Concept Diagrams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F3DA8-2BB7-F7C7-478E-B9E6CDAD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Deliverable 1  |  Three Architecture Concept Diagrams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A33085-3E81-717B-6D9E-F4B4C73A7F06}"/>
              </a:ext>
            </a:extLst>
          </p:cNvPr>
          <p:cNvSpPr/>
          <p:nvPr/>
        </p:nvSpPr>
        <p:spPr>
          <a:xfrm>
            <a:off x="457199" y="2276285"/>
            <a:ext cx="3713085" cy="594360"/>
          </a:xfrm>
          <a:prstGeom prst="rect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rPr>
              <a:t>A.  Concept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DFF697-DF9D-1697-2DB1-900F9EA83190}"/>
              </a:ext>
            </a:extLst>
          </p:cNvPr>
          <p:cNvSpPr/>
          <p:nvPr/>
        </p:nvSpPr>
        <p:spPr>
          <a:xfrm>
            <a:off x="4351612" y="2276285"/>
            <a:ext cx="3713086" cy="594360"/>
          </a:xfrm>
          <a:prstGeom prst="rect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B.  Concept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D5D9CB-CA15-88A1-F6A3-363A1F6CF5CD}"/>
              </a:ext>
            </a:extLst>
          </p:cNvPr>
          <p:cNvSpPr txBox="1"/>
          <p:nvPr/>
        </p:nvSpPr>
        <p:spPr>
          <a:xfrm>
            <a:off x="457200" y="5857461"/>
            <a:ext cx="11501913" cy="5316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1">
                <a:solidFill>
                  <a:srgbClr val="B7410E"/>
                </a:solidFill>
                <a:latin typeface="Calibri"/>
              </a:defRPr>
            </a:pPr>
            <a:r>
              <a:rPr lang="en-US" sz="1400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Show how agentic AI transforms workflows, decisions, safety, reliability, or optimization — appropriate to your industry.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7841BE-18A4-0E90-A024-5DA8E82A62B2}"/>
              </a:ext>
            </a:extLst>
          </p:cNvPr>
          <p:cNvSpPr/>
          <p:nvPr/>
        </p:nvSpPr>
        <p:spPr>
          <a:xfrm>
            <a:off x="457200" y="2870645"/>
            <a:ext cx="3713085" cy="2710938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1200"/>
              </a:spcAft>
            </a:pPr>
            <a:r>
              <a:rPr lang="en-US" sz="16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Cloud-Centric Platform Architecture</a:t>
            </a:r>
          </a:p>
          <a:p>
            <a:pPr>
              <a:spcAft>
                <a:spcPts val="1200"/>
              </a:spcAft>
            </a:pPr>
            <a:r>
              <a:rPr lang="en-US" sz="1200">
                <a:solidFill>
                  <a:srgbClr val="1F1F1F"/>
                </a:solidFill>
                <a:latin typeface="Segoe Sans Display" pitchFamily="2" charset="0"/>
                <a:cs typeface="Segoe Sans Display" pitchFamily="2" charset="0"/>
              </a:rPr>
              <a:t>Modern data foundation, scalable services, governed AI/ML platform, integration backbone.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6B0F2-46D4-B7AF-DAA8-CF9C85E5D2F2}"/>
              </a:ext>
            </a:extLst>
          </p:cNvPr>
          <p:cNvSpPr/>
          <p:nvPr/>
        </p:nvSpPr>
        <p:spPr>
          <a:xfrm>
            <a:off x="4351614" y="2870645"/>
            <a:ext cx="3713085" cy="2710938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1200"/>
              </a:spcAft>
            </a:pPr>
            <a:r>
              <a:rPr lang="en-US" sz="16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Edge + AI Agent-Enabled Operations</a:t>
            </a:r>
          </a:p>
          <a:p>
            <a:pPr>
              <a:spcAft>
                <a:spcPts val="1200"/>
              </a:spcAft>
            </a:pPr>
            <a:r>
              <a:rPr lang="en-US" sz="1200">
                <a:solidFill>
                  <a:srgbClr val="1F1F1F"/>
                </a:solidFill>
                <a:latin typeface="Segoe Sans Display" pitchFamily="2" charset="0"/>
                <a:cs typeface="Segoe Sans Display" pitchFamily="2" charset="0"/>
              </a:rPr>
              <a:t>Decisioning at the edge, agentic workflows, human-in-the-loop control, latency- and safety-aware patterns.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C804EF-1CEF-90EC-C391-67166528971B}"/>
              </a:ext>
            </a:extLst>
          </p:cNvPr>
          <p:cNvSpPr/>
          <p:nvPr/>
        </p:nvSpPr>
        <p:spPr>
          <a:xfrm>
            <a:off x="8246027" y="2276285"/>
            <a:ext cx="3713086" cy="594360"/>
          </a:xfrm>
          <a:prstGeom prst="rect">
            <a:avLst/>
          </a:prstGeom>
          <a:solidFill>
            <a:srgbClr val="1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C.  Concept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D3C61D-9BC9-2343-45E1-42B6ECE89E17}"/>
              </a:ext>
            </a:extLst>
          </p:cNvPr>
          <p:cNvSpPr/>
          <p:nvPr/>
        </p:nvSpPr>
        <p:spPr>
          <a:xfrm>
            <a:off x="8246027" y="2870645"/>
            <a:ext cx="3713085" cy="2710938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1200"/>
              </a:spcAft>
            </a:pPr>
            <a:r>
              <a:rPr lang="en-US" sz="16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Data Fabric / Intelligence Layer</a:t>
            </a:r>
            <a:br>
              <a:rPr lang="en-US" sz="16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</a:br>
            <a:endParaRPr lang="en-US" sz="1600" b="1">
              <a:solidFill>
                <a:schemeClr val="accent2"/>
              </a:solidFill>
              <a:latin typeface="Segoe Sans Display" pitchFamily="2" charset="0"/>
              <a:cs typeface="Segoe Sans Display" pitchFamily="2" charset="0"/>
            </a:endParaRPr>
          </a:p>
          <a:p>
            <a:pPr>
              <a:spcAft>
                <a:spcPts val="1200"/>
              </a:spcAft>
            </a:pPr>
            <a:r>
              <a:rPr lang="en-US" sz="1200">
                <a:solidFill>
                  <a:srgbClr val="1F1F1F"/>
                </a:solidFill>
                <a:latin typeface="Segoe Sans Display" pitchFamily="2" charset="0"/>
                <a:cs typeface="Segoe Sans Display" pitchFamily="2" charset="0"/>
              </a:rPr>
              <a:t>Unified semantic layer, lineage + governance, AI-ready data products powering decisions across domains.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2C11B-B571-43C4-F25A-750476321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2" t="24432" r="64069" b="47048"/>
          <a:stretch>
            <a:fillRect/>
          </a:stretch>
        </p:blipFill>
        <p:spPr>
          <a:xfrm>
            <a:off x="2973896" y="4541288"/>
            <a:ext cx="1181431" cy="10402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D4311C-9466-67D2-05A2-4DA6D0C85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90" t="24250" r="31621" b="47230"/>
          <a:stretch>
            <a:fillRect/>
          </a:stretch>
        </p:blipFill>
        <p:spPr>
          <a:xfrm>
            <a:off x="6883268" y="4541287"/>
            <a:ext cx="1181431" cy="10402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F91700-D38C-8842-CF2D-2957E7DA5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26" t="25159" r="2485" b="46321"/>
          <a:stretch>
            <a:fillRect/>
          </a:stretch>
        </p:blipFill>
        <p:spPr>
          <a:xfrm>
            <a:off x="10847671" y="4616713"/>
            <a:ext cx="1004075" cy="8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39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6CD0-D3A3-897B-4369-FDB04925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8395-6224-6D0A-42FD-26F7CB07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23220"/>
          </a:xfrm>
        </p:spPr>
        <p:txBody>
          <a:bodyPr/>
          <a:lstStyle/>
          <a:p>
            <a:r>
              <a:rPr lang="en-US" sz="3400"/>
              <a:t>Deliverable 2  |  Persona-Driven Scenarios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E065FF-6AED-DE08-8C26-D0080C66A085}"/>
              </a:ext>
            </a:extLst>
          </p:cNvPr>
          <p:cNvSpPr/>
          <p:nvPr/>
        </p:nvSpPr>
        <p:spPr>
          <a:xfrm>
            <a:off x="457199" y="2077908"/>
            <a:ext cx="5562601" cy="3752479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20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For each concept, describe:</a:t>
            </a:r>
          </a:p>
          <a:p>
            <a:pPr>
              <a:spcAft>
                <a:spcPts val="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endParaRPr lang="en-US" sz="1400">
              <a:latin typeface="Segoe Sans Display" pitchFamily="2" charset="0"/>
              <a:cs typeface="Segoe Sans Display" pitchFamily="2" charset="0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What an AI agent or copilot would do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What decisions it supports  (not replaces)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How humans and AI work together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What new roles, workflows, or hybrid interfaces emerge</a:t>
            </a:r>
            <a:endParaRPr lang="en-US" sz="1200">
              <a:solidFill>
                <a:srgbClr val="1F1F1F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22A504-36BE-86DF-F3F0-76E583DE83B1}"/>
              </a:ext>
            </a:extLst>
          </p:cNvPr>
          <p:cNvSpPr/>
          <p:nvPr/>
        </p:nvSpPr>
        <p:spPr>
          <a:xfrm>
            <a:off x="6339839" y="2077908"/>
            <a:ext cx="5562601" cy="3752479"/>
          </a:xfrm>
          <a:prstGeom prst="rect">
            <a:avLst/>
          </a:prstGeom>
          <a:solidFill>
            <a:schemeClr val="accent4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20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Example framing template</a:t>
            </a:r>
          </a:p>
          <a:p>
            <a:pPr>
              <a:spcAft>
                <a:spcPts val="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endParaRPr lang="en-US" sz="1400">
              <a:latin typeface="Segoe Sans Display" pitchFamily="2" charset="0"/>
              <a:cs typeface="Segoe Sans Display" pitchFamily="2" charset="0"/>
            </a:endParaRPr>
          </a:p>
          <a:p>
            <a:pPr>
              <a:spcAft>
                <a:spcPts val="1800"/>
              </a:spcAft>
              <a:defRPr sz="1500" b="1" i="1">
                <a:solidFill>
                  <a:srgbClr val="14366E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“An AI copilot that assists &lt;persona&gt; by synthesizing &lt;data&gt;, flagging &lt;risks&gt;, and recommending &lt;actions&gt; — while the human retains accountability.”</a:t>
            </a:r>
          </a:p>
          <a:p>
            <a:pPr>
              <a:spcAft>
                <a:spcPts val="800"/>
              </a:spcAft>
              <a:defRPr sz="1200" b="1" i="0">
                <a:solidFill>
                  <a:srgbClr val="0B5594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Fill in your specifics: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•  &lt;persona&gt;  →  	____________________________________________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•  &lt;data&gt;     →  	____________________________________________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•  &lt;risks&gt;    →  	____________________________________________</a:t>
            </a:r>
          </a:p>
          <a:p>
            <a:pPr>
              <a:spcAft>
                <a:spcPts val="6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•  &lt;actions&gt;  →  	____________________________________________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57461-327E-A253-93C9-68720EC53478}"/>
              </a:ext>
            </a:extLst>
          </p:cNvPr>
          <p:cNvSpPr txBox="1"/>
          <p:nvPr/>
        </p:nvSpPr>
        <p:spPr>
          <a:xfrm>
            <a:off x="457200" y="1346076"/>
            <a:ext cx="5943294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For each architecture concept, describe how humans and AI work together</a:t>
            </a:r>
          </a:p>
        </p:txBody>
      </p:sp>
    </p:spTree>
    <p:extLst>
      <p:ext uri="{BB962C8B-B14F-4D97-AF65-F5344CB8AC3E}">
        <p14:creationId xmlns:p14="http://schemas.microsoft.com/office/powerpoint/2010/main" val="271919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DBFA-07D2-DF42-C8D8-C622F028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1107996"/>
          </a:xfrm>
        </p:spPr>
        <p:txBody>
          <a:bodyPr/>
          <a:lstStyle/>
          <a:p>
            <a:r>
              <a:rPr lang="en-US"/>
              <a:t>Deliverable 3  |  C-Suite Relevance  —  “So What?”</a:t>
            </a: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7C3E9-533E-61F6-B770-F3889280BE8F}"/>
              </a:ext>
            </a:extLst>
          </p:cNvPr>
          <p:cNvSpPr txBox="1"/>
          <p:nvPr/>
        </p:nvSpPr>
        <p:spPr>
          <a:xfrm>
            <a:off x="457200" y="1346076"/>
            <a:ext cx="618695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Articulate the value of each architecture concept in each executive’s language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696F7-C94B-6948-877D-02CE85E9D2FB}"/>
              </a:ext>
            </a:extLst>
          </p:cNvPr>
          <p:cNvSpPr txBox="1"/>
          <p:nvPr/>
        </p:nvSpPr>
        <p:spPr>
          <a:xfrm>
            <a:off x="457199" y="1856232"/>
            <a:ext cx="11402291" cy="1309532"/>
          </a:xfrm>
          <a:prstGeom prst="rect">
            <a:avLst/>
          </a:prstGeom>
          <a:solidFill>
            <a:schemeClr val="accent4">
              <a:lumMod val="40000"/>
              <a:lumOff val="6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>
                <a:latin typeface="Segoe Sans Display" pitchFamily="2" charset="0"/>
                <a:cs typeface="Segoe Sans Display" pitchFamily="2" charset="0"/>
              </a:rPr>
              <a:t>CEO</a:t>
            </a:r>
            <a:endParaRPr sz="1800">
              <a:latin typeface="Segoe Sans Display" pitchFamily="2" charset="0"/>
              <a:cs typeface="Segoe Sans Display" pitchFamily="2" charset="0"/>
            </a:endParaRPr>
          </a:p>
          <a:p>
            <a:r>
              <a:rPr lang="en-US"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Platform modernization, scalability, governance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8E669-4303-D6FD-9415-C1F417EC0289}"/>
              </a:ext>
            </a:extLst>
          </p:cNvPr>
          <p:cNvSpPr txBox="1"/>
          <p:nvPr/>
        </p:nvSpPr>
        <p:spPr>
          <a:xfrm>
            <a:off x="457200" y="3318164"/>
            <a:ext cx="11402291" cy="1309532"/>
          </a:xfrm>
          <a:prstGeom prst="rect">
            <a:avLst/>
          </a:prstGeom>
          <a:solidFill>
            <a:schemeClr val="accent3">
              <a:lumMod val="60000"/>
              <a:lumOff val="4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>
                <a:latin typeface="Segoe Sans Display" pitchFamily="2" charset="0"/>
                <a:cs typeface="Segoe Sans Display" pitchFamily="2" charset="0"/>
              </a:rPr>
              <a:t>Business / Operations Leader</a:t>
            </a:r>
            <a:endParaRPr sz="1800">
              <a:latin typeface="Segoe Sans Display" pitchFamily="2" charset="0"/>
              <a:cs typeface="Segoe Sans Display" pitchFamily="2" charset="0"/>
            </a:endParaRPr>
          </a:p>
          <a:p>
            <a:r>
              <a:rPr lang="en-US"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Performance, reliability, speed, experience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49F64-6954-1120-2C5F-E2F9BE361596}"/>
              </a:ext>
            </a:extLst>
          </p:cNvPr>
          <p:cNvSpPr txBox="1"/>
          <p:nvPr/>
        </p:nvSpPr>
        <p:spPr>
          <a:xfrm>
            <a:off x="457200" y="4780096"/>
            <a:ext cx="11402291" cy="1309532"/>
          </a:xfrm>
          <a:prstGeom prst="rect">
            <a:avLst/>
          </a:prstGeom>
          <a:solidFill>
            <a:schemeClr val="accent5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0" tIns="0" bIns="0" rtlCol="0" anchor="ctr"/>
          <a:lstStyle>
            <a:defPPr>
              <a:defRPr lang="en-US"/>
            </a:defPPr>
            <a:lvl1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>
                <a:latin typeface="Segoe Sans Display" pitchFamily="2" charset="0"/>
                <a:cs typeface="Segoe Sans Display" pitchFamily="2" charset="0"/>
              </a:rPr>
              <a:t>Risk / Compliance / Sustainability Leader</a:t>
            </a:r>
            <a:endParaRPr sz="1800">
              <a:latin typeface="Segoe Sans Display" pitchFamily="2" charset="0"/>
              <a:cs typeface="Segoe Sans Display" pitchFamily="2" charset="0"/>
            </a:endParaRPr>
          </a:p>
          <a:p>
            <a:r>
              <a:rPr lang="en-US" sz="1400" b="0">
                <a:solidFill>
                  <a:schemeClr val="accent3">
                    <a:lumMod val="50000"/>
                  </a:schemeClr>
                </a:solidFill>
                <a:latin typeface="Segoe Sans Display" pitchFamily="2" charset="0"/>
                <a:cs typeface="Segoe Sans Display" pitchFamily="2" charset="0"/>
              </a:rPr>
              <a:t>Safety, trust, regulatory alignment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95B85-9253-B27A-2702-9A7890BB2BE5}"/>
              </a:ext>
            </a:extLst>
          </p:cNvPr>
          <p:cNvSpPr txBox="1"/>
          <p:nvPr/>
        </p:nvSpPr>
        <p:spPr>
          <a:xfrm>
            <a:off x="6805749" y="2310366"/>
            <a:ext cx="4604657" cy="58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“Modernize fragmented legacy systems with a scalable data foundation and AI-enabled decision support.”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CCC800-E851-E8FD-456B-85FDA94E719F}"/>
              </a:ext>
            </a:extLst>
          </p:cNvPr>
          <p:cNvSpPr txBox="1"/>
          <p:nvPr/>
        </p:nvSpPr>
        <p:spPr>
          <a:xfrm>
            <a:off x="6805749" y="3742097"/>
            <a:ext cx="4604657" cy="58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Translate the architecture into operational outcomes the business actually cares about.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6B2D3B-D51B-B0FE-5E8B-B8101BC0870E}"/>
              </a:ext>
            </a:extLst>
          </p:cNvPr>
          <p:cNvSpPr txBox="1"/>
          <p:nvPr/>
        </p:nvSpPr>
        <p:spPr>
          <a:xfrm>
            <a:off x="6805748" y="5204029"/>
            <a:ext cx="4604657" cy="58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Show how the architecture strengthens controls, transparency, and defensibility.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E76222-32A9-3247-AD9D-651C5F6A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" t="23143" r="67269" b="50000"/>
          <a:stretch>
            <a:fillRect/>
          </a:stretch>
        </p:blipFill>
        <p:spPr>
          <a:xfrm>
            <a:off x="659673" y="2171130"/>
            <a:ext cx="809897" cy="6797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2F6D59-9282-1139-814C-4924243D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53" t="23143" r="32248" b="50000"/>
          <a:stretch>
            <a:fillRect/>
          </a:stretch>
        </p:blipFill>
        <p:spPr>
          <a:xfrm>
            <a:off x="659674" y="3633062"/>
            <a:ext cx="809897" cy="6797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D8E166-3544-59E5-0AF8-725F56F5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67" t="23143" r="834" b="50000"/>
          <a:stretch>
            <a:fillRect/>
          </a:stretch>
        </p:blipFill>
        <p:spPr>
          <a:xfrm>
            <a:off x="659674" y="5158184"/>
            <a:ext cx="809897" cy="67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16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5BE3-4411-2EDB-C017-2E9EA2E9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1A9A-0A87-66C3-1F18-058048FA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23220"/>
          </a:xfrm>
        </p:spPr>
        <p:txBody>
          <a:bodyPr/>
          <a:lstStyle/>
          <a:p>
            <a:r>
              <a:rPr lang="en-US" sz="3400"/>
              <a:t>Workshop Flow &amp; Quality Bar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C35A31-B798-B925-F917-CF4E212E6EFA}"/>
              </a:ext>
            </a:extLst>
          </p:cNvPr>
          <p:cNvSpPr/>
          <p:nvPr/>
        </p:nvSpPr>
        <p:spPr>
          <a:xfrm>
            <a:off x="457199" y="2077908"/>
            <a:ext cx="5562601" cy="3752479"/>
          </a:xfrm>
          <a:prstGeom prst="rect">
            <a:avLst/>
          </a:prstGeom>
          <a:solidFill>
            <a:srgbClr val="F5FAFD">
              <a:alpha val="46667"/>
            </a:srgb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1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20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Workshop Flow</a:t>
            </a:r>
            <a:endParaRPr lang="en-US" sz="1400">
              <a:latin typeface="Segoe Sans Display" pitchFamily="2" charset="0"/>
              <a:cs typeface="Segoe Sans Display" pitchFamily="2" charset="0"/>
            </a:endParaRP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Phase A  →  </a:t>
            </a:r>
            <a:r>
              <a:rPr lang="en-US" sz="1400">
                <a:solidFill>
                  <a:srgbClr val="1F1F1F"/>
                </a:solidFill>
              </a:rPr>
              <a:t>Research current state — 5 prompts, 5 lenses</a:t>
            </a: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Synthesize  →  </a:t>
            </a:r>
            <a:r>
              <a:rPr lang="en-US" sz="1400">
                <a:solidFill>
                  <a:srgbClr val="1F1F1F"/>
                </a:solidFill>
              </a:rPr>
              <a:t>Separate hypotheses from facts; identify gaps</a:t>
            </a: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Phase B  →  </a:t>
            </a:r>
            <a:r>
              <a:rPr lang="en-US" sz="1400">
                <a:solidFill>
                  <a:srgbClr val="1F1F1F"/>
                </a:solidFill>
              </a:rPr>
              <a:t>Design 3 future-state concepts</a:t>
            </a: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Persona  →  </a:t>
            </a:r>
            <a:r>
              <a:rPr lang="en-US" sz="1400">
                <a:solidFill>
                  <a:srgbClr val="1F1F1F"/>
                </a:solidFill>
              </a:rPr>
              <a:t>Map AI + human collaboration per concept</a:t>
            </a: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So What?  →  </a:t>
            </a:r>
            <a:r>
              <a:rPr lang="en-US" sz="1400">
                <a:solidFill>
                  <a:srgbClr val="1F1F1F"/>
                </a:solidFill>
              </a:rPr>
              <a:t>Translate to CIO / Ops / Risk language</a:t>
            </a:r>
          </a:p>
          <a:p>
            <a:pPr>
              <a:spcAft>
                <a:spcPts val="1000"/>
              </a:spcAft>
            </a:pPr>
            <a:r>
              <a:rPr lang="en-US" sz="1400" b="1">
                <a:solidFill>
                  <a:srgbClr val="0B5594"/>
                </a:solidFill>
              </a:rPr>
              <a:t>Present  →  </a:t>
            </a:r>
            <a:r>
              <a:rPr lang="en-US" sz="1400">
                <a:solidFill>
                  <a:srgbClr val="1F1F1F"/>
                </a:solidFill>
              </a:rPr>
              <a:t>Defend choices and tradeoffs to peer teams</a:t>
            </a:r>
            <a:endParaRPr lang="en-US" sz="1200">
              <a:solidFill>
                <a:srgbClr val="1F1F1F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EB03DD-802D-5392-0DA7-A7AA4D09849E}"/>
              </a:ext>
            </a:extLst>
          </p:cNvPr>
          <p:cNvSpPr/>
          <p:nvPr/>
        </p:nvSpPr>
        <p:spPr>
          <a:xfrm>
            <a:off x="6339839" y="2077908"/>
            <a:ext cx="5562601" cy="3752479"/>
          </a:xfrm>
          <a:prstGeom prst="rect">
            <a:avLst/>
          </a:prstGeom>
          <a:solidFill>
            <a:schemeClr val="accent3">
              <a:lumMod val="40000"/>
              <a:lumOff val="60000"/>
              <a:alpha val="47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182880" rtlCol="0" anchor="t"/>
          <a:lstStyle/>
          <a:p>
            <a:pPr>
              <a:spcAft>
                <a:spcPts val="1800"/>
              </a:spcAft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2000" b="1">
                <a:solidFill>
                  <a:schemeClr val="accent2"/>
                </a:solidFill>
                <a:latin typeface="Segoe Sans Display" pitchFamily="2" charset="0"/>
                <a:cs typeface="Segoe Sans Display" pitchFamily="2" charset="0"/>
              </a:rPr>
              <a:t>Quality Bar</a:t>
            </a:r>
            <a:endParaRPr lang="en-US" sz="1400">
              <a:latin typeface="Segoe Sans Display" pitchFamily="2" charset="0"/>
              <a:cs typeface="Segoe Sans Display" pitchFamily="2" charset="0"/>
            </a:endParaRP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Hypotheses clearly labeled vs facts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Sources cited where they exist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Industry realities show through (not generic)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Personas tied to real workflows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AI augments — human accountability preserved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Each concept has a clear “So What?” per executive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Tradeoffs named, not hidden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7349B-B3F0-E297-E02D-F30F2D0B54C8}"/>
              </a:ext>
            </a:extLst>
          </p:cNvPr>
          <p:cNvSpPr txBox="1"/>
          <p:nvPr/>
        </p:nvSpPr>
        <p:spPr>
          <a:xfrm>
            <a:off x="457200" y="1346076"/>
            <a:ext cx="4627229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How teams move from research to defensible future-state</a:t>
            </a:r>
          </a:p>
        </p:txBody>
      </p:sp>
    </p:spTree>
    <p:extLst>
      <p:ext uri="{BB962C8B-B14F-4D97-AF65-F5344CB8AC3E}">
        <p14:creationId xmlns:p14="http://schemas.microsoft.com/office/powerpoint/2010/main" val="25581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315BA8-541F-A007-6109-ADE80148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Value Drivers in an AI First World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76240-8D2D-B700-8E04-E6F236E8DFC2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t">
              <a:lnSpc>
                <a:spcPct val="90000"/>
              </a:lnSpc>
              <a:spcAft>
                <a:spcPts val="600"/>
              </a:spcAft>
            </a:pPr>
            <a:r>
              <a:rPr lang="en-US" sz="2400"/>
              <a:t>AI does not create value on its own!</a:t>
            </a:r>
          </a:p>
          <a:p>
            <a:pPr fontAlgn="t">
              <a:lnSpc>
                <a:spcPct val="90000"/>
              </a:lnSpc>
              <a:spcAft>
                <a:spcPts val="600"/>
              </a:spcAft>
            </a:pPr>
            <a:br>
              <a:rPr lang="en-US" sz="2400"/>
            </a:br>
            <a:r>
              <a:rPr lang="en-US" sz="2400"/>
              <a:t>Business value is created when AI decisions are aligned to how the business works.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F80907-7D27-8AE0-4E37-040A921548F4}"/>
              </a:ext>
            </a:extLst>
          </p:cNvPr>
          <p:cNvGraphicFramePr>
            <a:graphicFrameLocks noGrp="1"/>
          </p:cNvGraphicFramePr>
          <p:nvPr/>
        </p:nvGraphicFramePr>
        <p:xfrm>
          <a:off x="5987738" y="1061946"/>
          <a:ext cx="5628019" cy="450124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400804">
                  <a:extLst>
                    <a:ext uri="{9D8B030D-6E8A-4147-A177-3AD203B41FA5}">
                      <a16:colId xmlns:a16="http://schemas.microsoft.com/office/drawing/2014/main" val="459270559"/>
                    </a:ext>
                  </a:extLst>
                </a:gridCol>
                <a:gridCol w="1325491">
                  <a:extLst>
                    <a:ext uri="{9D8B030D-6E8A-4147-A177-3AD203B41FA5}">
                      <a16:colId xmlns:a16="http://schemas.microsoft.com/office/drawing/2014/main" val="3345631944"/>
                    </a:ext>
                  </a:extLst>
                </a:gridCol>
                <a:gridCol w="2901724">
                  <a:extLst>
                    <a:ext uri="{9D8B030D-6E8A-4147-A177-3AD203B41FA5}">
                      <a16:colId xmlns:a16="http://schemas.microsoft.com/office/drawing/2014/main" val="4088270988"/>
                    </a:ext>
                  </a:extLst>
                </a:gridCol>
              </a:tblGrid>
              <a:tr h="588595">
                <a:tc>
                  <a:txBody>
                    <a:bodyPr/>
                    <a:lstStyle/>
                    <a:p>
                      <a:pPr algn="ctr"/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Business value drivers</a:t>
                      </a:r>
                    </a:p>
                  </a:txBody>
                  <a:tcPr marL="105994" marR="115900" marT="81534" marB="815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Technology Capabilities</a:t>
                      </a:r>
                    </a:p>
                  </a:txBody>
                  <a:tcPr marL="105994" marR="115900" marT="81534" marB="815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 When Column 1 and Column 2 are aligned</a:t>
                      </a:r>
                    </a:p>
                  </a:txBody>
                  <a:tcPr marL="105994" marR="115900" marT="81534" marB="8153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161204"/>
                  </a:ext>
                </a:extLst>
              </a:tr>
              <a:tr h="78337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Decision Velocity &amp; Confidence</a:t>
                      </a:r>
                    </a:p>
                  </a:txBody>
                  <a:tcPr marL="105994" marR="115900" marT="81534" marB="81534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Automated insight generation</a:t>
                      </a:r>
                    </a:p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Embedded Intelligence in workflows</a:t>
                      </a:r>
                    </a:p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Scenario Modeling and Synthesis</a:t>
                      </a:r>
                    </a:p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Scalable Data Integration</a:t>
                      </a:r>
                    </a:p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Governed AI decision support</a:t>
                      </a: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Technology capabilities are applied where they matter most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AI changes how decisions are made and work is done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Business leaders experience confidence, speed, and clarity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ISD is seen as a strategic advisor</a:t>
                      </a: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284778"/>
                  </a:ext>
                </a:extLst>
              </a:tr>
              <a:tr h="78337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Workforce Productivity &amp; Focus</a:t>
                      </a: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marL="129980" marR="129980" marT="64990" marB="64990"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marL="129980" marR="129980" marT="64990" marB="64990"/>
                </a:tc>
                <a:extLst>
                  <a:ext uri="{0D108BD9-81ED-4DB2-BD59-A6C34878D82A}">
                    <a16:rowId xmlns:a16="http://schemas.microsoft.com/office/drawing/2014/main" val="1486957250"/>
                  </a:ext>
                </a:extLst>
              </a:tr>
              <a:tr h="783378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Operational Resilience &amp; Risk</a:t>
                      </a:r>
                    </a:p>
                  </a:txBody>
                  <a:tcPr marL="105994" marR="115900" marT="81534" marB="81534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marL="129980" marR="129980" marT="64990" marB="649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When Column 1 and Column 2 are misaligned</a:t>
                      </a:r>
                    </a:p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914878"/>
                  </a:ext>
                </a:extLst>
              </a:tr>
              <a:tr h="1562511">
                <a:tc>
                  <a:txBody>
                    <a:bodyPr/>
                    <a:lstStyle/>
                    <a:p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Growth Enablement &amp; Innovation</a:t>
                      </a: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marL="129980" marR="129980" marT="64990" marB="64990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AI is implemented without clear value realization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Capabilities are impressive but under‑adopted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Risk, rework, or mistrust increases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ISD is seen as an implementer, not a partner</a:t>
                      </a:r>
                    </a:p>
                  </a:txBody>
                  <a:tcPr marL="105994" marR="115900" marT="81534" marB="8153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410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CCF69FD-1F50-7D18-85D8-58C0D60832AE}"/>
              </a:ext>
            </a:extLst>
          </p:cNvPr>
          <p:cNvSpPr txBox="1"/>
          <p:nvPr/>
        </p:nvSpPr>
        <p:spPr>
          <a:xfrm>
            <a:off x="418881" y="5847550"/>
            <a:ext cx="52779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>
                <a:solidFill>
                  <a:schemeClr val="bg1"/>
                </a:solidFill>
              </a:rPr>
              <a:t>Work IQ → How intelligence shows up in daily work Foundry IQ → How insights, scenarios, and synthesis are created Fabric IQ → How data is unified, governed, and trusted</a:t>
            </a:r>
          </a:p>
        </p:txBody>
      </p:sp>
    </p:spTree>
    <p:extLst>
      <p:ext uri="{BB962C8B-B14F-4D97-AF65-F5344CB8AC3E}">
        <p14:creationId xmlns:p14="http://schemas.microsoft.com/office/powerpoint/2010/main" val="113367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E168-DF8B-4F1B-6613-AC1308B5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this means for ISD Architects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11005E-8777-555C-2D09-0F117E801895}"/>
              </a:ext>
            </a:extLst>
          </p:cNvPr>
          <p:cNvGraphicFramePr>
            <a:graphicFrameLocks noGrp="1"/>
          </p:cNvGraphicFramePr>
          <p:nvPr/>
        </p:nvGraphicFramePr>
        <p:xfrm>
          <a:off x="6064810" y="666728"/>
          <a:ext cx="5251365" cy="5465795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440390">
                  <a:extLst>
                    <a:ext uri="{9D8B030D-6E8A-4147-A177-3AD203B41FA5}">
                      <a16:colId xmlns:a16="http://schemas.microsoft.com/office/drawing/2014/main" val="4022280812"/>
                    </a:ext>
                  </a:extLst>
                </a:gridCol>
                <a:gridCol w="2810975">
                  <a:extLst>
                    <a:ext uri="{9D8B030D-6E8A-4147-A177-3AD203B41FA5}">
                      <a16:colId xmlns:a16="http://schemas.microsoft.com/office/drawing/2014/main" val="1687226652"/>
                    </a:ext>
                  </a:extLst>
                </a:gridCol>
              </a:tblGrid>
              <a:tr h="650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Behavior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Who we aspire to be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1672809634"/>
                  </a:ext>
                </a:extLst>
              </a:tr>
              <a:tr h="910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Business‑Outcome Orientation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Architects anchor AI decisions to value drivers, not features</a:t>
                      </a:r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2155360710"/>
                  </a:ext>
                </a:extLst>
              </a:tr>
              <a:tr h="910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End‑to‑End Thinking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Work IQ, Foundry IQ, and Fabric IQ are positioned as a system, not silos</a:t>
                      </a:r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2674607170"/>
                  </a:ext>
                </a:extLst>
              </a:tr>
              <a:tr h="910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Judgment Over Execution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Emphasis shifts from “can we build it?” to “should we?”</a:t>
                      </a:r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406370063"/>
                  </a:ext>
                </a:extLst>
              </a:tr>
              <a:tr h="1171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Customer Co‑Creation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Value drivers frame collaborative decision‑making, not one‑way delivery</a:t>
                      </a:r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3127631433"/>
                  </a:ext>
                </a:extLst>
              </a:tr>
              <a:tr h="910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Speed with Safety</a:t>
                      </a:r>
                      <a:endParaRPr lang="en-US" sz="1700"/>
                    </a:p>
                  </a:txBody>
                  <a:tcPr marL="88373" marR="88373" marT="44187" marB="441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AI acceleration is paired with governance and risk awareness</a:t>
                      </a:r>
                    </a:p>
                  </a:txBody>
                  <a:tcPr marL="88373" marR="88373" marT="44187" marB="44187" anchor="ctr"/>
                </a:tc>
                <a:extLst>
                  <a:ext uri="{0D108BD9-81ED-4DB2-BD59-A6C34878D82A}">
                    <a16:rowId xmlns:a16="http://schemas.microsoft.com/office/drawing/2014/main" val="1116639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96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Custom 21">
      <a:dk1>
        <a:sysClr val="windowText" lastClr="000000"/>
      </a:dk1>
      <a:lt1>
        <a:srgbClr val="FFFFFF"/>
      </a:lt1>
      <a:dk2>
        <a:srgbClr val="463668"/>
      </a:dk2>
      <a:lt2>
        <a:srgbClr val="E7E6E6"/>
      </a:lt2>
      <a:accent1>
        <a:srgbClr val="434343"/>
      </a:accent1>
      <a:accent2>
        <a:srgbClr val="2A446F"/>
      </a:accent2>
      <a:accent3>
        <a:srgbClr val="8DC8E8"/>
      </a:accent3>
      <a:accent4>
        <a:srgbClr val="8661C5"/>
      </a:accent4>
      <a:accent5>
        <a:srgbClr val="225B62"/>
      </a:accent5>
      <a:accent6>
        <a:srgbClr val="2F2F2F"/>
      </a:accent6>
      <a:hlink>
        <a:srgbClr val="0078D4"/>
      </a:hlink>
      <a:folHlink>
        <a:srgbClr val="7B7B7B"/>
      </a:folHlink>
    </a:clrScheme>
    <a:fontScheme name="Custom 1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f366ca2c-0331-4b68-94c5-c8ac92536882">
      <Terms xmlns="http://schemas.microsoft.com/office/infopath/2007/PartnerControls"/>
    </lcf76f155ced4ddcb4097134ff3c332f>
    <TaxCatchAll xmlns="010a4d30-4de2-46dd-b668-2c35ef8d096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9BA2C596FC949B2F4B7CB2497383C" ma:contentTypeVersion="13" ma:contentTypeDescription="Create a new document." ma:contentTypeScope="" ma:versionID="8b7cb8938f8f5cb192d5e22a256442fe">
  <xsd:schema xmlns:xsd="http://www.w3.org/2001/XMLSchema" xmlns:xs="http://www.w3.org/2001/XMLSchema" xmlns:p="http://schemas.microsoft.com/office/2006/metadata/properties" xmlns:ns1="http://schemas.microsoft.com/sharepoint/v3" xmlns:ns2="f366ca2c-0331-4b68-94c5-c8ac92536882" xmlns:ns3="010a4d30-4de2-46dd-b668-2c35ef8d0964" targetNamespace="http://schemas.microsoft.com/office/2006/metadata/properties" ma:root="true" ma:fieldsID="c6dc196e439cb4b0c24b8dc563536a53" ns1:_="" ns2:_="" ns3:_="">
    <xsd:import namespace="http://schemas.microsoft.com/sharepoint/v3"/>
    <xsd:import namespace="f366ca2c-0331-4b68-94c5-c8ac92536882"/>
    <xsd:import namespace="010a4d30-4de2-46dd-b668-2c35ef8d0964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6ca2c-0331-4b68-94c5-c8ac92536882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a4d30-4de2-46dd-b668-2c35ef8d09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81b033c-46a0-4780-8372-6f58a352d34c}" ma:internalName="TaxCatchAll" ma:showField="CatchAllData" ma:web="010a4d30-4de2-46dd-b668-2c35ef8d09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DAB6E-78D9-4DD7-86A0-2E041DC37127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f366ca2c-0331-4b68-94c5-c8ac92536882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010a4d30-4de2-46dd-b668-2c35ef8d0964"/>
    <ds:schemaRef ds:uri="http://schemas.microsoft.com/sharepoint/v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D71D941-C55A-48C1-AF2E-FFD9BEE283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7D9C91-6087-40D7-9D8C-1340B9E19DFB}">
  <ds:schemaRefs>
    <ds:schemaRef ds:uri="010a4d30-4de2-46dd-b668-2c35ef8d0964"/>
    <ds:schemaRef ds:uri="f366ca2c-0331-4b68-94c5-c8ac925368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</Words>
  <Application>Microsoft Office PowerPoint</Application>
  <PresentationFormat>Widescreen</PresentationFormat>
  <Paragraphs>220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Segoe Sans Display</vt:lpstr>
      <vt:lpstr>Segoe Sans Text</vt:lpstr>
      <vt:lpstr>Segoe Sans Text Semibold</vt:lpstr>
      <vt:lpstr>Wingdings</vt:lpstr>
      <vt:lpstr>Office Theme</vt:lpstr>
      <vt:lpstr>1_Office Theme</vt:lpstr>
      <vt:lpstr>PowerPoint Presentation</vt:lpstr>
      <vt:lpstr>Context &amp; Goal</vt:lpstr>
      <vt:lpstr>Phase A  |  Technical Architecture Research  </vt:lpstr>
      <vt:lpstr>Phase A  |  Copilot Prompts</vt:lpstr>
      <vt:lpstr>Phase B  |  Design Future-State Architecture</vt:lpstr>
      <vt:lpstr>Deliverable 1  |  Three Architecture Concept Diagrams</vt:lpstr>
      <vt:lpstr>Deliverable 2  |  Persona-Driven Scenarios</vt:lpstr>
      <vt:lpstr>Deliverable 3  |  C-Suite Relevance  —  “So What?” </vt:lpstr>
      <vt:lpstr>Workshop Flow &amp; Quality Bar</vt:lpstr>
      <vt:lpstr>Business Value Drivers in an AI First World</vt:lpstr>
      <vt:lpstr>What this means for ISD Architects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 Potocnik</dc:creator>
  <cp:keywords/>
  <dc:description>generated using python-pptx</dc:description>
  <cp:lastModifiedBy>Robert Potocnik</cp:lastModifiedBy>
  <cp:revision>1</cp:revision>
  <dcterms:created xsi:type="dcterms:W3CDTF">2013-01-27T09:14:16Z</dcterms:created>
  <dcterms:modified xsi:type="dcterms:W3CDTF">2026-05-13T21:24:37Z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0x0101007729BA2C596FC949B2F4B7CB2497383C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r8>531300</vt:r8>
  </property>
</Properties>
</file>