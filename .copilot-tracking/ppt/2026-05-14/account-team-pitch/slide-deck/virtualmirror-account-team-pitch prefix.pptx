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C2E0FF"/>
                </a:solidFill>
                <a:latin typeface="Segoe UI"/>
              </a:rPr>
              <a:t>1. PAIN</a:t>
            </a:r>
            <a:r>
              <a:rPr lang="en-US" sz="1100" b="1">
                <a:solidFill>
                  <a:srgbClr val="C2E0FF"/>
                </a:solidFill>
                <a:latin typeface="Segoe UI"/>
              </a:rPr>
              <a:t> &amp; OPPORTUNITY</a:t>
            </a:r>
            <a:endParaRPr sz="1100" b="1">
              <a:solidFill>
                <a:srgbClr val="C2E0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Segoe UI"/>
              </a:rPr>
              <a:t>$200–400M avoidable cost with a clear technology wedge</a:t>
            </a:r>
            <a:endParaRPr sz="2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0078D4"/>
                </a:solidFill>
                <a:latin typeface="Segoe UI"/>
              </a:rPr>
              <a:t>$14.7B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06E"/>
                </a:solidFill>
                <a:latin typeface="Segoe UI"/>
              </a:rPr>
              <a:t>Walmart online apparel revenue (2024)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651760" cy="118872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170432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0078D4"/>
                </a:solidFill>
                <a:latin typeface="Segoe UI"/>
              </a:rPr>
              <a:t>24–26%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74520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06E"/>
                </a:solidFill>
                <a:latin typeface="Segoe UI"/>
              </a:rPr>
              <a:t>Industry online apparel return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651760" cy="1188720"/>
          </a:xfrm>
          <a:prstGeom prst="rect">
            <a:avLst/>
          </a:prstGeom>
          <a:solidFill>
            <a:srgbClr val="F3F6FA"/>
          </a:solidFill>
          <a:ln>
            <a:solidFill>
              <a:srgbClr val="C23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170432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C23B22"/>
                </a:solidFill>
                <a:latin typeface="Segoe UI"/>
              </a:rPr>
              <a:t>53–70%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74520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06E"/>
                </a:solidFill>
                <a:latin typeface="Segoe UI"/>
              </a:rPr>
              <a:t>Of returns driven by FIT, not look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97280"/>
            <a:ext cx="2651760" cy="1188720"/>
          </a:xfrm>
          <a:prstGeom prst="rect">
            <a:avLst/>
          </a:prstGeom>
          <a:solidFill>
            <a:srgbClr val="F3F6FA"/>
          </a:solidFill>
          <a:ln>
            <a:solidFill>
              <a:srgbClr val="C23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170432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C23B22"/>
                </a:solidFill>
                <a:latin typeface="Segoe UI"/>
              </a:rPr>
              <a:t>$200–400M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874520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06E"/>
                </a:solidFill>
                <a:latin typeface="Segoe UI"/>
              </a:rPr>
              <a:t>Annual avoidable cost (fit-only)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1124712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600" b="1">
                <a:solidFill>
                  <a:srgbClr val="0F2A4A"/>
                </a:solidFill>
                <a:latin typeface="Segoe UI"/>
              </a:rPr>
              <a:t>Why this matters</a:t>
            </a:r>
            <a:endParaRPr sz="1600" b="1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11247120" cy="18671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sz="1600" dirty="0" err="1">
                <a:solidFill>
                  <a:srgbClr val="1F1F1F"/>
                </a:solidFill>
                <a:latin typeface="Segoe UI"/>
              </a:rPr>
              <a:t>Zeekit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 answers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‘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how does it look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?’ but not ‘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will it fit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?’ — no measurement-based confidence layer exists at the PDP today.</a:t>
            </a: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Shoppers buy 2–3 sizes and return the rest.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Fit-driven returns </a:t>
            </a:r>
            <a:r>
              <a:rPr lang="en-US" dirty="0">
                <a:solidFill>
                  <a:srgbClr val="1F1F1F"/>
                </a:solidFill>
                <a:latin typeface="Segoe UI"/>
              </a:rPr>
              <a:t>account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 for 53–70% of all apparel returns.</a:t>
            </a: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Conservative 10% reduction = $20–40M saved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Target 30% reduction = $60–120M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 Conversion lift 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of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+3–5% on enabled SKUs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9728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Segoe UI"/>
              </a:rPr>
              <a:t>Architect's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972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600" b="0" i="1" dirty="0">
                <a:solidFill>
                  <a:srgbClr val="1F1F1F"/>
                </a:solidFill>
                <a:latin typeface="Segoe UI"/>
              </a:rPr>
              <a:t>Measurable</a:t>
            </a:r>
            <a:r>
              <a:rPr sz="1600" b="0" i="1" dirty="0">
                <a:solidFill>
                  <a:srgbClr val="1F1F1F"/>
                </a:solidFill>
                <a:latin typeface="Segoe UI"/>
              </a:rPr>
              <a:t>, </a:t>
            </a:r>
            <a:r>
              <a:rPr sz="1600" b="0" i="1" dirty="0" err="1">
                <a:solidFill>
                  <a:srgbClr val="1F1F1F"/>
                </a:solidFill>
                <a:latin typeface="Segoe UI"/>
              </a:rPr>
              <a:t>instrumentable</a:t>
            </a:r>
            <a:r>
              <a:rPr sz="1600" b="0" i="1" dirty="0">
                <a:solidFill>
                  <a:srgbClr val="1F1F1F"/>
                </a:solidFill>
                <a:latin typeface="Segoe UI"/>
              </a:rPr>
              <a:t> problem with a clean technology wedge. </a:t>
            </a:r>
            <a:r>
              <a:rPr lang="en-US" sz="1600" b="0" i="1" dirty="0">
                <a:solidFill>
                  <a:srgbClr val="1F1F1F"/>
                </a:solidFill>
                <a:latin typeface="Segoe UI"/>
              </a:rPr>
              <a:t>Pain funds </a:t>
            </a:r>
            <a:r>
              <a:rPr sz="1600" b="0" i="1" dirty="0">
                <a:solidFill>
                  <a:srgbClr val="1F1F1F"/>
                </a:solidFill>
                <a:latin typeface="Segoe UI"/>
              </a:rPr>
              <a:t>a multi-year platform play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C2E0FF"/>
                </a:solidFill>
                <a:latin typeface="Segoe UI"/>
              </a:rPr>
              <a:t>Microsoft Confidential  |  Architect-led pitch  |  VirtualMirror AI for Walmart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83680"/>
            <a:ext cx="1371600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900" b="0">
                <a:solidFill>
                  <a:srgbClr val="C2E0FF"/>
                </a:solidFill>
                <a:latin typeface="Segoe UI"/>
              </a:rPr>
              <a:t>1 </a:t>
            </a:r>
            <a:r>
              <a:rPr sz="900" b="0">
                <a:solidFill>
                  <a:srgbClr val="C2E0FF"/>
                </a:solidFill>
                <a:latin typeface="Segoe UI"/>
              </a:rPr>
              <a:t>/ </a:t>
            </a:r>
            <a:r>
              <a:rPr lang="en-US" sz="900" b="0">
                <a:solidFill>
                  <a:srgbClr val="C2E0FF"/>
                </a:solidFill>
                <a:latin typeface="Segoe UI"/>
              </a:rPr>
              <a:t>3</a:t>
            </a:r>
            <a:endParaRPr sz="900" b="0">
              <a:solidFill>
                <a:srgbClr val="C2E0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100" b="1">
                <a:solidFill>
                  <a:srgbClr val="C2E0FF"/>
                </a:solidFill>
                <a:latin typeface="Segoe UI"/>
              </a:rPr>
              <a:t>2</a:t>
            </a:r>
            <a:r>
              <a:rPr sz="1100" b="1">
                <a:solidFill>
                  <a:srgbClr val="C2E0FF"/>
                </a:solidFill>
                <a:latin typeface="Segoe UI"/>
              </a:rPr>
              <a:t>. </a:t>
            </a:r>
            <a:r>
              <a:rPr lang="en-US" sz="1100" b="1">
                <a:solidFill>
                  <a:srgbClr val="C2E0FF"/>
                </a:solidFill>
                <a:latin typeface="Segoe UI"/>
              </a:rPr>
              <a:t>SOLUTION &amp; </a:t>
            </a:r>
            <a:r>
              <a:rPr sz="1100" b="1">
                <a:solidFill>
                  <a:srgbClr val="C2E0FF"/>
                </a:solidFill>
                <a:latin typeface="Segoe UI"/>
              </a:rPr>
              <a:t>WHY </a:t>
            </a:r>
            <a:r>
              <a:rPr lang="en-US" sz="1100" b="1">
                <a:solidFill>
                  <a:srgbClr val="C2E0FF"/>
                </a:solidFill>
                <a:latin typeface="Segoe UI"/>
              </a:rPr>
              <a:t>MICROSOFT</a:t>
            </a:r>
            <a:endParaRPr sz="1100" b="1">
              <a:solidFill>
                <a:srgbClr val="C2E0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Segoe UI"/>
              </a:rPr>
              <a:t>API-first fit assessment with five Azure-native differentiators</a:t>
            </a:r>
            <a:endParaRPr sz="2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000" b="1">
                <a:solidFill>
                  <a:srgbClr val="0F2A4A"/>
                </a:solidFill>
                <a:latin typeface="Segoe UI"/>
              </a:rPr>
              <a:t>What we’re selling</a:t>
            </a:r>
            <a:endParaRPr sz="2000" b="1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199" y="1623293"/>
            <a:ext cx="5770179" cy="33547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API-first, multi-tenant clothing fit assessment service on Azure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endParaRPr lang="en-US"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Three-tier AI pipeline: Florence-2 detection, Content Safety moderation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,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GPT-5.2 Vision measurement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endParaRPr lang="en-US"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18 weeks, ~274 person-days, 9 sprints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 MVP demo at Sprint 4 (8 weeks). 5 hypothesis gates with pre-priced contingencies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 – 580K CCV</a:t>
            </a: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Hypothesis-driven 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delivery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— every claim has a measurable gate, a date, and a defined fallback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530352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0F2A4A"/>
                </a:solidFill>
                <a:latin typeface="Segoe UI"/>
              </a:rPr>
              <a:t>Why </a:t>
            </a:r>
            <a:r>
              <a:rPr lang="en-US" sz="2000" b="1" dirty="0">
                <a:solidFill>
                  <a:srgbClr val="0F2A4A"/>
                </a:solidFill>
                <a:latin typeface="Segoe UI"/>
              </a:rPr>
              <a:t>Microsoft</a:t>
            </a:r>
            <a:endParaRPr sz="2000" b="1" dirty="0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31281" y="1589305"/>
            <a:ext cx="5303520" cy="4196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Azure-native AI stack: 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GPT-5.2 Vision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+ Florence-2 + Content Safety from a single trust boundary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endParaRPr lang="en-US"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Multi-tenant by design with Cosmos hierarchical partition keys and per-tenant scopes.</a:t>
            </a: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Responsible 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AI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delivered as an artifact: model card, DPIA input package, minor-detection refusal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endParaRPr lang="en-US"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Engineering rigor codified: OWASP ASVS L2, SOC 2 mapped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,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SBOM + </a:t>
            </a:r>
            <a:r>
              <a:rPr lang="en-US" sz="1600" dirty="0" err="1">
                <a:solidFill>
                  <a:srgbClr val="1F1F1F"/>
                </a:solidFill>
                <a:latin typeface="Segoe UI"/>
              </a:rPr>
              <a:t>Trivy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, </a:t>
            </a:r>
            <a:r>
              <a:rPr lang="en-US" sz="1600" dirty="0" err="1">
                <a:solidFill>
                  <a:srgbClr val="1F1F1F"/>
                </a:solidFill>
                <a:latin typeface="Segoe UI"/>
              </a:rPr>
              <a:t>NBomber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 + chaos testing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  <a:endParaRPr lang="en-US"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endParaRPr sz="1600" dirty="0">
              <a:solidFill>
                <a:srgbClr val="1F1F1F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8B8B"/>
                </a:solidFill>
                <a:latin typeface="Segoe UI"/>
              </a:rPr>
              <a:t>▎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Land-and-expand pre-built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: </a:t>
            </a:r>
            <a:r>
              <a:rPr lang="it-IT" sz="1600" dirty="0">
                <a:solidFill>
                  <a:srgbClr val="1F1F1F"/>
                </a:solidFill>
                <a:latin typeface="Segoe UI"/>
              </a:rPr>
              <a:t>v2 upsells (SMPL model, multi-region, mobile SDK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, </a:t>
            </a:r>
            <a:r>
              <a:rPr lang="en-US" sz="1600" dirty="0">
                <a:solidFill>
                  <a:srgbClr val="1F1F1F"/>
                </a:solidFill>
                <a:latin typeface="Segoe UI"/>
              </a:rPr>
              <a:t>Fabric loop) are pre-priced in the SOW</a:t>
            </a:r>
            <a:r>
              <a:rPr sz="1600" dirty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C2E0FF"/>
                </a:solidFill>
                <a:latin typeface="Segoe UI"/>
              </a:rPr>
              <a:t>Microsoft Confidential  |  Architect-led pitch  |  VirtualMirror AI for Walmart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3680"/>
            <a:ext cx="1371600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900" b="0">
                <a:solidFill>
                  <a:srgbClr val="C2E0FF"/>
                </a:solidFill>
                <a:latin typeface="Segoe UI"/>
              </a:rPr>
              <a:t>2 </a:t>
            </a:r>
            <a:r>
              <a:rPr sz="900" b="0">
                <a:solidFill>
                  <a:srgbClr val="C2E0FF"/>
                </a:solidFill>
                <a:latin typeface="Segoe UI"/>
              </a:rPr>
              <a:t>/ </a:t>
            </a:r>
            <a:r>
              <a:rPr lang="en-US" sz="900" b="0">
                <a:solidFill>
                  <a:srgbClr val="C2E0FF"/>
                </a:solidFill>
                <a:latin typeface="Segoe UI"/>
              </a:rPr>
              <a:t>3</a:t>
            </a:r>
            <a:endParaRPr sz="900" b="0">
              <a:solidFill>
                <a:srgbClr val="C2E0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100" b="1">
                <a:solidFill>
                  <a:srgbClr val="C2E0FF"/>
                </a:solidFill>
                <a:latin typeface="Segoe UI"/>
              </a:rPr>
              <a:t>3</a:t>
            </a:r>
            <a:r>
              <a:rPr sz="1100" b="1">
                <a:solidFill>
                  <a:srgbClr val="C2E0FF"/>
                </a:solidFill>
                <a:latin typeface="Segoe UI"/>
              </a:rPr>
              <a:t>. </a:t>
            </a:r>
            <a:r>
              <a:rPr lang="en-US" sz="1100" b="1">
                <a:solidFill>
                  <a:srgbClr val="C2E0FF"/>
                </a:solidFill>
                <a:latin typeface="Segoe UI"/>
              </a:rPr>
              <a:t>COMMERCIAL &amp; NEXT STEPS</a:t>
            </a:r>
            <a:endParaRPr sz="1100" b="1">
              <a:solidFill>
                <a:srgbClr val="C2E0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Segoe UI"/>
              </a:rPr>
              <a:t>Clean deal structure with four </a:t>
            </a:r>
            <a:r>
              <a:rPr sz="2400" b="1" dirty="0">
                <a:solidFill>
                  <a:srgbClr val="FFFFFF"/>
                </a:solidFill>
                <a:latin typeface="Segoe UI"/>
              </a:rPr>
              <a:t>asks to </a:t>
            </a:r>
            <a:r>
              <a:rPr lang="en-US" sz="2400" b="1" dirty="0">
                <a:solidFill>
                  <a:srgbClr val="FFFFFF"/>
                </a:solidFill>
                <a:latin typeface="Segoe UI"/>
              </a:rPr>
              <a:t>launch</a:t>
            </a:r>
            <a:r>
              <a:rPr sz="2400" b="1" dirty="0">
                <a:solidFill>
                  <a:srgbClr val="FFFFFF"/>
                </a:solidFill>
                <a:latin typeface="Segoe UI"/>
              </a:rPr>
              <a:t> the pursuit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10698480" cy="96012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124712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1">
                <a:solidFill>
                  <a:srgbClr val="0F2A4A"/>
                </a:solidFill>
                <a:latin typeface="Segoe UI"/>
              </a:rPr>
              <a:t>Deal structure</a:t>
            </a:r>
            <a:endParaRPr sz="1400" b="1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1527051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0" dirty="0">
                <a:solidFill>
                  <a:srgbClr val="1F1F1F"/>
                </a:solidFill>
                <a:latin typeface="Segoe UI"/>
              </a:rPr>
              <a:t>T&amp;M, MSA-governed, ~$2.77M Year /16.5M users</a:t>
            </a:r>
            <a:r>
              <a:rPr lang="en-US" sz="1400" dirty="0">
                <a:solidFill>
                  <a:srgbClr val="1F1F1F"/>
                </a:solidFill>
                <a:latin typeface="Segoe UI"/>
              </a:rPr>
              <a:t>/month </a:t>
            </a:r>
            <a:r>
              <a:rPr lang="en-US" sz="1400" b="0" dirty="0">
                <a:solidFill>
                  <a:srgbClr val="1F1F1F"/>
                </a:solidFill>
                <a:latin typeface="Segoe UI"/>
              </a:rPr>
              <a:t>Azure consumption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. </a:t>
            </a:r>
            <a:r>
              <a:rPr lang="en-US" sz="1400" b="0" dirty="0">
                <a:solidFill>
                  <a:srgbClr val="1F1F1F"/>
                </a:solidFill>
                <a:latin typeface="Segoe UI"/>
              </a:rPr>
              <a:t>SOW v0.3.0 valid through 2026-06-13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11348"/>
            <a:ext cx="548640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357498"/>
            <a:ext cx="54864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</a:rPr>
              <a:t>2</a:t>
            </a:r>
            <a:endParaRPr sz="28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05840" y="2111348"/>
            <a:ext cx="10698480" cy="96012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2184500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1">
                <a:solidFill>
                  <a:srgbClr val="0F2A4A"/>
                </a:solidFill>
                <a:latin typeface="Segoe UI"/>
              </a:rPr>
              <a:t>Exec sponsor introduction</a:t>
            </a:r>
            <a:endParaRPr sz="1400" b="1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2522828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0" dirty="0">
                <a:solidFill>
                  <a:srgbClr val="1F1F1F"/>
                </a:solidFill>
                <a:latin typeface="Segoe UI"/>
              </a:rPr>
              <a:t>Schedule 60-min discovery 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with </a:t>
            </a:r>
            <a:r>
              <a:rPr lang="en-US" sz="1400" b="0" dirty="0">
                <a:solidFill>
                  <a:srgbClr val="1F1F1F"/>
                </a:solidFill>
                <a:latin typeface="Segoe UI"/>
              </a:rPr>
              <a:t>Walmart Digital VP (Apparel). Architect + Engagement Lead in 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the </a:t>
            </a:r>
            <a:r>
              <a:rPr lang="en-US" sz="1400" b="0" dirty="0">
                <a:solidFill>
                  <a:srgbClr val="1F1F1F"/>
                </a:solidFill>
                <a:latin typeface="Segoe UI"/>
              </a:rPr>
              <a:t>room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44619"/>
            <a:ext cx="548640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390769"/>
            <a:ext cx="54864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</a:rPr>
              <a:t>3</a:t>
            </a:r>
            <a:endParaRPr sz="28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05840" y="3144619"/>
            <a:ext cx="10698480" cy="96012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3217771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1">
                <a:solidFill>
                  <a:srgbClr val="0F2A4A"/>
                </a:solidFill>
                <a:latin typeface="Segoe UI"/>
              </a:rPr>
              <a:t>Azure + Privacy Office pre-engagement</a:t>
            </a:r>
            <a:endParaRPr sz="1400" b="1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8720" y="3556099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Segoe UI"/>
              </a:rPr>
              <a:t>Confirm </a:t>
            </a:r>
            <a:r>
              <a:rPr lang="en-US" sz="1400" b="0">
                <a:solidFill>
                  <a:srgbClr val="1F1F1F"/>
                </a:solidFill>
                <a:latin typeface="Segoe UI"/>
              </a:rPr>
              <a:t>landing-zone availability, PTU pre-allocation</a:t>
            </a:r>
            <a:r>
              <a:rPr sz="1400" b="0">
                <a:solidFill>
                  <a:srgbClr val="1F1F1F"/>
                </a:solidFill>
                <a:latin typeface="Segoe UI"/>
              </a:rPr>
              <a:t>, </a:t>
            </a:r>
            <a:r>
              <a:rPr lang="en-US" sz="1400" b="0">
                <a:solidFill>
                  <a:srgbClr val="1F1F1F"/>
                </a:solidFill>
                <a:latin typeface="Segoe UI"/>
              </a:rPr>
              <a:t>and DPIA cadence before signature</a:t>
            </a:r>
            <a:r>
              <a:rPr sz="1400" b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77890"/>
            <a:ext cx="548640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391591"/>
            <a:ext cx="54864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Segoe UI"/>
              </a:rPr>
              <a:t>4</a:t>
            </a:r>
            <a:endParaRPr sz="28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05840" y="4177890"/>
            <a:ext cx="10698480" cy="960120"/>
          </a:xfrm>
          <a:prstGeom prst="rect">
            <a:avLst/>
          </a:prstGeom>
          <a:solidFill>
            <a:srgbClr val="F3F6FA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251042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1">
                <a:solidFill>
                  <a:srgbClr val="0F2A4A"/>
                </a:solidFill>
                <a:latin typeface="Segoe UI"/>
              </a:rPr>
              <a:t>Architect’s verdict</a:t>
            </a:r>
            <a:r>
              <a:rPr sz="1400" b="1">
                <a:solidFill>
                  <a:srgbClr val="0F2A4A"/>
                </a:solidFill>
                <a:latin typeface="Segoe UI"/>
              </a:rPr>
              <a:t>: </a:t>
            </a:r>
            <a:r>
              <a:rPr lang="en-US" sz="1400" b="1">
                <a:solidFill>
                  <a:srgbClr val="0F2A4A"/>
                </a:solidFill>
                <a:latin typeface="Segoe UI"/>
              </a:rPr>
              <a:t>PURSUE</a:t>
            </a:r>
            <a:endParaRPr sz="1400" b="1">
              <a:solidFill>
                <a:srgbClr val="0F2A4A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8720" y="4589370"/>
            <a:ext cx="104241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0" dirty="0">
                <a:solidFill>
                  <a:srgbClr val="1F1F1F"/>
                </a:solidFill>
                <a:latin typeface="Segoe UI"/>
              </a:rPr>
              <a:t>Engineering risk is bounded. Commercial structure is clean. Land-and-expand path is pre-built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. </a:t>
            </a:r>
            <a:r>
              <a:rPr lang="en-US" sz="1400" b="0" dirty="0">
                <a:solidFill>
                  <a:srgbClr val="1F1F1F"/>
                </a:solidFill>
                <a:latin typeface="Segoe UI"/>
              </a:rPr>
              <a:t>30 days 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to </a:t>
            </a:r>
            <a:r>
              <a:rPr lang="en-US" sz="1400" b="0" dirty="0">
                <a:solidFill>
                  <a:srgbClr val="1F1F1F"/>
                </a:solidFill>
                <a:latin typeface="Segoe UI"/>
              </a:rPr>
              <a:t>countersignature</a:t>
            </a:r>
            <a:r>
              <a:rPr sz="1400" b="0" dirty="0">
                <a:solidFill>
                  <a:srgbClr val="1F1F1F"/>
                </a:solidFill>
                <a:latin typeface="Segoe UI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C2E0FF"/>
                </a:solidFill>
                <a:latin typeface="Segoe UI"/>
              </a:rPr>
              <a:t>Microsoft Confidential  |  Architect-led pitch  |  VirtualMirror AI for Walmart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83680"/>
            <a:ext cx="1371600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900" b="0">
                <a:solidFill>
                  <a:srgbClr val="C2E0FF"/>
                </a:solidFill>
                <a:latin typeface="Segoe UI"/>
              </a:rPr>
              <a:t>3 </a:t>
            </a:r>
            <a:r>
              <a:rPr sz="900" b="0">
                <a:solidFill>
                  <a:srgbClr val="C2E0FF"/>
                </a:solidFill>
                <a:latin typeface="Segoe UI"/>
              </a:rPr>
              <a:t>/ </a:t>
            </a:r>
            <a:r>
              <a:rPr lang="en-US" sz="900" b="0">
                <a:solidFill>
                  <a:srgbClr val="C2E0FF"/>
                </a:solidFill>
                <a:latin typeface="Segoe UI"/>
              </a:rPr>
              <a:t>3</a:t>
            </a:r>
            <a:endParaRPr sz="900" b="0">
              <a:solidFill>
                <a:srgbClr val="C2E0FF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fbde396-1a24-4c79-8edf-9254a0f35055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481</Words>
  <Application>Microsoft Office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Reilly</cp:lastModifiedBy>
  <cp:revision>1</cp:revision>
  <dcterms:created xsi:type="dcterms:W3CDTF">2013-01-27T09:14:16Z</dcterms:created>
  <dcterms:modified xsi:type="dcterms:W3CDTF">2026-05-14T15:30:44Z</dcterms:modified>
  <cp:category/>
</cp:coreProperties>
</file>