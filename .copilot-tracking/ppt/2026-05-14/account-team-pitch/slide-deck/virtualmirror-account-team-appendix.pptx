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1" r:id="rId2"/>
    <p:sldId id="453" r:id="rId3"/>
    <p:sldId id="446" r:id="rId4"/>
    <p:sldId id="447" r:id="rId5"/>
    <p:sldId id="454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68A61-D5AA-49BC-808A-81CC91D15A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6352B-482E-4D77-BDC4-458BCF34E9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92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[Abbreviation Glossary]</a:t>
            </a:r>
          </a:p>
          <a:p>
            <a:r>
              <a:rPr lang="en-US" altLang="en-US"/>
              <a:t>NRF = National Retail Federation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2EE828-666A-44CB-A203-5C124D8B14A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4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[Abbreviation Glossary]</a:t>
            </a:r>
          </a:p>
          <a:p>
            <a:r>
              <a:rPr lang="en-US" altLang="en-US"/>
              <a:t>DAM = Digital Asset Management</a:t>
            </a:r>
          </a:p>
          <a:p>
            <a:r>
              <a:rPr lang="en-US" altLang="en-US"/>
              <a:t>IoT = Internet of Things</a:t>
            </a:r>
          </a:p>
          <a:p>
            <a:r>
              <a:rPr lang="en-US" altLang="en-US"/>
              <a:t>NLP = Natural Language Processing</a:t>
            </a:r>
          </a:p>
          <a:p>
            <a:r>
              <a:rPr lang="en-US" altLang="en-US"/>
              <a:t>OMS = Order Management System</a:t>
            </a:r>
          </a:p>
          <a:p>
            <a:r>
              <a:rPr lang="en-US" altLang="en-US"/>
              <a:t>PIM = Product Information Management</a:t>
            </a:r>
          </a:p>
          <a:p>
            <a:r>
              <a:rPr lang="en-US" altLang="en-US"/>
              <a:t>TMS = Transportation Management System</a:t>
            </a:r>
          </a:p>
          <a:p>
            <a:r>
              <a:rPr lang="en-US" altLang="en-US"/>
              <a:t>WMS = Warehouse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302DAC-EB8A-453B-82ED-6D4B1ACB3BD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27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[Abbreviation Glossary]</a:t>
            </a:r>
          </a:p>
          <a:p>
            <a:r>
              <a:rPr lang="en-US" altLang="en-US"/>
              <a:t>B2B = Business to Business</a:t>
            </a:r>
          </a:p>
          <a:p>
            <a:r>
              <a:rPr lang="en-US" altLang="en-US"/>
              <a:t>RMS = Returns Management System</a:t>
            </a:r>
          </a:p>
          <a:p>
            <a:r>
              <a:rPr lang="en-US" altLang="en-US"/>
              <a:t>WMS = Warehouse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552A7-B0B4-4D10-9CE4-350C647A0F3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36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[Abbreviation Glossary]</a:t>
            </a:r>
          </a:p>
          <a:p>
            <a:r>
              <a:rPr lang="en-US" altLang="en-US"/>
              <a:t>DAM = Digital Asset Management</a:t>
            </a:r>
          </a:p>
          <a:p>
            <a:r>
              <a:rPr lang="en-US" altLang="en-US"/>
              <a:t>OMS = Order Management System</a:t>
            </a:r>
          </a:p>
          <a:p>
            <a:r>
              <a:rPr lang="en-US" altLang="en-US"/>
              <a:t>PIM = Product Information Management</a:t>
            </a:r>
          </a:p>
          <a:p>
            <a:r>
              <a:rPr lang="en-US" altLang="en-US"/>
              <a:t>RMS = Returns Management System</a:t>
            </a:r>
          </a:p>
          <a:p>
            <a:r>
              <a:rPr lang="en-US" altLang="en-US"/>
              <a:t>TMS = Transportation Management System</a:t>
            </a:r>
          </a:p>
          <a:p>
            <a:r>
              <a:rPr lang="en-US" altLang="en-US"/>
              <a:t>WMS = Warehouse Management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567F5-4A55-440D-84E4-46C2AD0F2D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844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ft Title Black Bk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25780"/>
            <a:ext cx="55118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>
              <a:defRPr sz="36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99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4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28885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2A4566E-85C6-4C74-FAFC-15455D81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3DE48BA-4AC1-EE32-2663-BECBAE56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C308C-A43C-59E4-53C1-04BA0232E2EB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9788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16DF5-6E21-2651-E896-62C107ED78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41565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C308C-A43C-59E4-53C1-04BA0232E2EB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5F95E2-6278-840F-EAEA-A9ED2D12D8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975715"/>
            <a:ext cx="11141564" cy="365125"/>
          </a:xfrm>
          <a:prstGeom prst="rect">
            <a:avLst/>
          </a:prstGeom>
        </p:spPr>
        <p:txBody>
          <a:bodyPr lIns="0"/>
          <a:lstStyle>
            <a:lvl1pPr algn="l">
              <a:buNone/>
              <a:defRPr sz="1400" i="1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57D3-82F1-3802-8E63-E01E3EC547C2}"/>
              </a:ext>
            </a:extLst>
          </p:cNvPr>
          <p:cNvSpPr txBox="1"/>
          <p:nvPr userDrawn="1"/>
        </p:nvSpPr>
        <p:spPr>
          <a:xfrm>
            <a:off x="365760" y="6537960"/>
            <a:ext cx="35670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lang="en-US"/>
              <a:t>AI-First Architecting Value with AI  |  Grounded in the Customer — Retail</a:t>
            </a:r>
          </a:p>
        </p:txBody>
      </p:sp>
    </p:spTree>
    <p:extLst>
      <p:ext uri="{BB962C8B-B14F-4D97-AF65-F5344CB8AC3E}">
        <p14:creationId xmlns:p14="http://schemas.microsoft.com/office/powerpoint/2010/main" val="97679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3975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4C3F4F8-4402-CF7F-453A-5D79140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DEBC48-607B-D42F-7241-33415344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0D57D-346B-F858-6872-677AA80CE591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1162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1953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DAE3174-F8CC-E826-BCB8-60B5A9B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CCB410E-B977-86A8-D057-373BA578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804A2-2884-0625-86F6-605CEA464243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5503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6F9B73C-310F-FBBC-B1C5-EE1B1E2C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B6206A7-CB8F-639C-EA9C-3F263D65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63FEE-F13E-E890-68A6-1C8EB5D30E87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4942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78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creenshot, colorfulness&#10;&#10;Description automatically generated">
            <a:extLst>
              <a:ext uri="{FF2B5EF4-FFF2-40B4-BE49-F238E27FC236}">
                <a16:creationId xmlns:a16="http://schemas.microsoft.com/office/drawing/2014/main" id="{FBE4EE1B-40D7-D076-6049-390D913335E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3532" y="0"/>
            <a:ext cx="1040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5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7679" y="1303020"/>
            <a:ext cx="4632959" cy="4389120"/>
          </a:xfrm>
          <a:prstGeom prst="roundRect">
            <a:avLst>
              <a:gd name="adj" fmla="val 5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5359" y="1885950"/>
            <a:ext cx="3657599" cy="17145"/>
          </a:xfrm>
          <a:prstGeom prst="rect">
            <a:avLst/>
          </a:prstGeom>
          <a:solidFill>
            <a:srgbClr val="5A7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53439" y="2091690"/>
            <a:ext cx="768095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5359" y="3051810"/>
            <a:ext cx="3657599" cy="17145"/>
          </a:xfrm>
          <a:prstGeom prst="rect">
            <a:avLst/>
          </a:prstGeom>
          <a:solidFill>
            <a:srgbClr val="5A7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53439" y="3257550"/>
            <a:ext cx="768095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75359" y="4217670"/>
            <a:ext cx="3657599" cy="17145"/>
          </a:xfrm>
          <a:prstGeom prst="rect">
            <a:avLst/>
          </a:prstGeom>
          <a:solidFill>
            <a:srgbClr val="5A7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53439" y="4423410"/>
            <a:ext cx="768095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9" name="Picture 8" descr="hero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406" y="1231670"/>
            <a:ext cx="3718851" cy="44602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07679" y="2023110"/>
            <a:ext cx="3657599" cy="19202"/>
          </a:xfrm>
          <a:prstGeom prst="rect">
            <a:avLst/>
          </a:prstGeom>
          <a:solidFill>
            <a:srgbClr val="3F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07679" y="2777490"/>
            <a:ext cx="3657599" cy="12344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07679" y="3531870"/>
            <a:ext cx="3657599" cy="12344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07679" y="4286250"/>
            <a:ext cx="3657599" cy="12344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07679" y="5040630"/>
            <a:ext cx="3657599" cy="12344"/>
          </a:xfrm>
          <a:prstGeom prst="rect">
            <a:avLst/>
          </a:prstGeom>
          <a:solidFill>
            <a:srgbClr val="D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7679" y="5966460"/>
            <a:ext cx="11216639" cy="685800"/>
          </a:xfrm>
          <a:prstGeom prst="roundRect">
            <a:avLst>
              <a:gd name="adj" fmla="val 12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17" name="Picture 16" descr="stat2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34" y="3352476"/>
            <a:ext cx="576057" cy="583039"/>
          </a:xfrm>
          <a:prstGeom prst="rect">
            <a:avLst/>
          </a:prstGeom>
        </p:spPr>
      </p:pic>
      <p:pic>
        <p:nvPicPr>
          <p:cNvPr id="19" name="Picture 18" descr="lev1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640" y="2113517"/>
            <a:ext cx="758354" cy="670495"/>
          </a:xfrm>
          <a:prstGeom prst="rect">
            <a:avLst/>
          </a:prstGeom>
        </p:spPr>
      </p:pic>
      <p:pic>
        <p:nvPicPr>
          <p:cNvPr id="20" name="Picture 19" descr="lev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640" y="2871468"/>
            <a:ext cx="758354" cy="670495"/>
          </a:xfrm>
          <a:prstGeom prst="rect">
            <a:avLst/>
          </a:prstGeom>
        </p:spPr>
      </p:pic>
      <p:pic>
        <p:nvPicPr>
          <p:cNvPr id="21" name="Picture 20" descr="lev3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640" y="3622131"/>
            <a:ext cx="758354" cy="670495"/>
          </a:xfrm>
          <a:prstGeom prst="rect">
            <a:avLst/>
          </a:prstGeom>
        </p:spPr>
      </p:pic>
      <p:pic>
        <p:nvPicPr>
          <p:cNvPr id="22" name="Picture 21" descr="lev4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0640" y="4380082"/>
            <a:ext cx="758354" cy="670495"/>
          </a:xfrm>
          <a:prstGeom prst="rect">
            <a:avLst/>
          </a:prstGeom>
        </p:spPr>
      </p:pic>
      <p:pic>
        <p:nvPicPr>
          <p:cNvPr id="23" name="Picture 22" descr="lev5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0640" y="5130746"/>
            <a:ext cx="758354" cy="6704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7679" y="171450"/>
            <a:ext cx="11216639" cy="5143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RETURNS TO PROFIT: A STRATEGIC IMPERATIVE FOR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79" y="720090"/>
            <a:ext cx="1121663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3F4858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Reduce Returns. Recover Value. Maximize Profit.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79" y="1474470"/>
            <a:ext cx="463295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THE REALITY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6879" y="2091690"/>
            <a:ext cx="3291839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$849.9B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6879" y="2503170"/>
            <a:ext cx="2378607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Estimated returns in the U.S. (NRF 2025)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6879" y="3257550"/>
            <a:ext cx="3291839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19.3%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6879" y="3669030"/>
            <a:ext cx="3291839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Online return rate (NRF 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6879" y="4423410"/>
            <a:ext cx="3291839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6879" y="4834890"/>
            <a:ext cx="2378607" cy="40568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Of returns estimated to be fraudulent (NRF 2025)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7679" y="1303020"/>
            <a:ext cx="3657599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Returns are not just a cost.
They are a profit lever.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4959" y="2228850"/>
            <a:ext cx="2560319" cy="44577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Delight 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4959" y="2983230"/>
            <a:ext cx="2560319" cy="44577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Increase Margins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4959" y="3737610"/>
            <a:ext cx="2560319" cy="44577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Optimize Inventory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4959" y="4491990"/>
            <a:ext cx="2560319" cy="44577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Prevent Fraud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4959" y="5246370"/>
            <a:ext cx="2560319" cy="44577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Drive Sustainability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959" y="5966460"/>
            <a:ext cx="10119359" cy="6858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Our Goal: Turn Returns from a Cost Center into a Competitive Advantage</a:t>
            </a:r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415FF44D-F537-DA46-BCA9-9CBAD225D8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274" y="2060148"/>
            <a:ext cx="842432" cy="837357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017B7EB8-62E8-C4B1-C990-2E540DAB68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494" y="3227824"/>
            <a:ext cx="827968" cy="812046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4DE7EADC-BAFE-9A15-8ED6-537AD7131E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98" y="4387995"/>
            <a:ext cx="871546" cy="894037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12FD3629-9FB8-2DF8-7298-03D47BE06E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494" y="6028809"/>
            <a:ext cx="614861" cy="58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7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4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RETAIL  ·  PERSONAS FOR THE FIT-COPILOT ARCHITECTURE  ·  MAY 2026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02920" cy="27432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74375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of 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Three personas represent the primary stakeholders affected by the architecture.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Shopper at the storefront  ·  Digital-transformation buyer at the retailer  ·  Privacy &amp; compliance officer on the inside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06698" cy="452628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73152" cy="452628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1956816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 1  ·  FRONTLINE / OPERATIONAL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" y="2194560"/>
            <a:ext cx="33323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Online Shopper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" y="261518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browsing an e-commerce clothing store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4088" y="294436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4088" y="3035808"/>
            <a:ext cx="320436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Buy clothes that fit without visiting a physical store.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Limited technical knowledge · impatient (&lt; 5 s tolerance) · privacy-conscious about body photos.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High return rates (25–40%) · size-chart confusion across brands · no way to try before buying.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" y="4937760"/>
            <a:ext cx="3204362" cy="640080"/>
          </a:xfrm>
          <a:prstGeom prst="rect">
            <a:avLst/>
          </a:prstGeom>
          <a:solidFill>
            <a:srgbClr val="E8EFE0"/>
          </a:solidFill>
          <a:ln w="6350">
            <a:solidFill>
              <a:srgbClr val="B9CCA1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499262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3F6E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HOW TECH HELPS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5528" y="515721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extracts body measurements from a single photo and gives per-area fit guidance — fewer guesses, fewer returns.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4088" y="5669280"/>
            <a:ext cx="3204362" cy="640080"/>
          </a:xfrm>
          <a:prstGeom prst="rect">
            <a:avLst/>
          </a:prstGeom>
          <a:solidFill>
            <a:srgbClr val="F4E2DE"/>
          </a:solidFill>
          <a:ln w="6350">
            <a:solidFill>
              <a:srgbClr val="E2B7AF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5528" y="572414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  HOW TECH HINDERS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" y="588873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concerns erode trust · photo-upload friction · privacy anxiety about body images.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92498" y="1828800"/>
            <a:ext cx="3606698" cy="452628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92498" y="1828800"/>
            <a:ext cx="73152" cy="452628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93666" y="1956816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 2  ·  RETAIL BUYER / SPONSOR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93666" y="2194560"/>
            <a:ext cx="33323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Digital Transformation Leader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93666" y="261518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VP of Digital / E-Commerce at a retail partner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93666" y="294436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93666" y="3035808"/>
            <a:ext cx="320436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Cut returns from 25–40 % · lift conversion · differentiate the online experience.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Must integrate with the existing e-commerce platform · small AI/ML team · ROI defensible within 6 months.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Legacy catalog lacks standardised measurement data · organisational resistance to AI-driven features.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93666" y="4937760"/>
            <a:ext cx="3204362" cy="640080"/>
          </a:xfrm>
          <a:prstGeom prst="rect">
            <a:avLst/>
          </a:prstGeom>
          <a:solidFill>
            <a:srgbClr val="E8EFE0"/>
          </a:solidFill>
          <a:ln w="6350">
            <a:solidFill>
              <a:srgbClr val="B9CCA1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85106" y="499262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3F6E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HOW TECH HELPS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85106" y="515721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API-first layer embeds fit assessment without rebuilding the storefront · multi-tenant model enables rapid partner onboarding.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93666" y="5669280"/>
            <a:ext cx="3204362" cy="640080"/>
          </a:xfrm>
          <a:prstGeom prst="rect">
            <a:avLst/>
          </a:prstGeom>
          <a:solidFill>
            <a:srgbClr val="F4E2DE"/>
          </a:solidFill>
          <a:ln w="6350">
            <a:solidFill>
              <a:srgbClr val="E2B7AF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85106" y="572414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  HOW TECH HINDERS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85106" y="588873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± 2–4 cm accuracy may not satisfy premium / tailored segments · requires garment-data standardisation effort.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82077" y="1828800"/>
            <a:ext cx="3606698" cy="452628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082077" y="1828800"/>
            <a:ext cx="73152" cy="452628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83245" y="1956816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 3  ·  RISK · COMPLIANCE · PRIVACY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83245" y="2194560"/>
            <a:ext cx="33323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Privacy &amp; Compliance Officer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83245" y="2615184"/>
            <a:ext cx="333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Chief Privacy Officer / Data Protection Lead at a retail partner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83245" y="294436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83245" y="3035808"/>
            <a:ext cx="320436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Ensure compliance with GDPR, CCPA, and the EU AI Act · prevent any biometric-data exposure.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Body photos are biometric-adjacent · AI must be explainable and auditable · data-residency obligations apply.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Unclear regulatory classification of body-measurement extraction · vendor-trust concerns for AI services.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83245" y="4937760"/>
            <a:ext cx="3204362" cy="640080"/>
          </a:xfrm>
          <a:prstGeom prst="rect">
            <a:avLst/>
          </a:prstGeom>
          <a:solidFill>
            <a:srgbClr val="E8EFE0"/>
          </a:solidFill>
          <a:ln w="6350">
            <a:solidFill>
              <a:srgbClr val="B9CCA1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374685" y="499262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3F6E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HOW TECH HELPS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74685" y="515721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— photos purged in &lt; 60 s · opaque shopper IDs · no PII in telemetry · DPIA-ready architecture.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83245" y="5669280"/>
            <a:ext cx="3204362" cy="640080"/>
          </a:xfrm>
          <a:prstGeom prst="rect">
            <a:avLst/>
          </a:prstGeom>
          <a:solidFill>
            <a:srgbClr val="F4E2DE"/>
          </a:solidFill>
          <a:ln w="6350">
            <a:solidFill>
              <a:srgbClr val="E2B7AF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74685" y="5724144"/>
            <a:ext cx="3021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  HOW TECH HINDERS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74685" y="5888736"/>
            <a:ext cx="302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Azure OpenAI raises questions about processing locations and third-party access.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2920" y="6492240"/>
            <a:ext cx="11185855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292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fit-copilot architecture  ·  one storefront persona, one buyer persona, one compliance persona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945575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RETAIL  ·  PERSONAS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4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RETAIL AI 2026  ·  DELIVERABLE 2  —  PERSONA-DRIVEN SCENARIOS  ·  MAY 2026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02920" cy="27432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774375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Three architecture concepts, three persona–AI partnerships — the copilot compresses decision time, the human keeps the accountability.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Three Architecture Concept Diagrams  ·  Walmart-grounded  ·  persona × decision-rights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—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framing template, three personas — Merchant-Engineer, Store Associate + Reverse-Logistics Lead, Risk &amp; Compliance Leader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—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synthesises, flags, recommends — humans approve every irreversible move (price, disposition, regulatory disclosure)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—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hybrid roles emerge: merchant-engineer pairing, returns-disposition operator, model-governance officer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3606698" cy="320040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02920" y="3035808"/>
            <a:ext cx="73152" cy="320040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04088" y="3163824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A  ·  CLOUD-CENTRIC PLATFORM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" y="3401568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Merchant-Engineer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" y="3767328"/>
            <a:ext cx="3332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Category merchant paired with an in-house ML engineer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4088" y="404164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04088" y="41148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“An AI copilot that assists the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Merchant-Engineer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by synthesising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5-yr SKU demand, supplier lead-times…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flagging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 on long-tail skus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and recommending the next move — while the human retains accountability.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" y="49149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5-yr SKU demand, supplier lead-times, weather, promo calendar, returns telemetry, Vizio CTV viewership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Forecast drift on long-tail SKUs · EU AI Act audit gaps · working-capital exposure on slow-movers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Re-balance allocation across DCs · trigger markdown timing · retire SKUs with poor returns economics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Merchant-Engineer pairing — one P&amp;L owner, one model owner, one shared backlog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2498" y="3035808"/>
            <a:ext cx="3606698" cy="320040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292498" y="3035808"/>
            <a:ext cx="73152" cy="320040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493666" y="3163824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B  ·  EDGE + AI AGENT OPERATIONS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93666" y="3401568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Store Associate + Reverse-Logistics Lead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93666" y="3767328"/>
            <a:ext cx="3332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operator backed by an in-store decisioning agent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93666" y="404164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493666" y="41148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“An AI copilot that assists the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 Associate + Reverse-Logistics Lead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by synthesising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In-store sensor feeds, returns camera grading…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flagging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shrink and returns fraud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and recommending the next move — while the human retains accountability.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93666" y="49149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In-store sensor feeds, returns camera grading, real-time inventory, queue / wait times, staff schedule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Shrink and returns fraud · mis-grading of resale items · labour-safety incidents on the floor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Auto-route returns to resale / repair / recommerce / disposal · reassign associates · escalate exceptions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Returns-Disposition Operator — owns the loop from camera grade to final channel, every unit traced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82077" y="3035808"/>
            <a:ext cx="3606698" cy="3200400"/>
          </a:xfrm>
          <a:prstGeom prst="rect">
            <a:avLst/>
          </a:prstGeom>
          <a:solidFill>
            <a:srgbClr val="EFE9DB"/>
          </a:solidFill>
          <a:ln w="9525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082077" y="3035808"/>
            <a:ext cx="73152" cy="3200400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283245" y="3163824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C  ·  DATA FABRIC / INTELLIGENCE LAYER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83245" y="3401568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Compliance Leader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83245" y="3767328"/>
            <a:ext cx="3332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executive supported by the Chief Data Officer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83245" y="4041648"/>
            <a:ext cx="3204362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283245" y="41148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“An AI copilot that assists the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Leader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by synthesising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lineage, customer consent…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flagging 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regulator action (eu ai act / csrd)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and recommending the next move — while the human retains accountability.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83245" y="4914900"/>
            <a:ext cx="32043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Model lineage, customer consent, EU AI Act register, CSRD evidence, pricing-fairness logs, agent-traffic ledger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Regulator action (EU AI Act / CSRD) · opaque automated pricing · agent-endpoint impersonation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Certify high-risk models · enforce decision logging · gate sanctioned agent endpoint · publish disclosures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Model-Governance Officer — single owner for AI conformity, supplier ESG evidence, and agent identity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6131052"/>
            <a:ext cx="11185855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 retail_ai_trends_and_competitor_moves.md  ·  Walmart 2024 10-K  ·  NRF / Appriss Retail 2024 Returns Report  ·  EU Textile EPR  ·  EU AI Act register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31175" y="6400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 SCENARIOS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4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RETAIL AI 2026  ·  DELIVERABLE 3  —  C-SUITE RELEVANCE  ·  MAY 2026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02920" cy="27432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774375" y="256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Each architecture concept must speak three executive languages — modernisation for the CEO, performance for Ops, defensibility for Risk.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5778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value of each architecture concept in each executive’s language  ·  Walmart-grounded read-out  ·  vendor-agnostic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17520" y="1883664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A</a:t>
            </a: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Cloud-Centric Platform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53658" y="1883664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B</a:t>
            </a: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Edge + AI Agent Ops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89797" y="1883664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CONCEPT C</a:t>
            </a: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Data Fabric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2331720" cy="1283208"/>
          </a:xfrm>
          <a:prstGeom prst="rect">
            <a:avLst/>
          </a:prstGeom>
          <a:solidFill>
            <a:srgbClr val="EFE9DB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73152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CEO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27797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2C3E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modernisation, scalability, governance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" y="3112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“SO WHAT?”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17520" y="2212848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017520" y="2212848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182112" y="2377440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“A </a:t>
            </a: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foundation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replaces fragmented stacks across Walmart US, Mexico, India and Sam’s Club — one governed platform, one chart of accounts for AI investment.”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53658" y="2212848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953658" y="2212848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118250" y="2377440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“4,600+ stores and 400+ automated fulfilment centres become a single distributed decision system, ready for an agent-led storefront within 24 months.”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89797" y="2212848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889797" y="2212848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054389" y="2377440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“Walmart stays legible to its own AI and to sanctioned outside agents — the storefront, and the customer relationship, stay inside the four walls.”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3605784"/>
            <a:ext cx="2331720" cy="1283208"/>
          </a:xfrm>
          <a:prstGeom prst="rect">
            <a:avLst/>
          </a:prstGeom>
          <a:solidFill>
            <a:srgbClr val="D6DEE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605784"/>
            <a:ext cx="73152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13232" y="37703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Business / Operations Leader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4172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2C3E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reliability, speed, experience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" y="45049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“SO WHAT?”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17520" y="3605784"/>
            <a:ext cx="2798978" cy="1283208"/>
          </a:xfrm>
          <a:prstGeom prst="rect">
            <a:avLst/>
          </a:prstGeom>
          <a:solidFill>
            <a:srgbClr val="EAF0FB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017520" y="3605784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182112" y="3770376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“Probabilistic forecasting and unified planning lift sell-through and on-shelf availability while cutting the working-capital cost of long-tail inventory.”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53658" y="3605784"/>
            <a:ext cx="2798978" cy="1283208"/>
          </a:xfrm>
          <a:prstGeom prst="rect">
            <a:avLst/>
          </a:prstGeom>
          <a:solidFill>
            <a:srgbClr val="EAF0FB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953658" y="3605784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118250" y="3770376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“Edge decisioning protects the </a:t>
            </a: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300–500 bps margin gap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by automatically routing every returned unit to its highest-recovery channel — resale, repair, recommerce, or disposal.”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889797" y="3605784"/>
            <a:ext cx="2798978" cy="1283208"/>
          </a:xfrm>
          <a:prstGeom prst="rect">
            <a:avLst/>
          </a:prstGeom>
          <a:solidFill>
            <a:srgbClr val="EAF0FB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8889797" y="3605784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9054389" y="3770376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“A unified semantic layer ends the “data is everywhere, answers are slow” tax — merchants, store ops, and supply chain finally plan against the same numbers.”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920" y="4998720"/>
            <a:ext cx="2331720" cy="1283208"/>
          </a:xfrm>
          <a:prstGeom prst="rect">
            <a:avLst/>
          </a:prstGeom>
          <a:solidFill>
            <a:srgbClr val="EFE9DB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02920" y="4998720"/>
            <a:ext cx="73152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13232" y="51633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Risk / Compliance / Sustainability Leader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3232" y="5565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2C3E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Safety, trust, regulatory alignment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3232" y="5897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40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“SO WHAT?”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017520" y="4998720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3017520" y="4998720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3182112" y="5163312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“Centralised model governance lets Walmart evidence </a:t>
            </a: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B71C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conformity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and CSRD disclosures from one register, not dozens of local spreadsheets.”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953658" y="4998720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5953658" y="4998720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118250" y="5163312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“Human-in-the-loop guards every irreversible decision — returns disposition, price moves on staples, customer-facing agent replies — so automation never outruns accountability.”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89797" y="4998720"/>
            <a:ext cx="2798978" cy="1283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4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8889797" y="4998720"/>
            <a:ext cx="36576" cy="1283208"/>
          </a:xfrm>
          <a:prstGeom prst="rect">
            <a:avLst/>
          </a:prstGeom>
          <a:solidFill>
            <a:srgbClr val="B71C2E"/>
          </a:solidFill>
          <a:ln w="12700">
            <a:solidFill>
              <a:srgbClr val="B71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9054389" y="5163312"/>
            <a:ext cx="2524658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“End-to-end lineage and consent records make every AI decision defensible, every supplier emissions claim verifiable, and every customer-side agent identifiable.”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6350">
            <a:solidFill>
              <a:srgbClr val="C9BF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02920" y="64008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 Walmart 2024 10-K and Shareholder Letter  ·  EU AI Act final text  ·  CSRD wave-one reporting  ·  NRF / Appriss Retail 2024 Returns Report  ·  McKinsey State of Fashion 2025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031175" y="6400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1B2A4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C-SUITE RELEVANCE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799" y="895353"/>
            <a:ext cx="5372099" cy="276226"/>
          </a:xfrm>
          <a:prstGeom prst="roundRect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1. MAIN RETURN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48399" y="895353"/>
            <a:ext cx="5619755" cy="276226"/>
          </a:xfrm>
          <a:prstGeom prst="roundRect">
            <a:avLst/>
          </a:prstGeom>
          <a:solidFill>
            <a:srgbClr val="067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2. HOW TO REDUCE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799" y="1171572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8399" y="1171572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799" y="1790699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48399" y="1790699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4799" y="2409825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48399" y="2409825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4799" y="3019426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8399" y="3019426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4799" y="3638553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8399" y="3638553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799" y="4248146"/>
            <a:ext cx="5372099" cy="60960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48399" y="4248146"/>
            <a:ext cx="5619755" cy="609600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799" y="4829177"/>
            <a:ext cx="5372099" cy="600075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8399" y="4829177"/>
            <a:ext cx="5619755" cy="600075"/>
          </a:xfrm>
          <a:prstGeom prst="roundRect">
            <a:avLst/>
          </a:prstGeom>
          <a:solidFill>
            <a:srgbClr val="F7FCF7"/>
          </a:solidFill>
          <a:ln w="9525">
            <a:solidFill>
              <a:srgbClr val="D3E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4321" y="5505451"/>
            <a:ext cx="5934077" cy="238123"/>
          </a:xfrm>
          <a:prstGeom prst="roundRect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3. PRIORITY ACTION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099" y="5753100"/>
            <a:ext cx="1247777" cy="952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09777" y="5753100"/>
            <a:ext cx="1200143" cy="952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81399" y="5753100"/>
            <a:ext cx="1238243" cy="952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153021" y="5753100"/>
            <a:ext cx="1066799" cy="9525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C9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2699" y="5543547"/>
            <a:ext cx="5486399" cy="1181098"/>
          </a:xfrm>
          <a:prstGeom prst="roundRect">
            <a:avLst/>
          </a:prstGeom>
          <a:solidFill>
            <a:srgbClr val="FFFEFB"/>
          </a:solidFill>
          <a:ln w="1397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438277" y="1257297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6610355" y="1190624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5838821" y="1381125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438277" y="1876424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610355" y="1809750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5838821" y="2000252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438277" y="2495550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1" name="Oval 30"/>
          <p:cNvSpPr/>
          <p:nvPr/>
        </p:nvSpPr>
        <p:spPr>
          <a:xfrm>
            <a:off x="6610355" y="2419351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5838821" y="2619371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438277" y="3105151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6610355" y="3028952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5838821" y="3228972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438277" y="3724278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610355" y="3648071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5838821" y="3848099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438277" y="4333871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40" name="Oval 39"/>
          <p:cNvSpPr/>
          <p:nvPr/>
        </p:nvSpPr>
        <p:spPr>
          <a:xfrm>
            <a:off x="6610355" y="4248146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5838821" y="4457700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438277" y="4914902"/>
            <a:ext cx="342899" cy="342900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43" name="Oval 42"/>
          <p:cNvSpPr/>
          <p:nvPr/>
        </p:nvSpPr>
        <p:spPr>
          <a:xfrm>
            <a:off x="6610355" y="4829177"/>
            <a:ext cx="590556" cy="590549"/>
          </a:xfrm>
          <a:prstGeom prst="ellipse">
            <a:avLst/>
          </a:prstGeom>
          <a:solidFill>
            <a:srgbClr val="F7FCF7"/>
          </a:solidFill>
          <a:ln w="11430">
            <a:solidFill>
              <a:srgbClr val="2D9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5838821" y="5038723"/>
            <a:ext cx="276221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523878" y="5829300"/>
            <a:ext cx="257178" cy="257175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2114543" y="5829300"/>
            <a:ext cx="257178" cy="257175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3686177" y="5829300"/>
            <a:ext cx="257178" cy="257175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5257799" y="5829300"/>
            <a:ext cx="257178" cy="257175"/>
          </a:xfrm>
          <a:prstGeom prst="ellipse">
            <a:avLst/>
          </a:prstGeom>
          <a:solidFill>
            <a:srgbClr val="08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724021" y="6048371"/>
            <a:ext cx="257178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3276599" y="6048371"/>
            <a:ext cx="257178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4876799" y="6048371"/>
            <a:ext cx="257178" cy="209553"/>
          </a:xfrm>
          <a:prstGeom prst="rightArrow">
            <a:avLst/>
          </a:prstGeom>
          <a:solidFill>
            <a:srgbClr val="0F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52" name="Picture 51" descr="left_row_1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4" y="1209675"/>
            <a:ext cx="685799" cy="590550"/>
          </a:xfrm>
          <a:prstGeom prst="rect">
            <a:avLst/>
          </a:prstGeom>
        </p:spPr>
      </p:pic>
      <p:pic>
        <p:nvPicPr>
          <p:cNvPr id="53" name="Picture 52" descr="right_row_1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4" y="1276350"/>
            <a:ext cx="457199" cy="390525"/>
          </a:xfrm>
          <a:prstGeom prst="rect">
            <a:avLst/>
          </a:prstGeom>
        </p:spPr>
      </p:pic>
      <p:pic>
        <p:nvPicPr>
          <p:cNvPr id="54" name="Picture 53" descr="left_row_2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838325"/>
            <a:ext cx="628649" cy="561975"/>
          </a:xfrm>
          <a:prstGeom prst="rect">
            <a:avLst/>
          </a:prstGeom>
        </p:spPr>
      </p:pic>
      <p:pic>
        <p:nvPicPr>
          <p:cNvPr id="55" name="Picture 54" descr="right_row_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4" y="1857374"/>
            <a:ext cx="466724" cy="466724"/>
          </a:xfrm>
          <a:prstGeom prst="rect">
            <a:avLst/>
          </a:prstGeom>
        </p:spPr>
      </p:pic>
      <p:pic>
        <p:nvPicPr>
          <p:cNvPr id="56" name="Picture 55" descr="left_row_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99" y="2466975"/>
            <a:ext cx="609599" cy="552450"/>
          </a:xfrm>
          <a:prstGeom prst="rect">
            <a:avLst/>
          </a:prstGeom>
        </p:spPr>
      </p:pic>
      <p:pic>
        <p:nvPicPr>
          <p:cNvPr id="57" name="Picture 56" descr="right_row_3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074" y="2476500"/>
            <a:ext cx="457199" cy="514350"/>
          </a:xfrm>
          <a:prstGeom prst="rect">
            <a:avLst/>
          </a:prstGeom>
        </p:spPr>
      </p:pic>
      <p:pic>
        <p:nvPicPr>
          <p:cNvPr id="58" name="Picture 57" descr="left_row_4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399" y="3076575"/>
            <a:ext cx="733424" cy="495299"/>
          </a:xfrm>
          <a:prstGeom prst="rect">
            <a:avLst/>
          </a:prstGeom>
        </p:spPr>
      </p:pic>
      <p:pic>
        <p:nvPicPr>
          <p:cNvPr id="59" name="Picture 58" descr="right_row_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024" y="3105150"/>
            <a:ext cx="476249" cy="514350"/>
          </a:xfrm>
          <a:prstGeom prst="rect">
            <a:avLst/>
          </a:prstGeom>
        </p:spPr>
      </p:pic>
      <p:pic>
        <p:nvPicPr>
          <p:cNvPr id="60" name="Picture 59" descr="left_row_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4" y="3667125"/>
            <a:ext cx="581024" cy="542925"/>
          </a:xfrm>
          <a:prstGeom prst="rect">
            <a:avLst/>
          </a:prstGeom>
        </p:spPr>
      </p:pic>
      <p:pic>
        <p:nvPicPr>
          <p:cNvPr id="61" name="Picture 60" descr="right_row_5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599" y="3724274"/>
            <a:ext cx="428624" cy="466724"/>
          </a:xfrm>
          <a:prstGeom prst="rect">
            <a:avLst/>
          </a:prstGeom>
        </p:spPr>
      </p:pic>
      <p:pic>
        <p:nvPicPr>
          <p:cNvPr id="62" name="Picture 61" descr="left_row_6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499" y="4286250"/>
            <a:ext cx="647699" cy="542925"/>
          </a:xfrm>
          <a:prstGeom prst="rect">
            <a:avLst/>
          </a:prstGeom>
        </p:spPr>
      </p:pic>
      <p:pic>
        <p:nvPicPr>
          <p:cNvPr id="63" name="Picture 62" descr="right_row_6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7024" y="4295775"/>
            <a:ext cx="514349" cy="523875"/>
          </a:xfrm>
          <a:prstGeom prst="rect">
            <a:avLst/>
          </a:prstGeom>
        </p:spPr>
      </p:pic>
      <p:pic>
        <p:nvPicPr>
          <p:cNvPr id="64" name="Picture 63" descr="left_row_7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4" y="4838700"/>
            <a:ext cx="590549" cy="590550"/>
          </a:xfrm>
          <a:prstGeom prst="rect">
            <a:avLst/>
          </a:prstGeom>
        </p:spPr>
      </p:pic>
      <p:pic>
        <p:nvPicPr>
          <p:cNvPr id="65" name="Picture 64" descr="right_row_7_ic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074" y="4914900"/>
            <a:ext cx="419099" cy="438149"/>
          </a:xfrm>
          <a:prstGeom prst="rect">
            <a:avLst/>
          </a:prstGeom>
        </p:spPr>
      </p:pic>
      <p:pic>
        <p:nvPicPr>
          <p:cNvPr id="66" name="Picture 65" descr="action_icon_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624" y="5810250"/>
            <a:ext cx="523874" cy="571500"/>
          </a:xfrm>
          <a:prstGeom prst="rect">
            <a:avLst/>
          </a:prstGeom>
        </p:spPr>
      </p:pic>
      <p:pic>
        <p:nvPicPr>
          <p:cNvPr id="67" name="Picture 66" descr="action_icon_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1724" y="5819775"/>
            <a:ext cx="685799" cy="552450"/>
          </a:xfrm>
          <a:prstGeom prst="rect">
            <a:avLst/>
          </a:prstGeom>
        </p:spPr>
      </p:pic>
      <p:pic>
        <p:nvPicPr>
          <p:cNvPr id="68" name="Picture 67" descr="action_icon_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2849" y="5876925"/>
            <a:ext cx="923924" cy="504825"/>
          </a:xfrm>
          <a:prstGeom prst="rect">
            <a:avLst/>
          </a:prstGeom>
        </p:spPr>
      </p:pic>
      <p:pic>
        <p:nvPicPr>
          <p:cNvPr id="69" name="Picture 68" descr="action_icon_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05449" y="5800725"/>
            <a:ext cx="485774" cy="571500"/>
          </a:xfrm>
          <a:prstGeom prst="rect">
            <a:avLst/>
          </a:prstGeom>
        </p:spPr>
      </p:pic>
      <p:pic>
        <p:nvPicPr>
          <p:cNvPr id="70" name="Picture 69" descr="callout_lightbulb_bad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6524" y="5667375"/>
            <a:ext cx="847724" cy="847725"/>
          </a:xfrm>
          <a:prstGeom prst="rect">
            <a:avLst/>
          </a:prstGeom>
        </p:spPr>
      </p:pic>
      <p:pic>
        <p:nvPicPr>
          <p:cNvPr id="71" name="Picture 70" descr="callout_box_refresh_ic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63249" y="5838825"/>
            <a:ext cx="742949" cy="6286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47756" y="38103"/>
            <a:ext cx="10096499" cy="476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Why Returns Happen at Walmart &amp; Similar Retailers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14755" y="581023"/>
            <a:ext cx="47624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1" u="none" strike="noStrike" kern="1200" cap="none" spc="0" normalizeH="0" baseline="0" noProof="0">
                <a:ln>
                  <a:noFill/>
                </a:ln>
                <a:solidFill>
                  <a:srgbClr val="0A4AA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Reason analysis and practical solutions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399" y="1257297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Expectation mismatch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399" y="1457325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Product quality, color, size, or specs
differ from customer expectations.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2377" y="1266823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Improve product content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72377" y="1457325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Better photos, clearer descriptions,
dimensions, and comparison details.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399" y="1876424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Online shopping uncertainty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399" y="2076451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Customers cannot touch, try, or
inspect items before purchase.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72377" y="1885950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Improve fit and selection tools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72377" y="2076451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Size guides, reviews, Q&amp;A, and
recommendation tools.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399" y="2495550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Damage or defects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399" y="2695578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Items arrive broken, defective,
or not working.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72377" y="2505076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Strengthen quality control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72377" y="2695578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Better supplier QA and
pre-shipment inspections.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399" y="3105151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Shipping and fulfillment errors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399" y="3305171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Wrong item, late delivery,
or lost package.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72377" y="3114677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Improve fulfillment accuracy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72377" y="3305171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Better picking, packing, tracking,
and delivery reliability.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399" y="3724278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Easy return policies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399" y="3924298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Low-friction return options
encourage more returns.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72377" y="3733796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Optimize return policy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72377" y="3924298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Keep it customer-friendly but use
rules by category and risk level.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399" y="4333871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Marketplace variability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399" y="4533899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Third-party seller quality and
fulfillment are inconsistent.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72377" y="4343397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Manage seller performance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72377" y="4533899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Stricter standards, monitoring, and
corrective actions for marketplace sellers.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399" y="4914902"/>
            <a:ext cx="30479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4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Fraud and abuse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399" y="5114922"/>
            <a:ext cx="3143243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Wardrobing, item switching,
or false return claims.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72377" y="4924428"/>
            <a:ext cx="3619499" cy="190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86B31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Use fraud prevention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72377" y="5114922"/>
            <a:ext cx="3476621" cy="295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Identity checks, anomaly detection,
and return-abuse analytics.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3878" y="6391271"/>
            <a:ext cx="1038221" cy="27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Diagnose return
reasons by category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14543" y="6391271"/>
            <a:ext cx="990599" cy="27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Fix product and
content issues first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86177" y="6391271"/>
            <a:ext cx="1028699" cy="27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Improve delivery and
seller performance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57799" y="6391271"/>
            <a:ext cx="857243" cy="27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Apply targeted
fraud controls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05699" y="5686427"/>
            <a:ext cx="3333755" cy="86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10" b="1" i="0" u="none" strike="noStrike" kern="1200" cap="none" spc="0" normalizeH="0" baseline="0" noProof="0">
                <a:ln>
                  <a:noFill/>
                </a:ln>
                <a:solidFill>
                  <a:srgbClr val="0A1F55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Best results come from combining
better product information, stronger
operations, smarter seller management,
and targeted fraud prevention.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80159" y="1885950"/>
            <a:ext cx="938783" cy="939546"/>
          </a:xfrm>
          <a:prstGeom prst="ellipse">
            <a:avLst/>
          </a:prstGeom>
          <a:solidFill>
            <a:srgbClr val="1F6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87679" y="4800600"/>
            <a:ext cx="2621279" cy="8229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solidFill>
              <a:srgbClr val="1F6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4084319" y="1885950"/>
            <a:ext cx="938783" cy="939546"/>
          </a:xfrm>
          <a:prstGeom prst="ellipse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52799" y="4800600"/>
            <a:ext cx="2621279" cy="822960"/>
          </a:xfrm>
          <a:prstGeom prst="roundRect">
            <a:avLst>
              <a:gd name="adj" fmla="val 8000"/>
            </a:avLst>
          </a:prstGeom>
          <a:solidFill>
            <a:srgbClr val="E5EFE5"/>
          </a:solidFill>
          <a:ln>
            <a:solidFill>
              <a:srgbClr val="2F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6888479" y="1885950"/>
            <a:ext cx="938783" cy="939546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19" y="4800600"/>
            <a:ext cx="2621279" cy="822960"/>
          </a:xfrm>
          <a:prstGeom prst="roundRect">
            <a:avLst>
              <a:gd name="adj" fmla="val 8000"/>
            </a:avLst>
          </a:prstGeom>
          <a:solidFill>
            <a:srgbClr val="FCE9D8"/>
          </a:solidFill>
          <a:ln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9692639" y="1885950"/>
            <a:ext cx="938783" cy="939546"/>
          </a:xfrm>
          <a:prstGeom prst="ellipse">
            <a:avLst/>
          </a:prstGeom>
          <a:solidFill>
            <a:srgbClr val="C83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83039" y="4800600"/>
            <a:ext cx="2621279" cy="822960"/>
          </a:xfrm>
          <a:prstGeom prst="roundRect">
            <a:avLst>
              <a:gd name="adj" fmla="val 8000"/>
            </a:avLst>
          </a:prstGeom>
          <a:solidFill>
            <a:srgbClr val="F7DEE2"/>
          </a:solidFill>
          <a:ln>
            <a:solidFill>
              <a:srgbClr val="C8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599" y="5897880"/>
            <a:ext cx="10972799" cy="685800"/>
          </a:xfrm>
          <a:prstGeom prst="roundRect">
            <a:avLst>
              <a:gd name="adj" fmla="val 20000"/>
            </a:avLst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59" y="205740"/>
            <a:ext cx="7802879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1. HOW TO REDUCE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59" y="788670"/>
            <a:ext cx="780287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3F4858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Prevent returns before they happen.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99" y="1371600"/>
            <a:ext cx="2438399" cy="4800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A. IMPROVE PRODUCT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" y="308610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Rich, accurate product descriptions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" y="3394710"/>
            <a:ext cx="2865119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High-quality images, videos, 360°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9" y="3703320"/>
            <a:ext cx="2865119" cy="40568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Size, material, dimensions, compatibility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9" y="4011929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AI-generated content and FAQ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9" y="432054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Review 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79" y="4869180"/>
            <a:ext cx="2621279" cy="24003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F61C8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 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79" y="5143500"/>
            <a:ext cx="2621279" cy="4457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PIM, DAM, GenAI, NLP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759" y="1371600"/>
            <a:ext cx="2438399" cy="4800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7A3E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B. HELP CUSTOMERS BUY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0879" y="308610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AI size &amp; fit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0879" y="3394710"/>
            <a:ext cx="2865119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Virtual Try-On and AR for fit &amp;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0879" y="370332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Compatibility checker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0879" y="4011929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Personalized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2799" y="4869180"/>
            <a:ext cx="2621279" cy="24003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F7A3E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799" y="5143500"/>
            <a:ext cx="2621279" cy="4457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AI/ML Recommendation, Virtual Try-On, AR, Rules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19" y="1371600"/>
            <a:ext cx="2438399" cy="4800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E07A1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C. IMPROVE FULFILLMENT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999" y="308610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Accurate picking and packing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999" y="339471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Real-time inventory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999" y="370332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Optimized routing and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999" y="4011929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Damage prevention in transit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19" y="4869180"/>
            <a:ext cx="2621279" cy="24003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E07A1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 Solutions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19" y="5143500"/>
            <a:ext cx="2621279" cy="4457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OMS, WMS, RFID, Barcode, TMS, IoT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3039" y="1371600"/>
            <a:ext cx="2438399" cy="4800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C8313D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D. PREVENT FRAUD &amp; ABUSE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308610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AI fraud detection and risk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19" y="339471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Customer behavior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19" y="3703320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Identity 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19" y="4011929"/>
            <a:ext cx="2865119" cy="3429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Return policy by risk 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3039" y="4869180"/>
            <a:ext cx="2621279" cy="24003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C8313D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 Solutions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3039" y="5143500"/>
            <a:ext cx="2621279" cy="44577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F2A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AI Fraud Detection, Behavioral Analytics, Policy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39" y="5966460"/>
            <a:ext cx="10119359" cy="6172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Better Information + Better Experience + Better Operations = Fewer Returns</a:t>
            </a: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AE6D94AE-9F38-B4BA-F409-BA285678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87" y="1883946"/>
            <a:ext cx="1065525" cy="1030704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129C517A-8628-92C2-C4EF-99E2CEEB8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550" y="1883946"/>
            <a:ext cx="1172320" cy="1148716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7826BBA8-DDE9-4751-D8C2-E5F4E26C3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265" y="1884569"/>
            <a:ext cx="1060615" cy="1018191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6F4B3286-6656-B78B-D431-D3C68B23C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055" y="1876327"/>
            <a:ext cx="1073983" cy="10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6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1" y="9525"/>
            <a:ext cx="12172942" cy="6838948"/>
          </a:xfrm>
          <a:prstGeom prst="rect">
            <a:avLst/>
          </a:prstGeom>
          <a:noFill/>
          <a:ln w="762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8643" y="1047751"/>
            <a:ext cx="10915643" cy="1400177"/>
          </a:xfrm>
          <a:prstGeom prst="roundRect">
            <a:avLst>
              <a:gd name="adj" fmla="val 6000"/>
            </a:avLst>
          </a:prstGeom>
          <a:solidFill>
            <a:srgbClr val="F8FB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7221" y="2819399"/>
          <a:ext cx="10848977" cy="209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2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Grade</a:t>
                      </a:r>
                    </a:p>
                  </a:txBody>
                  <a:tcPr>
                    <a:solidFill>
                      <a:srgbClr val="365C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Condition</a:t>
                      </a:r>
                    </a:p>
                  </a:txBody>
                  <a:tcPr>
                    <a:solidFill>
                      <a:srgbClr val="365C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365C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Sales Channel</a:t>
                      </a:r>
                    </a:p>
                  </a:txBody>
                  <a:tcPr>
                    <a:solidFill>
                      <a:srgbClr val="365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Like New / Unused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Return to New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Regular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Open Box / Like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Resell as Open-Box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Outlet / Open-Box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Minor Wear / Missing 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Repair / Repackage / Resell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Refurbished / Outlet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Defective / Major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Repair &amp; Resell or Harvest 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Refurbished /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Not Resalable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Recycle / Donate / Dispose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Recycle / Disposal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6756" y="5267328"/>
            <a:ext cx="1962155" cy="130492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67021" y="5267328"/>
            <a:ext cx="1962155" cy="130492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76821" y="5267328"/>
            <a:ext cx="1962155" cy="130492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38999" y="5267328"/>
            <a:ext cx="1962155" cy="130492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439277" y="5267328"/>
            <a:ext cx="1962155" cy="130492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7221" y="2819399"/>
            <a:ext cx="10848977" cy="20955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6C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11" name="Picture 10" descr="flow_icon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1104900"/>
            <a:ext cx="628649" cy="742950"/>
          </a:xfrm>
          <a:prstGeom prst="rect">
            <a:avLst/>
          </a:prstGeom>
        </p:spPr>
      </p:pic>
      <p:pic>
        <p:nvPicPr>
          <p:cNvPr id="12" name="Picture 11" descr="flow_icon_recei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549" y="1104900"/>
            <a:ext cx="761999" cy="762000"/>
          </a:xfrm>
          <a:prstGeom prst="rect">
            <a:avLst/>
          </a:prstGeom>
        </p:spPr>
      </p:pic>
      <p:pic>
        <p:nvPicPr>
          <p:cNvPr id="13" name="Picture 12" descr="flow_icon_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299" y="1181100"/>
            <a:ext cx="800099" cy="647700"/>
          </a:xfrm>
          <a:prstGeom prst="rect">
            <a:avLst/>
          </a:prstGeom>
        </p:spPr>
      </p:pic>
      <p:pic>
        <p:nvPicPr>
          <p:cNvPr id="14" name="Picture 13" descr="flow_icon_insp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49" y="1114425"/>
            <a:ext cx="800099" cy="762000"/>
          </a:xfrm>
          <a:prstGeom prst="rect">
            <a:avLst/>
          </a:prstGeom>
        </p:spPr>
      </p:pic>
      <p:pic>
        <p:nvPicPr>
          <p:cNvPr id="15" name="Picture 14" descr="flow_icon_disposi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4" y="1133475"/>
            <a:ext cx="800099" cy="742950"/>
          </a:xfrm>
          <a:prstGeom prst="rect">
            <a:avLst/>
          </a:prstGeom>
        </p:spPr>
      </p:pic>
      <p:pic>
        <p:nvPicPr>
          <p:cNvPr id="16" name="Picture 15" descr="flow_icon_res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4624" y="1143000"/>
            <a:ext cx="800099" cy="723900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2133599" y="1409703"/>
            <a:ext cx="304799" cy="17145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6B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057655" y="1409703"/>
            <a:ext cx="304799" cy="17145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6B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838821" y="1409703"/>
            <a:ext cx="304799" cy="17145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6B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896221" y="1409703"/>
            <a:ext cx="304799" cy="17145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6B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677399" y="1409703"/>
            <a:ext cx="304799" cy="17145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6B7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7221" y="2819399"/>
            <a:ext cx="10848977" cy="314322"/>
          </a:xfrm>
          <a:prstGeom prst="roundRect">
            <a:avLst>
              <a:gd name="adj" fmla="val 2500"/>
            </a:avLst>
          </a:prstGeom>
          <a:solidFill>
            <a:srgbClr val="365C80"/>
          </a:solidFill>
          <a:ln>
            <a:solidFill>
              <a:srgbClr val="365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3" name="Picture 22" descr="it_icon_rm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499" y="5324475"/>
            <a:ext cx="609599" cy="647700"/>
          </a:xfrm>
          <a:prstGeom prst="rect">
            <a:avLst/>
          </a:prstGeom>
        </p:spPr>
      </p:pic>
      <p:pic>
        <p:nvPicPr>
          <p:cNvPr id="24" name="Picture 23" descr="it_icon_wm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49" y="5324475"/>
            <a:ext cx="666749" cy="647700"/>
          </a:xfrm>
          <a:prstGeom prst="rect">
            <a:avLst/>
          </a:prstGeom>
        </p:spPr>
      </p:pic>
      <p:pic>
        <p:nvPicPr>
          <p:cNvPr id="25" name="Picture 24" descr="it_icon_vis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6424" y="5314950"/>
            <a:ext cx="666749" cy="666750"/>
          </a:xfrm>
          <a:prstGeom prst="rect">
            <a:avLst/>
          </a:prstGeom>
        </p:spPr>
      </p:pic>
      <p:pic>
        <p:nvPicPr>
          <p:cNvPr id="26" name="Picture 25" descr="it_icon_repa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6699" y="5314950"/>
            <a:ext cx="628649" cy="647700"/>
          </a:xfrm>
          <a:prstGeom prst="rect">
            <a:avLst/>
          </a:prstGeom>
        </p:spPr>
      </p:pic>
      <p:pic>
        <p:nvPicPr>
          <p:cNvPr id="27" name="Picture 26" descr="it_icon_pric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34599" y="5314950"/>
            <a:ext cx="685799" cy="6667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072639" y="96012"/>
            <a:ext cx="8046719" cy="5829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2. HOW TO PROCESS RETURNS &amp; RESALE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759" y="740664"/>
            <a:ext cx="53644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Fast, accurate, and data-driven reverse logistics.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9" y="1924053"/>
            <a:ext cx="876299" cy="40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Return
Initiated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0343" y="1924053"/>
            <a:ext cx="904877" cy="40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Item
Received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6777" y="1924053"/>
            <a:ext cx="904877" cy="40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Scan &amp;
Identify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8377" y="1924053"/>
            <a:ext cx="1676399" cy="4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AI Inspection &amp;
Condition Grading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4377" y="1924053"/>
            <a:ext cx="1200143" cy="400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Disposition
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2199" y="1924053"/>
            <a:ext cx="1562099" cy="4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Resell / Repair /
Recycle / Dispose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5755" y="2514602"/>
            <a:ext cx="40004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CONDITION GRADING &amp; DISPOSITION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7221" y="3133721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7221" y="3486147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7221" y="3848099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57221" y="4200525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57221" y="4552950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57221" y="4905376"/>
            <a:ext cx="10848977" cy="11432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43121" y="2819399"/>
            <a:ext cx="11423" cy="2085977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43521" y="2819399"/>
            <a:ext cx="11423" cy="2085977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496299" y="2819399"/>
            <a:ext cx="11423" cy="2085977"/>
          </a:xfrm>
          <a:prstGeom prst="rect">
            <a:avLst/>
          </a:prstGeom>
          <a:solidFill>
            <a:srgbClr val="B6C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6756" y="5038723"/>
            <a:ext cx="1619243" cy="209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Key IT Solutions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143" y="6048371"/>
            <a:ext cx="1657343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Returns Management
System (RMS)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90877" y="6048371"/>
            <a:ext cx="1314455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WMS / RFID /
Barcode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8299" y="6048371"/>
            <a:ext cx="1142999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AI Computer
Vision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4755" y="6048371"/>
            <a:ext cx="1428755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Repair Management
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7877" y="6048371"/>
            <a:ext cx="1619243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Dynamic Pricing /
Recommerce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1" y="2895598"/>
            <a:ext cx="14858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3121" y="2895598"/>
            <a:ext cx="32003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Condition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3521" y="2895598"/>
            <a:ext cx="3152777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96299" y="2895598"/>
            <a:ext cx="30098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Sales Channel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8877" y="3238498"/>
            <a:ext cx="26669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Like New / Unused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0699" y="3238498"/>
            <a:ext cx="27146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Return to New Inventory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1577" y="3238498"/>
            <a:ext cx="25241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Regular Retail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8877" y="3590924"/>
            <a:ext cx="26669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Open Box / Like New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00699" y="3590924"/>
            <a:ext cx="27146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Resell as Open-Box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91577" y="3590924"/>
            <a:ext cx="25241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Outlet / Open-Box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8877" y="3952875"/>
            <a:ext cx="26669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Minor Wear / Missing Parts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00699" y="3952875"/>
            <a:ext cx="27146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Repair / Repackage / Resell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91577" y="3952875"/>
            <a:ext cx="25241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Refurbished / Outlet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8877" y="4305301"/>
            <a:ext cx="26669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Defective / Major Issues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00699" y="4305301"/>
            <a:ext cx="27146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Repair &amp; Resell or Harvest Parts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1577" y="4305301"/>
            <a:ext cx="25241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Refurbished / B2B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28877" y="4657727"/>
            <a:ext cx="2666999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Not Resalable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0699" y="4657727"/>
            <a:ext cx="27146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Recycle / Donate / Dispose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91577" y="4657727"/>
            <a:ext cx="2524121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0B2359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Recycle / Disposal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52521" y="3171825"/>
            <a:ext cx="485778" cy="266700"/>
          </a:xfrm>
          <a:prstGeom prst="roundRect">
            <a:avLst>
              <a:gd name="adj" fmla="val 25000"/>
            </a:avLst>
          </a:prstGeom>
          <a:solidFill>
            <a:srgbClr val="1FAD49"/>
          </a:solidFill>
          <a:ln>
            <a:solidFill>
              <a:srgbClr val="1FA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1152521" y="3524250"/>
            <a:ext cx="485778" cy="266700"/>
          </a:xfrm>
          <a:prstGeom prst="roundRect">
            <a:avLst>
              <a:gd name="adj" fmla="val 25000"/>
            </a:avLst>
          </a:prstGeom>
          <a:solidFill>
            <a:srgbClr val="7FC25C"/>
          </a:solidFill>
          <a:ln>
            <a:solidFill>
              <a:srgbClr val="7FC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152521" y="3886202"/>
            <a:ext cx="485778" cy="266700"/>
          </a:xfrm>
          <a:prstGeom prst="roundRect">
            <a:avLst>
              <a:gd name="adj" fmla="val 25000"/>
            </a:avLst>
          </a:prstGeom>
          <a:solidFill>
            <a:srgbClr val="F1B40F"/>
          </a:solidFill>
          <a:ln>
            <a:solidFill>
              <a:srgbClr val="F1B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152521" y="4238628"/>
            <a:ext cx="485778" cy="266700"/>
          </a:xfrm>
          <a:prstGeom prst="roundRect">
            <a:avLst>
              <a:gd name="adj" fmla="val 25000"/>
            </a:avLst>
          </a:prstGeom>
          <a:solidFill>
            <a:srgbClr val="E07A1F"/>
          </a:solidFill>
          <a:ln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1152521" y="4591046"/>
            <a:ext cx="485778" cy="266700"/>
          </a:xfrm>
          <a:prstGeom prst="roundRect">
            <a:avLst>
              <a:gd name="adj" fmla="val 25000"/>
            </a:avLst>
          </a:prstGeom>
          <a:solidFill>
            <a:srgbClr val="DA2530"/>
          </a:solidFill>
          <a:ln>
            <a:solidFill>
              <a:srgbClr val="DA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52521" y="3209928"/>
            <a:ext cx="485778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2521" y="3562346"/>
            <a:ext cx="485778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2521" y="3924298"/>
            <a:ext cx="485778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52521" y="4276724"/>
            <a:ext cx="485778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521" y="4629150"/>
            <a:ext cx="485778" cy="1905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18728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6243" y="1114425"/>
            <a:ext cx="3448055" cy="452437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9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067177" y="1114425"/>
            <a:ext cx="3248021" cy="452437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9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58077" y="1114425"/>
            <a:ext cx="4229099" cy="452437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9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6721" y="5838825"/>
            <a:ext cx="11220442" cy="809628"/>
          </a:xfrm>
          <a:prstGeom prst="roundRect">
            <a:avLst>
              <a:gd name="adj" fmla="val 4000"/>
            </a:avLst>
          </a:prstGeom>
          <a:solidFill>
            <a:srgbClr val="E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6243" y="1114425"/>
            <a:ext cx="3448055" cy="381003"/>
          </a:xfrm>
          <a:prstGeom prst="roundRect">
            <a:avLst>
              <a:gd name="adj" fmla="val 6000"/>
            </a:avLst>
          </a:prstGeom>
          <a:solidFill>
            <a:srgbClr val="061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67177" y="1114425"/>
            <a:ext cx="3248021" cy="381003"/>
          </a:xfrm>
          <a:prstGeom prst="roundRect">
            <a:avLst>
              <a:gd name="adj" fmla="val 6000"/>
            </a:avLst>
          </a:prstGeom>
          <a:solidFill>
            <a:srgbClr val="061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58077" y="1114425"/>
            <a:ext cx="4229099" cy="381003"/>
          </a:xfrm>
          <a:prstGeom prst="roundRect">
            <a:avLst>
              <a:gd name="adj" fmla="val 6000"/>
            </a:avLst>
          </a:prstGeom>
          <a:solidFill>
            <a:srgbClr val="061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38199" y="2143125"/>
            <a:ext cx="238121" cy="238123"/>
          </a:xfrm>
          <a:prstGeom prst="ellipse">
            <a:avLst/>
          </a:prstGeom>
          <a:solidFill>
            <a:srgbClr val="35B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38199" y="2505076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8199" y="2857502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38199" y="3219446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8199" y="3571872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38199" y="3933824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38199" y="4286250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38199" y="4648201"/>
            <a:ext cx="238121" cy="238123"/>
          </a:xfrm>
          <a:prstGeom prst="ellipse">
            <a:avLst/>
          </a:prstGeom>
          <a:solidFill>
            <a:srgbClr val="DF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277" y="5000627"/>
            <a:ext cx="2971799" cy="13331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38621" y="2143125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8621" y="2724148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38621" y="3295653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8621" y="3876676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38621" y="4419596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8621" y="4962524"/>
            <a:ext cx="2905121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429121" y="1676396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429121" y="2266953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429121" y="2847976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429121" y="3409948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429121" y="3971927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29121" y="4524373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429121" y="5057775"/>
            <a:ext cx="361943" cy="361951"/>
          </a:xfrm>
          <a:prstGeom prst="ellipse">
            <a:avLst/>
          </a:prstGeom>
          <a:noFill/>
          <a:ln w="11430">
            <a:solidFill>
              <a:srgbClr val="061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9999" y="2295523"/>
            <a:ext cx="3905243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19999" y="3086100"/>
            <a:ext cx="3905243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19999" y="3876676"/>
            <a:ext cx="3905243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19999" y="4667253"/>
            <a:ext cx="3905243" cy="11432"/>
          </a:xfrm>
          <a:prstGeom prst="rect">
            <a:avLst/>
          </a:prstGeom>
          <a:solidFill>
            <a:srgbClr val="D7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35" name="Picture 34" descr="dolla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49" y="1685925"/>
            <a:ext cx="342899" cy="342900"/>
          </a:xfrm>
          <a:prstGeom prst="rect">
            <a:avLst/>
          </a:prstGeom>
        </p:spPr>
      </p:pic>
      <p:pic>
        <p:nvPicPr>
          <p:cNvPr id="36" name="Picture 35" descr="conditio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49" y="2276475"/>
            <a:ext cx="342899" cy="361950"/>
          </a:xfrm>
          <a:prstGeom prst="rect">
            <a:avLst/>
          </a:prstGeom>
        </p:spPr>
      </p:pic>
      <p:pic>
        <p:nvPicPr>
          <p:cNvPr id="37" name="Picture 36" descr="demand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49" y="2857500"/>
            <a:ext cx="352424" cy="333375"/>
          </a:xfrm>
          <a:prstGeom prst="rect">
            <a:avLst/>
          </a:prstGeom>
        </p:spPr>
      </p:pic>
      <p:pic>
        <p:nvPicPr>
          <p:cNvPr id="38" name="Picture 37" descr="inventory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99" y="3419475"/>
            <a:ext cx="304799" cy="361950"/>
          </a:xfrm>
          <a:prstGeom prst="rect">
            <a:avLst/>
          </a:prstGeom>
        </p:spPr>
      </p:pic>
      <p:pic>
        <p:nvPicPr>
          <p:cNvPr id="39" name="Picture 38" descr="channel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4" y="3981450"/>
            <a:ext cx="361949" cy="361950"/>
          </a:xfrm>
          <a:prstGeom prst="rect">
            <a:avLst/>
          </a:prstGeom>
        </p:spPr>
      </p:pic>
      <p:pic>
        <p:nvPicPr>
          <p:cNvPr id="40" name="Picture 39" descr="time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649" y="4533900"/>
            <a:ext cx="342899" cy="342900"/>
          </a:xfrm>
          <a:prstGeom prst="rect">
            <a:avLst/>
          </a:prstGeom>
        </p:spPr>
      </p:pic>
      <p:pic>
        <p:nvPicPr>
          <p:cNvPr id="41" name="Picture 40" descr="fraud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649" y="5067300"/>
            <a:ext cx="342899" cy="361950"/>
          </a:xfrm>
          <a:prstGeom prst="rect">
            <a:avLst/>
          </a:prstGeom>
        </p:spPr>
      </p:pic>
      <p:pic>
        <p:nvPicPr>
          <p:cNvPr id="42" name="Picture 41" descr="tshirt_pho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7149" y="1657350"/>
            <a:ext cx="523874" cy="533400"/>
          </a:xfrm>
          <a:prstGeom prst="rect">
            <a:avLst/>
          </a:prstGeom>
        </p:spPr>
      </p:pic>
      <p:pic>
        <p:nvPicPr>
          <p:cNvPr id="43" name="Picture 42" descr="appliance_phot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4299" y="2419350"/>
            <a:ext cx="428624" cy="581025"/>
          </a:xfrm>
          <a:prstGeom prst="rect">
            <a:avLst/>
          </a:prstGeom>
        </p:spPr>
      </p:pic>
      <p:pic>
        <p:nvPicPr>
          <p:cNvPr id="44" name="Picture 43" descr="phone_pho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349" y="3209925"/>
            <a:ext cx="295274" cy="571500"/>
          </a:xfrm>
          <a:prstGeom prst="rect">
            <a:avLst/>
          </a:prstGeom>
        </p:spPr>
      </p:pic>
      <p:pic>
        <p:nvPicPr>
          <p:cNvPr id="45" name="Picture 44" descr="furniture_phot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9524" y="4010025"/>
            <a:ext cx="619124" cy="523875"/>
          </a:xfrm>
          <a:prstGeom prst="rect">
            <a:avLst/>
          </a:prstGeom>
        </p:spPr>
      </p:pic>
      <p:pic>
        <p:nvPicPr>
          <p:cNvPr id="46" name="Picture 45" descr="hat_phot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7624" y="4781550"/>
            <a:ext cx="476249" cy="628650"/>
          </a:xfrm>
          <a:prstGeom prst="rect">
            <a:avLst/>
          </a:prstGeom>
        </p:spPr>
      </p:pic>
      <p:sp>
        <p:nvSpPr>
          <p:cNvPr id="47" name="Right Arrow 46"/>
          <p:cNvSpPr/>
          <p:nvPr/>
        </p:nvSpPr>
        <p:spPr>
          <a:xfrm>
            <a:off x="10001243" y="1847846"/>
            <a:ext cx="304799" cy="133346"/>
          </a:xfrm>
          <a:prstGeom prst="rightArrow">
            <a:avLst/>
          </a:prstGeom>
          <a:solidFill>
            <a:srgbClr val="174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10001243" y="2638423"/>
            <a:ext cx="304799" cy="133346"/>
          </a:xfrm>
          <a:prstGeom prst="rightArrow">
            <a:avLst/>
          </a:prstGeom>
          <a:solidFill>
            <a:srgbClr val="174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10001243" y="3419474"/>
            <a:ext cx="304799" cy="133346"/>
          </a:xfrm>
          <a:prstGeom prst="rightArrow">
            <a:avLst/>
          </a:prstGeom>
          <a:solidFill>
            <a:srgbClr val="174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10001243" y="4210050"/>
            <a:ext cx="304799" cy="133346"/>
          </a:xfrm>
          <a:prstGeom prst="rightArrow">
            <a:avLst/>
          </a:prstGeom>
          <a:solidFill>
            <a:srgbClr val="174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10001243" y="5000627"/>
            <a:ext cx="304799" cy="133346"/>
          </a:xfrm>
          <a:prstGeom prst="rightArrow">
            <a:avLst/>
          </a:prstGeom>
          <a:solidFill>
            <a:srgbClr val="174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52" name="Picture 51" descr="bottom_data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7874" y="6000750"/>
            <a:ext cx="504824" cy="4286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476499" y="152398"/>
            <a:ext cx="7238999" cy="552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3. MAXIMIZE PROFIT FROM RETURNS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95755" y="800102"/>
            <a:ext cx="40004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Make the right decision for every return.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43" y="1190624"/>
            <a:ext cx="3448055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PROFIT DECISION FORMULA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7177" y="1190624"/>
            <a:ext cx="3248021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DECISION FACTORS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8077" y="1190624"/>
            <a:ext cx="42290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EXAMPLES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777" y="1724025"/>
            <a:ext cx="2095499" cy="2571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Net Recovery Profit 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777" y="2152650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7777" y="2171702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3823B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Resale Price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777" y="2514602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7777" y="2533646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Return Shipping Cost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6777" y="2867028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47777" y="2886072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Inspection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6777" y="3228972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47777" y="3248024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Repair Cost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6777" y="3581398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47777" y="3600450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Repackaging Cost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6777" y="3943349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47777" y="3962401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Redistribution Cost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777" y="4295775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7777" y="4314827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Discount Cost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6777" y="4657727"/>
            <a:ext cx="171456" cy="19050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47777" y="4676771"/>
            <a:ext cx="2333621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Fraud Risk Cost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6299" y="5191121"/>
            <a:ext cx="171456" cy="2190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3823B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57299" y="5191121"/>
            <a:ext cx="2190755" cy="2476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3823B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Net Recovery Profit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1577" y="1781173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Product Value &amp; Margin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81577" y="2352678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Condition &amp; Repair Cost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81577" y="2943227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Demand &amp; Seasonality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81577" y="3514724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Inventory Position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81577" y="4086222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Resale Channel Potential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81577" y="4629150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Time to Resale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81577" y="5162551"/>
            <a:ext cx="2095499" cy="2285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Risk of Fraud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20099" y="1733551"/>
            <a:ext cx="1381121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Low-cost T-shirt,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39143" y="1933571"/>
            <a:ext cx="1238243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1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Open-box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34643" y="1819276"/>
            <a:ext cx="914399" cy="2285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Outlet / Donate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20099" y="2505076"/>
            <a:ext cx="1476377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High-end Appliance,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39143" y="2714622"/>
            <a:ext cx="1238243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1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Minor damage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77521" y="2514602"/>
            <a:ext cx="742943" cy="409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Open-Box
Resale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0099" y="3295653"/>
            <a:ext cx="1238243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Smartphone,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39143" y="3495673"/>
            <a:ext cx="1257299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1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Scratch on screen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77521" y="3314697"/>
            <a:ext cx="761999" cy="409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Repair &amp;
Refurbish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20099" y="4086222"/>
            <a:ext cx="1428755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Large Furniture,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9143" y="4286250"/>
            <a:ext cx="1381121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1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High return shipping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10855" y="4095748"/>
            <a:ext cx="876299" cy="409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Local resale /
Pickup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20099" y="4905376"/>
            <a:ext cx="1381121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Seasonal Item,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39143" y="5105396"/>
            <a:ext cx="1257299" cy="209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1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End of season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48943" y="4895850"/>
            <a:ext cx="838199" cy="409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Liquidate /
Clearance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90821" y="6134096"/>
            <a:ext cx="6762755" cy="3047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6194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Data-driven decisions ensure the highest recovery of value and profit.</a:t>
            </a:r>
          </a:p>
        </p:txBody>
      </p:sp>
    </p:spTree>
    <p:extLst>
      <p:ext uri="{BB962C8B-B14F-4D97-AF65-F5344CB8AC3E}">
        <p14:creationId xmlns:p14="http://schemas.microsoft.com/office/powerpoint/2010/main" val="186175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1" y="1066803"/>
            <a:ext cx="2114543" cy="971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76543" y="1066803"/>
            <a:ext cx="2057399" cy="971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114921" y="1066803"/>
            <a:ext cx="1943099" cy="971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29477" y="1066803"/>
            <a:ext cx="1914521" cy="971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315443" y="1066803"/>
            <a:ext cx="2257421" cy="971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1021" y="2343152"/>
            <a:ext cx="10991855" cy="466728"/>
          </a:xfrm>
          <a:prstGeom prst="roundRect">
            <a:avLst>
              <a:gd name="adj" fmla="val 3000"/>
            </a:avLst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0556" y="3114677"/>
            <a:ext cx="3333755" cy="1724025"/>
          </a:xfrm>
          <a:prstGeom prst="roundRect">
            <a:avLst>
              <a:gd name="adj" fmla="val 4000"/>
            </a:avLst>
          </a:prstGeom>
          <a:solidFill>
            <a:srgbClr val="EDF7FF"/>
          </a:solidFill>
          <a:ln w="11430">
            <a:solidFill>
              <a:srgbClr val="C9D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38621" y="3114677"/>
            <a:ext cx="3352799" cy="1724025"/>
          </a:xfrm>
          <a:prstGeom prst="roundRect">
            <a:avLst>
              <a:gd name="adj" fmla="val 4000"/>
            </a:avLst>
          </a:prstGeom>
          <a:solidFill>
            <a:srgbClr val="EDF7FF"/>
          </a:solidFill>
          <a:ln w="11430">
            <a:solidFill>
              <a:srgbClr val="C9D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915277" y="3114677"/>
            <a:ext cx="3657599" cy="1724025"/>
          </a:xfrm>
          <a:prstGeom prst="roundRect">
            <a:avLst>
              <a:gd name="adj" fmla="val 4000"/>
            </a:avLst>
          </a:prstGeom>
          <a:solidFill>
            <a:srgbClr val="EDF7FF"/>
          </a:solidFill>
          <a:ln w="11430">
            <a:solidFill>
              <a:srgbClr val="C9DD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0556" y="5114922"/>
            <a:ext cx="10982321" cy="1438273"/>
          </a:xfrm>
          <a:prstGeom prst="roundRect">
            <a:avLst>
              <a:gd name="adj" fmla="val 4000"/>
            </a:avLst>
          </a:prstGeom>
          <a:solidFill>
            <a:srgbClr val="F0F7EF"/>
          </a:solidFill>
          <a:ln w="11430">
            <a:solidFill>
              <a:srgbClr val="C7D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76477" y="5600702"/>
            <a:ext cx="9521" cy="781050"/>
          </a:xfrm>
          <a:prstGeom prst="rect">
            <a:avLst/>
          </a:prstGeom>
          <a:solidFill>
            <a:srgbClr val="C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86243" y="5600702"/>
            <a:ext cx="9521" cy="781050"/>
          </a:xfrm>
          <a:prstGeom prst="rect">
            <a:avLst/>
          </a:prstGeom>
          <a:solidFill>
            <a:srgbClr val="C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67421" y="5600702"/>
            <a:ext cx="9521" cy="781050"/>
          </a:xfrm>
          <a:prstGeom prst="rect">
            <a:avLst/>
          </a:prstGeom>
          <a:solidFill>
            <a:srgbClr val="C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24799" y="5600702"/>
            <a:ext cx="9521" cy="781050"/>
          </a:xfrm>
          <a:prstGeom prst="rect">
            <a:avLst/>
          </a:prstGeom>
          <a:solidFill>
            <a:srgbClr val="C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791699" y="5600702"/>
            <a:ext cx="9521" cy="781050"/>
          </a:xfrm>
          <a:prstGeom prst="rect">
            <a:avLst/>
          </a:prstGeom>
          <a:solidFill>
            <a:srgbClr val="C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17" name="Picture 16" descr="customer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9" y="1162050"/>
            <a:ext cx="552449" cy="495299"/>
          </a:xfrm>
          <a:prstGeom prst="rect">
            <a:avLst/>
          </a:prstGeom>
        </p:spPr>
      </p:pic>
      <p:pic>
        <p:nvPicPr>
          <p:cNvPr id="18" name="Picture 17" descr="order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99" y="1171575"/>
            <a:ext cx="552449" cy="476250"/>
          </a:xfrm>
          <a:prstGeom prst="rect">
            <a:avLst/>
          </a:prstGeom>
        </p:spPr>
      </p:pic>
      <p:pic>
        <p:nvPicPr>
          <p:cNvPr id="19" name="Picture 18" descr="products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49" y="1162050"/>
            <a:ext cx="514349" cy="533400"/>
          </a:xfrm>
          <a:prstGeom prst="rect">
            <a:avLst/>
          </a:prstGeom>
        </p:spPr>
      </p:pic>
      <p:pic>
        <p:nvPicPr>
          <p:cNvPr id="20" name="Picture 19" descr="sellers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224" y="1181100"/>
            <a:ext cx="552449" cy="476250"/>
          </a:xfrm>
          <a:prstGeom prst="rect">
            <a:avLst/>
          </a:prstGeom>
        </p:spPr>
      </p:pic>
      <p:pic>
        <p:nvPicPr>
          <p:cNvPr id="21" name="Picture 20" descr="logistics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499" y="1181100"/>
            <a:ext cx="685799" cy="485775"/>
          </a:xfrm>
          <a:prstGeom prst="rect">
            <a:avLst/>
          </a:prstGeom>
        </p:spPr>
      </p:pic>
      <p:sp>
        <p:nvSpPr>
          <p:cNvPr id="22" name="Down Arrow 21"/>
          <p:cNvSpPr/>
          <p:nvPr/>
        </p:nvSpPr>
        <p:spPr>
          <a:xfrm>
            <a:off x="1552577" y="2038348"/>
            <a:ext cx="171456" cy="257175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3829055" y="2038348"/>
            <a:ext cx="171456" cy="257175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5991221" y="2038348"/>
            <a:ext cx="171456" cy="257175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8105777" y="2038348"/>
            <a:ext cx="171456" cy="257175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10334621" y="2038348"/>
            <a:ext cx="171456" cy="257175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2285999" y="2800347"/>
            <a:ext cx="171456" cy="266700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5991221" y="2800347"/>
            <a:ext cx="171456" cy="266700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9" name="Down Arrow 28"/>
          <p:cNvSpPr/>
          <p:nvPr/>
        </p:nvSpPr>
        <p:spPr>
          <a:xfrm>
            <a:off x="9401177" y="2800347"/>
            <a:ext cx="171456" cy="266700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30" name="Picture 29" descr="ai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4" y="3200400"/>
            <a:ext cx="409574" cy="419100"/>
          </a:xfrm>
          <a:prstGeom prst="rect">
            <a:avLst/>
          </a:prstGeom>
        </p:spPr>
      </p:pic>
      <p:pic>
        <p:nvPicPr>
          <p:cNvPr id="31" name="Picture 30" descr="ops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49" y="3181350"/>
            <a:ext cx="447674" cy="447675"/>
          </a:xfrm>
          <a:prstGeom prst="rect">
            <a:avLst/>
          </a:prstGeom>
        </p:spPr>
      </p:pic>
      <p:pic>
        <p:nvPicPr>
          <p:cNvPr id="32" name="Picture 31" descr="decision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9" y="3171825"/>
            <a:ext cx="438149" cy="447675"/>
          </a:xfrm>
          <a:prstGeom prst="rect">
            <a:avLst/>
          </a:prstGeom>
        </p:spPr>
      </p:pic>
      <p:sp>
        <p:nvSpPr>
          <p:cNvPr id="33" name="Down Arrow 32"/>
          <p:cNvSpPr/>
          <p:nvPr/>
        </p:nvSpPr>
        <p:spPr>
          <a:xfrm>
            <a:off x="5981699" y="4829177"/>
            <a:ext cx="180978" cy="276226"/>
          </a:xfrm>
          <a:prstGeom prst="downArrow">
            <a:avLst/>
          </a:prstGeom>
          <a:solidFill>
            <a:srgbClr val="002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34" name="Picture 33" descr="lower_return_rate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099" y="5400675"/>
            <a:ext cx="571499" cy="571500"/>
          </a:xfrm>
          <a:prstGeom prst="rect">
            <a:avLst/>
          </a:prstGeom>
        </p:spPr>
      </p:pic>
      <p:pic>
        <p:nvPicPr>
          <p:cNvPr id="35" name="Picture 34" descr="higher_recovery_margin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4649" y="5410200"/>
            <a:ext cx="600074" cy="561975"/>
          </a:xfrm>
          <a:prstGeom prst="rect">
            <a:avLst/>
          </a:prstGeom>
        </p:spPr>
      </p:pic>
      <p:pic>
        <p:nvPicPr>
          <p:cNvPr id="36" name="Picture 35" descr="faster_time_resale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0124" y="5400675"/>
            <a:ext cx="647699" cy="571500"/>
          </a:xfrm>
          <a:prstGeom prst="rect">
            <a:avLst/>
          </a:prstGeom>
        </p:spPr>
      </p:pic>
      <p:pic>
        <p:nvPicPr>
          <p:cNvPr id="37" name="Picture 36" descr="reduced_fraud_loss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6549" y="5391150"/>
            <a:ext cx="552449" cy="590550"/>
          </a:xfrm>
          <a:prstGeom prst="rect">
            <a:avLst/>
          </a:prstGeom>
        </p:spPr>
      </p:pic>
      <p:pic>
        <p:nvPicPr>
          <p:cNvPr id="38" name="Picture 37" descr="better_customer_experience_ic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6299" y="5391150"/>
            <a:ext cx="619124" cy="571500"/>
          </a:xfrm>
          <a:prstGeom prst="rect">
            <a:avLst/>
          </a:prstGeom>
        </p:spPr>
      </p:pic>
      <p:pic>
        <p:nvPicPr>
          <p:cNvPr id="39" name="Picture 38" descr="sustainability_impact_ic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0349" y="5400675"/>
            <a:ext cx="552449" cy="5810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28755" y="171450"/>
            <a:ext cx="9334499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4. IT ARCHITECTURE FOR RETURNS PROFITABILITY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8999" y="742947"/>
            <a:ext cx="53339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An integrated ecosystem powered by data and AI.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277" y="1762121"/>
            <a:ext cx="1924043" cy="219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799" y="1762121"/>
            <a:ext cx="1866899" cy="219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0177" y="1762121"/>
            <a:ext cx="1752599" cy="219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Products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4721" y="1762121"/>
            <a:ext cx="1724021" cy="219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Sellers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0699" y="1762121"/>
            <a:ext cx="2066921" cy="2190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Logistics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8999" y="2447921"/>
            <a:ext cx="5333999" cy="29527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Return Data Platform &amp;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7343" y="3305171"/>
            <a:ext cx="2095499" cy="2762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AI-Powered Insights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021" y="3676649"/>
            <a:ext cx="2666999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Return reason classification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021" y="3952875"/>
            <a:ext cx="2666999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Risk scoring &amp; fraud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021" y="4229102"/>
            <a:ext cx="2666999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Demand &amp; resale prediction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2021" y="4505321"/>
            <a:ext cx="2666999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Repair cost estimation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6377" y="3305171"/>
            <a:ext cx="2095499" cy="2762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Operational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7243" y="3676649"/>
            <a:ext cx="26860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RMS, OMS, WMS, TMS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43" y="3952875"/>
            <a:ext cx="26860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PIM, DAM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43" y="4229102"/>
            <a:ext cx="26860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Repair Management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7243" y="4505321"/>
            <a:ext cx="26860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Inventory &amp; Pricing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96355" y="3305171"/>
            <a:ext cx="2381243" cy="2762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Decision &amp; Automation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3899" y="3676649"/>
            <a:ext cx="29908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Disposition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3899" y="3952875"/>
            <a:ext cx="29908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Dynamic pricing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3899" y="4229102"/>
            <a:ext cx="29908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Workflow automation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43899" y="4505321"/>
            <a:ext cx="2990843" cy="228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•   Policy engine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6877" y="5219699"/>
            <a:ext cx="12382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Outcomes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888" y="6229347"/>
            <a:ext cx="904877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Lower
Return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1277" y="6038853"/>
            <a:ext cx="1238243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Higher Recovery
Margin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766" y="6038853"/>
            <a:ext cx="1190621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Faster Time
to Resale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7932" y="6038853"/>
            <a:ext cx="1190621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Reduced Fraud
Loss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0532" y="6038853"/>
            <a:ext cx="1381121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Better Customer
Experience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72688" y="6038853"/>
            <a:ext cx="1285877" cy="38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30" b="1" i="0" u="none" strike="noStrike" kern="1200" cap="none" spc="0" normalizeH="0" baseline="0" noProof="0">
                <a:ln>
                  <a:noFill/>
                </a:ln>
                <a:solidFill>
                  <a:srgbClr val="05245C"/>
                </a:solidFill>
                <a:effectLst/>
                <a:uLnTx/>
                <a:uFillTx/>
                <a:latin typeface="Arial Narrow"/>
                <a:ea typeface="Arial Narrow"/>
                <a:cs typeface="Arial Narrow"/>
              </a:rPr>
              <a:t>Sustainability
Impact</a:t>
            </a:r>
          </a:p>
        </p:txBody>
      </p:sp>
    </p:spTree>
    <p:extLst>
      <p:ext uri="{BB962C8B-B14F-4D97-AF65-F5344CB8AC3E}">
        <p14:creationId xmlns:p14="http://schemas.microsoft.com/office/powerpoint/2010/main" val="14619473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2432</Words>
  <Application>Microsoft Office PowerPoint</Application>
  <PresentationFormat>ワイド画面</PresentationFormat>
  <Paragraphs>361</Paragraphs>
  <Slides>9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8" baseType="lpstr">
      <vt:lpstr>游ゴシック</vt:lpstr>
      <vt:lpstr>Aptos</vt:lpstr>
      <vt:lpstr>Arial</vt:lpstr>
      <vt:lpstr>Arial Narrow</vt:lpstr>
      <vt:lpstr>Calibri</vt:lpstr>
      <vt:lpstr>Georgia</vt:lpstr>
      <vt:lpstr>Segoe Sans Text</vt:lpstr>
      <vt:lpstr>Segoe UI</vt:lpstr>
      <vt:lpstr>2_Office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Akihito Hayashi</dc:creator>
  <cp:lastModifiedBy>Akihito Hayashi</cp:lastModifiedBy>
  <cp:revision>1</cp:revision>
  <dcterms:created xsi:type="dcterms:W3CDTF">2026-05-14T15:57:32Z</dcterms:created>
  <dcterms:modified xsi:type="dcterms:W3CDTF">2026-05-14T15:58:03Z</dcterms:modified>
</cp:coreProperties>
</file>