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notesMasterIdLst>
    <p:notesMasterId r:id="rId17"/>
  </p:notesMasterIdLst>
  <p:handoutMasterIdLst>
    <p:handoutMasterId r:id="rId18"/>
  </p:handoutMasterIdLst>
  <p:sldIdLst>
    <p:sldId id="256" r:id="rId14"/>
    <p:sldId id="257" r:id="rId15"/>
    <p:sldId id="258" r:id="rId16"/>
    <p:sldId id="259" r:id="rId13"/>
    <p:sldId id="260" r:id="rId12"/>
    <p:sldId id="261" r:id="rId11"/>
    <p:sldId id="262" r:id="rId10"/>
    <p:sldId id="263" r:id="rId9"/>
    <p:sldId id="264" r:id="rId8"/>
    <p:sldId id="265" r:id="rId7"/>
    <p:sldId id="266" r:id="rId6"/>
    <p:sldId id="267" r:id="rId25"/>
    <p:sldId id="268" r:id="rId26"/>
    <p:sldId id="269" r:id="rId27"/>
    <p:sldId id="270" r:id="rId28"/>
    <p:sldId id="271" r:id="rId29"/>
    <p:sldId id="272" r:id="rId30"/>
    <p:sldId id="273" r:id="rId31"/>
    <p:sldId id="274" r:id="rId32"/>
    <p:sldId id="275" r:id="rId33"/>
    <p:sldId id="276" r:id="rId34"/>
    <p:sldId id="277" r:id="rId35"/>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61BD13B-2344-4F41-99AC-2DDA9613BFA3}">
          <p14:sldIdLst>
            <p14:sldId id="269"/>
            <p14:sldId id="276"/>
            <p14:sldId id="275"/>
            <p14:sldId id="277"/>
            <p14:sldId id="278"/>
            <p14:sldId id="279"/>
            <p14:sldId id="280"/>
            <p14:sldId id="281"/>
            <p14:sldId id="282"/>
          </p14:sldIdLst>
        </p14:section>
        <p14:section name="Food for thought" id="{7E6BA749-AAEC-4B36-884F-BD0C1EB6CB81}">
          <p14:sldIdLst>
            <p14:sldId id="265"/>
            <p14:sldId id="266"/>
          </p14:sldIdLst>
        </p14:section>
        <p14:section name="Original" id="{0670563B-B2A4-458D-86FB-E9ADC323AAB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FB7706-D677-880B-F9E8-65D27F5D3DE3}" name="Kevin Fleck" initials="KF" userId="S::kfleck@microsoft.com::592a24b6-d598-4a89-99db-55218655c98f" providerId="AD"/>
  <p188:author id="{78D4F1FB-D4A7-101A-E123-4F368CC74BFB}" name="Darryl Schaffer" initials="DS" userId="S::darrylsc@microsoft.com::949d0210-9a49-4bf8-9209-1c37b4bbaf0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5FAF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21C91D-AE03-4903-97DE-02007C0FDA4F}" v="2" dt="2026-05-13T15:45:25.753"/>
    <p1510:client id="{21B993C7-78B2-4B6C-9394-2E32F8AE230A}" v="1" dt="2026-05-13T14:10:56.778"/>
    <p1510:client id="{C0477D6C-43A1-44D4-84F5-8DE82092F0AC}" v="4" dt="2026-05-13T21:24:37.280"/>
    <p1510:client id="{CAA01F5A-3139-4291-BAD7-3EDA3960AF01}" v="1" dt="2026-05-13T14:09:58.063"/>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08" autoAdjust="0"/>
    <p:restoredTop sz="94660"/>
  </p:normalViewPr>
  <p:slideViewPr>
    <p:cSldViewPr snapToGrid="0">
      <p:cViewPr varScale="1">
        <p:scale>
          <a:sx n="93" d="100"/>
          <a:sy n="93" d="100"/>
        </p:scale>
        <p:origin x="68" y="2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6.xml"/><Relationship Id="rId12" Type="http://schemas.openxmlformats.org/officeDocument/2006/relationships/slide" Target="slides/slide5.xml"/><Relationship Id="rId13" Type="http://schemas.openxmlformats.org/officeDocument/2006/relationships/slide" Target="slides/slide4.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 Id="rId24" Type="http://schemas.microsoft.com/office/2018/10/relationships/authors" Target="authors.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73CB56-EB37-77F4-6836-9131A4C0F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C29C11D-FB53-6549-1E55-6D47B4E262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4C2D47-8B52-4FE9-A9A2-1ADA2F43B27D}" type="datetimeFigureOut">
              <a:rPr lang="en-US" smtClean="0"/>
              <a:t>5/13/2026</a:t>
            </a:fld>
            <a:endParaRPr lang="en-US"/>
          </a:p>
        </p:txBody>
      </p:sp>
      <p:sp>
        <p:nvSpPr>
          <p:cNvPr id="4" name="Footer Placeholder 3">
            <a:extLst>
              <a:ext uri="{FF2B5EF4-FFF2-40B4-BE49-F238E27FC236}">
                <a16:creationId xmlns:a16="http://schemas.microsoft.com/office/drawing/2014/main" id="{CA749A9E-E413-75D4-2F2C-2EED83D46C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6DB02A3-7ED6-A0D3-3D4C-BA35CF40738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E6494-6CA0-4E26-91AE-FEB834235D75}" type="slidenum">
              <a:rPr lang="en-US" smtClean="0"/>
              <a:t>‹#›</a:t>
            </a:fld>
            <a:endParaRPr lang="en-US"/>
          </a:p>
        </p:txBody>
      </p:sp>
    </p:spTree>
    <p:extLst>
      <p:ext uri="{BB962C8B-B14F-4D97-AF65-F5344CB8AC3E}">
        <p14:creationId xmlns:p14="http://schemas.microsoft.com/office/powerpoint/2010/main" val="172649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4B5C32-1647-4DB7-8BB3-6DC9D8B8AEA3}"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2F8B0C-73E7-44BF-865F-7E1ECD9679C9}" type="slidenum">
              <a:rPr lang="en-US" smtClean="0"/>
              <a:t>‹#›</a:t>
            </a:fld>
            <a:endParaRPr lang="en-US"/>
          </a:p>
        </p:txBody>
      </p:sp>
    </p:spTree>
    <p:extLst>
      <p:ext uri="{BB962C8B-B14F-4D97-AF65-F5344CB8AC3E}">
        <p14:creationId xmlns:p14="http://schemas.microsoft.com/office/powerpoint/2010/main" val="3610249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brand framing: this is the Retail Team's Solution Architecture for the AI Clothing Fit Assessment Agent, v2.0.0 dated 2026-05-13. Frame the deck as the workshop output for Phase A (research) and Phase B (future-state design) following the workshop guidance deck. Set expectations that every claim is labelled Verified, Hypothesis, or Assumption, and that tradeoffs and personas are explicit. Source: docs/architecture/solution-architecture.md.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first: clothing returns drive 25–40% of online apparel revenue back through the warehouse, and the obvious biometric fixes hit privacy walls. Then present the solution: a multi-tenant .NET 8 service on Azure Container Apps with a three-tier Microsoft-only AI pipeline that purges photos in under 60 seconds and keeps the human in the decision loop. The point of this slide is to set the boundary — what we are building and what we are not (we are not replacing human judgment, we are not building biometrics). Source: solution-architecture.md §1.</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workshop Phase A frame: five lenses we ran the AI Clothing Fit Assessment Agent through. Walk the room left to right — Tech Stack (the Microsoft choices we made and ADRs that back them), Limitations (what hurts: Vision retirement, GPT-4o non-determinism, accuracy ceilings), Patterns (Clean Architecture and multi-tenant from day one — these are decided), Owners (who owns what across Engineering, Platform, Data, Security, and Product), and Personas (a preview of slide 4). Emphasize the discipline: every claim is labeled and cited. Source: research.md, decision-register.md, solution-architecture.md §3.</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personas frame the architecture. The Online Shopper wants a confident size pick in under five seconds without uploading something they will regret. The Digital Transformation Leader is on the hook for measurable return-rate reduction and demands a multi-tenant platform that won't lock the company to a single brand. The Risk / Compliance Officer needs the architecture to survive GDPR Article 30 and EU AI Act scrutiny without exposing biometric liability. The eyebrow line is the workshop discipline: AI augments, humans stay accountable. Source: solution-architecture.md §4 (Stakeholders &amp; Personas).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C4 System Context diagram shows three external actors. Online Shoppers interact only through the Retail Frontend — never directly with the API. All downstream Azure services use managed identity (zero secrets). Source: solution-architecture.md Section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 Architecture ensures testability and modularity. The Core layer has zero external dependencies. Infrastructure implements Core interfaces via dependency inversion. Source: ADR-011, solution-architecture.md Section 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 applies the Design Thinking 'three concepts' framework. Each concept builds on the prior. Concept A is the v1 implementation target. B and C are documented evolution paths, not parallel builds. Source: solution-architecture.md Section 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A is our v1 target. Five service pillars: Container Apps, Cosmos DB with hierarchical partition keys, Blob Storage with 60-second TTL, Azure AI Services, and Service Bus for overflow. Tradeoff: vendor lock-in is accepted for time-to-market. Sources: ADR-001, ADR-007, solution-architecture.md Section 8.1.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B extends into physical retail stores. Key principle: measurements only leave the store, never raw images. The store associate AI copilot recommends — the human decides. This is the strongest privacy posture. Source: solution-architecture.md Section 8.2.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C builds a unified retail intelligence layer. Fit assessment data joins with return transactions and garment catalogs to enable prediction and merchandising intelligence. AI copilot assists the merchandising analyst — the analyst retains accountability. Source: solution-architecture.md Section 8.3.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three-tier pipeline is the core of Concept A. Tier 1 runs in parallel — all services must pass. Tier 2 uses GPT-4o Vision with mandatory height as scale reference. Tier 3 is a planned drop-in replacement via the IAIClient interface. Source: ADR-001, solution-architecture.md Section 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happy-path sequence. Three alternate flows: image rejected at Tier 1 returns 422; low confidence returns 200 with disclaimer and escalation URL; queue overflow returns 202 with poll URL. Source: solution-architecture.md Section 6, OpenAPI contract.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container except tenants partitions by /tenantId for physical isolation. The tenants container uses /id because admin cross-tenant lookup is required. TTL on assessments enables automatic compliance. Audit entries are immutable and append-only. Source: ADR-002, data-model.md.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ACA Ingress is internet-exposed. All data plane services use private endpoints. Managed identity replaces secrets everywhere. Tenant isolation is application-layer (JWT claims), not network-layer. NSG on private subnet denies all egress except Azure service IPs. Source: ADR-004, solution-architecture.md Section 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environment is an isolated Azure subscription with identical Bicep templates. Promotion is unidirectional with manual gates. Production runs across three availability zones. Cosmos continuous backup provides point-in-time restore within 30 days. Source: solution-architecture.md Section 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failure short-circuits the pipeline. SAST, SCA, DAST, and SBOM are mandatory per the security constitution. Container images are signed with Notation — only signed images deploy to production. Canary deployment at 10% with auto-rollback on SLO regression. Source: solution-architecture.md Section 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Tenant has many Garments and ShopperProfiles. One ShopperProfile produces many FitAssessments. Every FitAssessment writes an immutable AuditLog entry. shopperRef is provided by the frontend as an opaque hash — never PII. Source: data-model.md.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concept must translate to executive language. CIO cares about scalability and tech strategy. Business/Ops cares about measurable outcomes. Risk/Compliance cares about regulatory posture. Concept A delivers fastest ROI; B delivers strongest privacy; C delivers strategic data value. Source: solution-architecture.md Section 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IQ Framework maps our architecture to Microsoft AI platform capabilities. Work IQ is the consumer-facing experience. Foundry IQ is the AI pipeline. Fabric IQ is the data platform — initially Cosmos DB, evolving to Microsoft Fabric in Concept C. Source: solution-architecture.md Section 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ADR-001 is the foundational decision — the three-tier pipeline. ADR-008 (mandatory height) addresses H-1. The top risk is GPT-4o accuracy — mitigated by Tier 3 custom model path. Vision deprecation is mitigated by the IAIClient abstraction. Source: decision-register.md, risk-register.md.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explicitly name every hypothesis and its validation method. H-1 is the highest-risk — it determines whether GPT-4o Vision is sufficient for v1 or if we need to accelerate Tier 3. H-3 is the only verified hypothesis. Source: solution-architecture.md Section 11.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workshop close. Each statement names the trigger that would change the decision. The architecture is defensible because every hypothesis is named, every tradeoff is explicit, and every evolution path is documented. Source: solution-architecture.md Section 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prstGeom prst="rect">
            <a:avLst/>
          </a:prstGeom>
          <a:noFill/>
        </p:spPr>
        <p:txBody>
          <a:bodyPr wrap="square" lIns="0" tIns="0" rIns="0" bIns="0" anchor="b" anchorCtr="0">
            <a:spAutoFit/>
          </a:bodyPr>
          <a:lstStyle>
            <a:lvl1pPr algn="l">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prstGeom prst="rect">
            <a:avLst/>
          </a:prstGeo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86217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5D8072-A0CA-4D25-667F-9A9BCD4E97EC}"/>
              </a:ext>
              <a:ext uri="{C183D7F6-B498-43B3-948B-1728B52AA6E4}">
                <adec:decorative xmlns:adec="http://schemas.microsoft.com/office/drawing/2017/decorative" val="1"/>
              </a:ext>
            </a:extLst>
          </p:cNvPr>
          <p:cNvPicPr>
            <a:picLocks noChangeAspect="1"/>
          </p:cNvPicPr>
          <p:nvPr userDrawn="1"/>
        </p:nvPicPr>
        <p:blipFill>
          <a:blip r:embed="rId2">
            <a:duotone>
              <a:schemeClr val="accent2">
                <a:shade val="45000"/>
                <a:satMod val="135000"/>
              </a:schemeClr>
              <a:prstClr val="white"/>
            </a:duotone>
            <a:alphaModFix amt="25000"/>
            <a:extLst>
              <a:ext uri="{BEBA8EAE-BF5A-486C-A8C5-ECC9F3942E4B}">
                <a14:imgProps xmlns:a14="http://schemas.microsoft.com/office/drawing/2010/main">
                  <a14:imgLayer r:embed="rId3">
                    <a14:imgEffect>
                      <a14:artisticChalkSketch/>
                    </a14:imgEffect>
                  </a14:imgLayer>
                </a14:imgProps>
              </a:ext>
            </a:extLst>
          </a:blip>
          <a:srcRect b="15625"/>
          <a:stretch>
            <a:fillRect/>
          </a:stretch>
        </p:blipFill>
        <p:spPr>
          <a:xfrm>
            <a:off x="-1" y="0"/>
            <a:ext cx="12192001" cy="6858000"/>
          </a:xfrm>
          <a:prstGeom prst="rect">
            <a:avLst/>
          </a:prstGeom>
        </p:spPr>
      </p:pic>
      <p:sp>
        <p:nvSpPr>
          <p:cNvPr id="2" name="Title 1"/>
          <p:cNvSpPr>
            <a:spLocks noGrp="1"/>
          </p:cNvSpPr>
          <p:nvPr>
            <p:ph type="title"/>
          </p:nvPr>
        </p:nvSpPr>
        <p:spPr>
          <a:xfrm>
            <a:off x="457199" y="672204"/>
            <a:ext cx="11141565" cy="553998"/>
          </a:xfrm>
          <a:prstGeom prst="rect">
            <a:avLst/>
          </a:prstGeom>
        </p:spPr>
        <p:txBody>
          <a:bodyPr vert="horz" wrap="square" lIns="0" tIns="0" rIns="0" bIns="0" rtlCol="0" anchor="t">
            <a:spAutoFit/>
          </a:bodyPr>
          <a:lstStyle>
            <a:lvl1pPr algn="l">
              <a:defRPr lang="en-US" sz="3600" b="0" cap="none" spc="-50" baseline="0" dirty="0">
                <a:ln w="3175">
                  <a:noFill/>
                </a:ln>
                <a:effectLst/>
                <a:ea typeface="+mn-ea"/>
                <a:cs typeface="Segoe UI" pitchFamily="34" charset="0"/>
              </a:defRPr>
            </a:lvl1pPr>
          </a:lstStyle>
          <a:p>
            <a:pPr lvl="0" algn="l" defTabSz="932742">
              <a:lnSpc>
                <a:spcPct val="100000"/>
              </a:lnSpc>
            </a:pPr>
            <a:r>
              <a:rPr lang="en-US"/>
              <a:t>Click to edit Master title style</a:t>
            </a:r>
          </a:p>
        </p:txBody>
      </p:sp>
      <p:sp>
        <p:nvSpPr>
          <p:cNvPr id="10" name="Rectangle 9">
            <a:extLst>
              <a:ext uri="{FF2B5EF4-FFF2-40B4-BE49-F238E27FC236}">
                <a16:creationId xmlns:a16="http://schemas.microsoft.com/office/drawing/2014/main" id="{EAEC308C-A43C-59E4-53C1-04BA0232E2EB}"/>
              </a:ext>
              <a:ext uri="{C183D7F6-B498-43B3-948B-1728B52AA6E4}">
                <adec:decorative xmlns:adec="http://schemas.microsoft.com/office/drawing/2017/decorative" val="1"/>
              </a:ext>
            </a:extLst>
          </p:cNvPr>
          <p:cNvSpPr/>
          <p:nvPr userDrawn="1"/>
        </p:nvSpPr>
        <p:spPr>
          <a:xfrm>
            <a:off x="0" y="0"/>
            <a:ext cx="164592"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 Placeholder 5">
            <a:extLst>
              <a:ext uri="{FF2B5EF4-FFF2-40B4-BE49-F238E27FC236}">
                <a16:creationId xmlns:a16="http://schemas.microsoft.com/office/drawing/2014/main" id="{855F95E2-6278-840F-EAEA-A9ED2D12D8C9}"/>
              </a:ext>
            </a:extLst>
          </p:cNvPr>
          <p:cNvSpPr>
            <a:spLocks noGrp="1"/>
          </p:cNvSpPr>
          <p:nvPr>
            <p:ph type="body" sz="quarter" idx="13"/>
          </p:nvPr>
        </p:nvSpPr>
        <p:spPr>
          <a:xfrm>
            <a:off x="457199" y="291903"/>
            <a:ext cx="11141564" cy="365125"/>
          </a:xfrm>
          <a:prstGeom prst="rect">
            <a:avLst/>
          </a:prstGeom>
        </p:spPr>
        <p:txBody>
          <a:bodyPr lIns="0"/>
          <a:lstStyle>
            <a:lvl1pPr algn="l">
              <a:buNone/>
              <a:defRPr sz="1400" b="1" i="0">
                <a:solidFill>
                  <a:srgbClr val="3175D2"/>
                </a:solidFill>
              </a:defRPr>
            </a:lvl1pPr>
          </a:lstStyle>
          <a:p>
            <a:pPr lvl="0"/>
            <a:endParaRPr lang="en-US"/>
          </a:p>
        </p:txBody>
      </p:sp>
      <p:sp>
        <p:nvSpPr>
          <p:cNvPr id="12" name="TextBox 11">
            <a:extLst>
              <a:ext uri="{FF2B5EF4-FFF2-40B4-BE49-F238E27FC236}">
                <a16:creationId xmlns:a16="http://schemas.microsoft.com/office/drawing/2014/main" id="{963E57D3-82F1-3802-8E63-E01E3EC547C2}"/>
              </a:ext>
            </a:extLst>
          </p:cNvPr>
          <p:cNvSpPr txBox="1"/>
          <p:nvPr userDrawn="1"/>
        </p:nvSpPr>
        <p:spPr>
          <a:xfrm>
            <a:off x="365760" y="6537960"/>
            <a:ext cx="4458272" cy="230832"/>
          </a:xfrm>
          <a:prstGeom prst="rect">
            <a:avLst/>
          </a:prstGeom>
          <a:noFill/>
        </p:spPr>
        <p:txBody>
          <a:bodyPr wrap="none">
            <a:spAutoFit/>
          </a:bodyPr>
          <a:lstStyle/>
          <a:p>
            <a:pPr algn="l">
              <a:spcBef>
                <a:spcPts val="0"/>
              </a:spcBef>
              <a:spcAft>
                <a:spcPts val="600"/>
              </a:spcAft>
              <a:defRPr sz="900" b="0" i="1">
                <a:solidFill>
                  <a:srgbClr val="6B6B6B"/>
                </a:solidFill>
                <a:latin typeface="Calibri"/>
              </a:defRPr>
            </a:pPr>
            <a:r>
              <a:rPr lang="en-US"/>
              <a:t>AI-First Architecting Value with AI  |  Technical Architecture Research &amp; Future-State Design</a:t>
            </a:r>
          </a:p>
        </p:txBody>
      </p:sp>
    </p:spTree>
    <p:extLst>
      <p:ext uri="{BB962C8B-B14F-4D97-AF65-F5344CB8AC3E}">
        <p14:creationId xmlns:p14="http://schemas.microsoft.com/office/powerpoint/2010/main" val="17088054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vert="horz" wrap="square" lIns="0" tIns="0" rIns="0" bIns="0" rtlCol="0" anchor="t">
            <a:spAutoFit/>
          </a:bodyPr>
          <a:lstStyle>
            <a:lvl1pPr>
              <a:defRPr lang="en-US" sz="3600" b="0" cap="none" spc="-50" baseline="0" dirty="0">
                <a:ln w="3175">
                  <a:noFill/>
                </a:ln>
                <a:effectLst/>
                <a:ea typeface="+mn-ea"/>
                <a:cs typeface="Segoe UI" pitchFamily="34" charset="0"/>
              </a:defRPr>
            </a:lvl1pPr>
          </a:lstStyle>
          <a:p>
            <a:pPr lvl="0" algn="l" defTabSz="932742">
              <a:lnSpc>
                <a:spcPct val="100000"/>
              </a:lnSpc>
            </a:pPr>
            <a:r>
              <a:rPr lang="en-US"/>
              <a:t>Click to edit Master title style</a:t>
            </a:r>
          </a:p>
        </p:txBody>
      </p:sp>
      <p:sp>
        <p:nvSpPr>
          <p:cNvPr id="3" name="Content Placeholder 2"/>
          <p:cNvSpPr>
            <a:spLocks noGrp="1"/>
          </p:cNvSpPr>
          <p:nvPr>
            <p:ph idx="1"/>
          </p:nvPr>
        </p:nvSpPr>
        <p:spPr>
          <a:xfrm>
            <a:off x="457200" y="1600200"/>
            <a:ext cx="11239756"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5/13/2026</a:t>
            </a:fld>
            <a:endParaRPr lang="en-US"/>
          </a:p>
        </p:txBody>
      </p:sp>
      <p:sp>
        <p:nvSpPr>
          <p:cNvPr id="7" name="Footer Placeholder 5">
            <a:extLst>
              <a:ext uri="{FF2B5EF4-FFF2-40B4-BE49-F238E27FC236}">
                <a16:creationId xmlns:a16="http://schemas.microsoft.com/office/drawing/2014/main" id="{E4C3F4F8-4402-CF7F-453A-5D791400ADC2}"/>
              </a:ext>
            </a:extLst>
          </p:cNvPr>
          <p:cNvSpPr>
            <a:spLocks noGrp="1"/>
          </p:cNvSpPr>
          <p:nvPr>
            <p:ph type="ftr" sz="quarter" idx="11"/>
          </p:nvPr>
        </p:nvSpPr>
        <p:spPr>
          <a:xfrm>
            <a:off x="4648200" y="6356350"/>
            <a:ext cx="2895600" cy="365125"/>
          </a:xfrm>
          <a:prstGeom prst="rect">
            <a:avLst/>
          </a:prstGeom>
        </p:spPr>
        <p:txBody>
          <a:bodyPr/>
          <a:lstStyle>
            <a:lvl1pPr algn="ctr">
              <a:defRPr/>
            </a:lvl1pPr>
          </a:lstStyle>
          <a:p>
            <a:pPr algn="ctr"/>
            <a:endParaRPr lang="en-US"/>
          </a:p>
        </p:txBody>
      </p:sp>
      <p:sp>
        <p:nvSpPr>
          <p:cNvPr id="8" name="Slide Number Placeholder 6">
            <a:extLst>
              <a:ext uri="{FF2B5EF4-FFF2-40B4-BE49-F238E27FC236}">
                <a16:creationId xmlns:a16="http://schemas.microsoft.com/office/drawing/2014/main" id="{7DDEBC48-607B-D42F-7241-33415344D59A}"/>
              </a:ext>
            </a:extLst>
          </p:cNvPr>
          <p:cNvSpPr>
            <a:spLocks noGrp="1"/>
          </p:cNvSpPr>
          <p:nvPr>
            <p:ph type="sldNum" sz="quarter" idx="12"/>
          </p:nvPr>
        </p:nvSpPr>
        <p:spPr>
          <a:xfrm>
            <a:off x="10573900" y="6348721"/>
            <a:ext cx="1420695" cy="365125"/>
          </a:xfrm>
          <a:prstGeom prst="rect">
            <a:avLst/>
          </a:prstGeom>
        </p:spPr>
        <p:txBody>
          <a:bodyPr/>
          <a:lstStyle>
            <a:lvl1pPr algn="r">
              <a:defRPr/>
            </a:lvl1pPr>
          </a:lstStyle>
          <a:p>
            <a:pPr algn="r"/>
            <a:fld id="{C1FF6DA9-008F-8B48-92A6-B652298478BF}" type="slidenum">
              <a:rPr lang="en-US" smtClean="0"/>
              <a:pPr algn="r"/>
              <a:t>‹#›</a:t>
            </a:fld>
            <a:endParaRPr lang="en-US"/>
          </a:p>
        </p:txBody>
      </p:sp>
      <p:sp>
        <p:nvSpPr>
          <p:cNvPr id="10" name="Rectangle 9">
            <a:extLst>
              <a:ext uri="{FF2B5EF4-FFF2-40B4-BE49-F238E27FC236}">
                <a16:creationId xmlns:a16="http://schemas.microsoft.com/office/drawing/2014/main" id="{E670D57D-346B-F858-6872-677AA80CE591}"/>
              </a:ext>
            </a:extLst>
          </p:cNvPr>
          <p:cNvSpPr/>
          <p:nvPr userDrawn="1"/>
        </p:nvSpPr>
        <p:spPr>
          <a:xfrm>
            <a:off x="0" y="0"/>
            <a:ext cx="164592"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20982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vert="horz" wrap="square" lIns="0" tIns="0" rIns="0" bIns="0" rtlCol="0" anchor="t">
            <a:spAutoFit/>
          </a:bodyPr>
          <a:lstStyle>
            <a:lvl1pPr>
              <a:defRPr lang="en-US" sz="3600" b="0" cap="none" spc="-50" baseline="0" dirty="0">
                <a:ln w="3175">
                  <a:noFill/>
                </a:ln>
                <a:effectLst/>
                <a:ea typeface="+mn-ea"/>
                <a:cs typeface="Segoe UI" pitchFamily="34" charset="0"/>
              </a:defRPr>
            </a:lvl1pPr>
          </a:lstStyle>
          <a:p>
            <a:pPr lvl="0" algn="l" defTabSz="932742">
              <a:lnSpc>
                <a:spcPct val="100000"/>
              </a:lnSpc>
            </a:pPr>
            <a:r>
              <a:rPr lang="en-US"/>
              <a:t>Click to edit Master title style</a:t>
            </a:r>
          </a:p>
        </p:txBody>
      </p:sp>
      <p:sp>
        <p:nvSpPr>
          <p:cNvPr id="3" name="Content Placeholder 2"/>
          <p:cNvSpPr>
            <a:spLocks noGrp="1"/>
          </p:cNvSpPr>
          <p:nvPr>
            <p:ph idx="1"/>
          </p:nvPr>
        </p:nvSpPr>
        <p:spPr>
          <a:xfrm>
            <a:off x="457200" y="1600200"/>
            <a:ext cx="11319536"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5/13/2026</a:t>
            </a:fld>
            <a:endParaRPr lang="en-US"/>
          </a:p>
        </p:txBody>
      </p:sp>
      <p:sp>
        <p:nvSpPr>
          <p:cNvPr id="7" name="Footer Placeholder 5">
            <a:extLst>
              <a:ext uri="{FF2B5EF4-FFF2-40B4-BE49-F238E27FC236}">
                <a16:creationId xmlns:a16="http://schemas.microsoft.com/office/drawing/2014/main" id="{8DAE3174-F8CC-E826-BCB8-60B5A9B28626}"/>
              </a:ext>
            </a:extLst>
          </p:cNvPr>
          <p:cNvSpPr>
            <a:spLocks noGrp="1"/>
          </p:cNvSpPr>
          <p:nvPr>
            <p:ph type="ftr" sz="quarter" idx="11"/>
          </p:nvPr>
        </p:nvSpPr>
        <p:spPr>
          <a:xfrm>
            <a:off x="4648200" y="6356350"/>
            <a:ext cx="2895600" cy="365125"/>
          </a:xfrm>
          <a:prstGeom prst="rect">
            <a:avLst/>
          </a:prstGeom>
        </p:spPr>
        <p:txBody>
          <a:bodyPr/>
          <a:lstStyle>
            <a:lvl1pPr algn="ctr">
              <a:defRPr/>
            </a:lvl1pPr>
          </a:lstStyle>
          <a:p>
            <a:pPr algn="ctr"/>
            <a:endParaRPr lang="en-US"/>
          </a:p>
        </p:txBody>
      </p:sp>
      <p:sp>
        <p:nvSpPr>
          <p:cNvPr id="8" name="Slide Number Placeholder 6">
            <a:extLst>
              <a:ext uri="{FF2B5EF4-FFF2-40B4-BE49-F238E27FC236}">
                <a16:creationId xmlns:a16="http://schemas.microsoft.com/office/drawing/2014/main" id="{5CCB410E-B977-86A8-D057-373BA578028C}"/>
              </a:ext>
            </a:extLst>
          </p:cNvPr>
          <p:cNvSpPr>
            <a:spLocks noGrp="1"/>
          </p:cNvSpPr>
          <p:nvPr>
            <p:ph type="sldNum" sz="quarter" idx="12"/>
          </p:nvPr>
        </p:nvSpPr>
        <p:spPr>
          <a:xfrm>
            <a:off x="10573900" y="6348721"/>
            <a:ext cx="1420695" cy="365125"/>
          </a:xfrm>
          <a:prstGeom prst="rect">
            <a:avLst/>
          </a:prstGeom>
        </p:spPr>
        <p:txBody>
          <a:bodyPr/>
          <a:lstStyle>
            <a:lvl1pPr algn="r">
              <a:defRPr/>
            </a:lvl1pPr>
          </a:lstStyle>
          <a:p>
            <a:pPr algn="r"/>
            <a:fld id="{C1FF6DA9-008F-8B48-92A6-B652298478BF}" type="slidenum">
              <a:rPr lang="en-US" smtClean="0"/>
              <a:pPr algn="r"/>
              <a:t>‹#›</a:t>
            </a:fld>
            <a:endParaRPr lang="en-US"/>
          </a:p>
        </p:txBody>
      </p:sp>
      <p:sp>
        <p:nvSpPr>
          <p:cNvPr id="10" name="Rectangle 9">
            <a:extLst>
              <a:ext uri="{FF2B5EF4-FFF2-40B4-BE49-F238E27FC236}">
                <a16:creationId xmlns:a16="http://schemas.microsoft.com/office/drawing/2014/main" id="{5C0804A2-2884-0625-86F6-605CEA464243}"/>
              </a:ext>
            </a:extLst>
          </p:cNvPr>
          <p:cNvSpPr/>
          <p:nvPr userDrawn="1"/>
        </p:nvSpPr>
        <p:spPr>
          <a:xfrm>
            <a:off x="0" y="0"/>
            <a:ext cx="164592"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831195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5/13/2026</a:t>
            </a:fld>
            <a:endParaRPr lang="en-US"/>
          </a:p>
        </p:txBody>
      </p:sp>
      <p:sp>
        <p:nvSpPr>
          <p:cNvPr id="5" name="Footer Placeholder 5">
            <a:extLst>
              <a:ext uri="{FF2B5EF4-FFF2-40B4-BE49-F238E27FC236}">
                <a16:creationId xmlns:a16="http://schemas.microsoft.com/office/drawing/2014/main" id="{26F9B73C-310F-FBBC-B1C5-EE1B1E2C8618}"/>
              </a:ext>
            </a:extLst>
          </p:cNvPr>
          <p:cNvSpPr>
            <a:spLocks noGrp="1"/>
          </p:cNvSpPr>
          <p:nvPr>
            <p:ph type="ftr" sz="quarter" idx="11"/>
          </p:nvPr>
        </p:nvSpPr>
        <p:spPr>
          <a:xfrm>
            <a:off x="4648200" y="6356350"/>
            <a:ext cx="2895600" cy="365125"/>
          </a:xfrm>
          <a:prstGeom prst="rect">
            <a:avLst/>
          </a:prstGeom>
        </p:spPr>
        <p:txBody>
          <a:bodyPr/>
          <a:lstStyle>
            <a:lvl1pPr algn="ctr">
              <a:defRPr/>
            </a:lvl1pPr>
          </a:lstStyle>
          <a:p>
            <a:pPr algn="ctr"/>
            <a:endParaRPr lang="en-US"/>
          </a:p>
        </p:txBody>
      </p:sp>
      <p:sp>
        <p:nvSpPr>
          <p:cNvPr id="6" name="Slide Number Placeholder 6">
            <a:extLst>
              <a:ext uri="{FF2B5EF4-FFF2-40B4-BE49-F238E27FC236}">
                <a16:creationId xmlns:a16="http://schemas.microsoft.com/office/drawing/2014/main" id="{0B6206A7-CB8F-639C-EA9C-3F263D65AA59}"/>
              </a:ext>
            </a:extLst>
          </p:cNvPr>
          <p:cNvSpPr>
            <a:spLocks noGrp="1"/>
          </p:cNvSpPr>
          <p:nvPr>
            <p:ph type="sldNum" sz="quarter" idx="12"/>
          </p:nvPr>
        </p:nvSpPr>
        <p:spPr>
          <a:xfrm>
            <a:off x="10573900" y="6348721"/>
            <a:ext cx="1420695" cy="365125"/>
          </a:xfrm>
          <a:prstGeom prst="rect">
            <a:avLst/>
          </a:prstGeom>
        </p:spPr>
        <p:txBody>
          <a:bodyPr/>
          <a:lstStyle>
            <a:lvl1pPr algn="r">
              <a:defRPr/>
            </a:lvl1pPr>
          </a:lstStyle>
          <a:p>
            <a:pPr algn="r"/>
            <a:fld id="{C1FF6DA9-008F-8B48-92A6-B652298478BF}" type="slidenum">
              <a:rPr lang="en-US" smtClean="0"/>
              <a:pPr algn="r"/>
              <a:t>‹#›</a:t>
            </a:fld>
            <a:endParaRPr lang="en-US"/>
          </a:p>
        </p:txBody>
      </p:sp>
      <p:sp>
        <p:nvSpPr>
          <p:cNvPr id="8" name="Rectangle 7">
            <a:extLst>
              <a:ext uri="{FF2B5EF4-FFF2-40B4-BE49-F238E27FC236}">
                <a16:creationId xmlns:a16="http://schemas.microsoft.com/office/drawing/2014/main" id="{57A63FEE-F13E-E890-68A6-1C8EB5D30E87}"/>
              </a:ext>
              <a:ext uri="{C183D7F6-B498-43B3-948B-1728B52AA6E4}">
                <adec:decorative xmlns:adec="http://schemas.microsoft.com/office/drawing/2017/decorative" val="1"/>
              </a:ext>
            </a:extLst>
          </p:cNvPr>
          <p:cNvSpPr/>
          <p:nvPr userDrawn="1"/>
        </p:nvSpPr>
        <p:spPr>
          <a:xfrm>
            <a:off x="0" y="0"/>
            <a:ext cx="164592"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1234251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A picture containing screenshot, colorfulness&#10;&#10;Description automatically generated">
            <a:extLst>
              <a:ext uri="{FF2B5EF4-FFF2-40B4-BE49-F238E27FC236}">
                <a16:creationId xmlns:a16="http://schemas.microsoft.com/office/drawing/2014/main" id="{FBE4EE1B-40D7-D076-6049-390D913335E3}"/>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12353532" y="0"/>
            <a:ext cx="1040075" cy="6858000"/>
          </a:xfrm>
          <a:prstGeom prst="rect">
            <a:avLst/>
          </a:prstGeom>
        </p:spPr>
      </p:pic>
    </p:spTree>
    <p:extLst>
      <p:ext uri="{BB962C8B-B14F-4D97-AF65-F5344CB8AC3E}">
        <p14:creationId xmlns:p14="http://schemas.microsoft.com/office/powerpoint/2010/main" val="22607141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ver Background"/>
          <p:cNvSpPr/>
          <p:nvPr/>
        </p:nvSpPr>
        <p:spPr>
          <a:xfrm>
            <a:off x="0" y="0"/>
            <a:ext cx="12191695" cy="68580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Brand Rail"/>
          <p:cNvSpPr/>
          <p:nvPr/>
        </p:nvSpPr>
        <p:spPr>
          <a:xfrm>
            <a:off x="0" y="0"/>
            <a:ext cx="164592" cy="6858000"/>
          </a:xfrm>
          <a:prstGeom prst="rect">
            <a:avLst/>
          </a:prstGeom>
          <a:solidFill>
            <a:srgbClr val="4F81B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Eyebrow"/>
          <p:cNvSpPr txBox="1"/>
          <p:nvPr/>
        </p:nvSpPr>
        <p:spPr>
          <a:xfrm>
            <a:off x="640080" y="1097280"/>
            <a:ext cx="5486400" cy="292608"/>
          </a:xfrm>
          <a:prstGeom prst="rect">
            <a:avLst/>
          </a:prstGeom>
          <a:noFill/>
        </p:spPr>
        <p:txBody>
          <a:bodyPr wrap="square">
            <a:spAutoFit/>
          </a:bodyPr>
          <a:lstStyle/>
          <a:p>
            <a:pPr algn="l"/>
            <a:r>
              <a:rPr sz="1300" b="1" i="0">
                <a:solidFill>
                  <a:srgbClr val="95C7E7"/>
                </a:solidFill>
                <a:latin typeface="Segoe Sans Display"/>
              </a:rPr>
              <a:t>SOLUTION ARCHITECTURE  •  RETAIL TEAM</a:t>
            </a:r>
          </a:p>
        </p:txBody>
      </p:sp>
      <p:sp>
        <p:nvSpPr>
          <p:cNvPr id="5" name="Brand Title"/>
          <p:cNvSpPr txBox="1"/>
          <p:nvPr/>
        </p:nvSpPr>
        <p:spPr>
          <a:xfrm>
            <a:off x="640080" y="1783080"/>
            <a:ext cx="10972800" cy="1280160"/>
          </a:xfrm>
          <a:prstGeom prst="rect">
            <a:avLst/>
          </a:prstGeom>
          <a:noFill/>
        </p:spPr>
        <p:txBody>
          <a:bodyPr wrap="square">
            <a:spAutoFit/>
          </a:bodyPr>
          <a:lstStyle/>
          <a:p>
            <a:pPr algn="l"/>
            <a:r>
              <a:rPr sz="5000" b="1" i="0">
                <a:solidFill>
                  <a:srgbClr val="FFFFFF"/>
                </a:solidFill>
                <a:latin typeface="Segoe Sans Display"/>
              </a:rPr>
              <a:t>AI Clothing Fit Assessment Agent</a:t>
            </a:r>
          </a:p>
        </p:txBody>
      </p:sp>
      <p:sp>
        <p:nvSpPr>
          <p:cNvPr id="6" name="Subtitle"/>
          <p:cNvSpPr txBox="1"/>
          <p:nvPr/>
        </p:nvSpPr>
        <p:spPr>
          <a:xfrm>
            <a:off x="640080" y="3063240"/>
            <a:ext cx="10972800" cy="640080"/>
          </a:xfrm>
          <a:prstGeom prst="rect">
            <a:avLst/>
          </a:prstGeom>
          <a:noFill/>
        </p:spPr>
        <p:txBody>
          <a:bodyPr wrap="square">
            <a:spAutoFit/>
          </a:bodyPr>
          <a:lstStyle/>
          <a:p>
            <a:pPr algn="l"/>
            <a:r>
              <a:rPr sz="3200" b="1" i="0">
                <a:solidFill>
                  <a:srgbClr val="8DC8E8"/>
                </a:solidFill>
                <a:latin typeface="Segoe Sans Display"/>
              </a:rPr>
              <a:t>Phase A Research + Phase B Future-State Design</a:t>
            </a:r>
          </a:p>
        </p:txBody>
      </p:sp>
      <p:sp>
        <p:nvSpPr>
          <p:cNvPr id="7" name="Tagline"/>
          <p:cNvSpPr txBox="1"/>
          <p:nvPr/>
        </p:nvSpPr>
        <p:spPr>
          <a:xfrm>
            <a:off x="640080" y="4754880"/>
            <a:ext cx="10515600" cy="365760"/>
          </a:xfrm>
          <a:prstGeom prst="rect">
            <a:avLst/>
          </a:prstGeom>
          <a:noFill/>
        </p:spPr>
        <p:txBody>
          <a:bodyPr wrap="square">
            <a:spAutoFit/>
          </a:bodyPr>
          <a:lstStyle/>
          <a:p>
            <a:pPr algn="l"/>
            <a:r>
              <a:rPr sz="1800" b="0" i="1">
                <a:solidFill>
                  <a:srgbClr val="FFFFFF"/>
                </a:solidFill>
                <a:latin typeface="Segoe Sans Display"/>
              </a:rPr>
              <a:t>Microsoft AI stack, multi-tenant from day one, humans accountable for every decision.</a:t>
            </a:r>
          </a:p>
        </p:txBody>
      </p:sp>
      <p:sp>
        <p:nvSpPr>
          <p:cNvPr id="8" name="Footer"/>
          <p:cNvSpPr txBox="1"/>
          <p:nvPr/>
        </p:nvSpPr>
        <p:spPr>
          <a:xfrm>
            <a:off x="640080" y="6537960"/>
            <a:ext cx="8229600" cy="230428"/>
          </a:xfrm>
          <a:prstGeom prst="rect">
            <a:avLst/>
          </a:prstGeom>
          <a:noFill/>
        </p:spPr>
        <p:txBody>
          <a:bodyPr wrap="square">
            <a:spAutoFit/>
          </a:bodyPr>
          <a:lstStyle/>
          <a:p>
            <a:pPr algn="l"/>
            <a:r>
              <a:rPr sz="1000" b="0" i="1">
                <a:solidFill>
                  <a:srgbClr val="6B6B6B"/>
                </a:solidFill>
                <a:latin typeface="Segoe Sans Display"/>
              </a:rPr>
              <a:t>Solution Architecture v2.0.0  ·  2026-05-13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Executive Summary</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What it is — and what it is not</a:t>
            </a:r>
          </a:p>
        </p:txBody>
      </p:sp>
      <p:sp>
        <p:nvSpPr>
          <p:cNvPr id="4" name="Problem Header"/>
          <p:cNvSpPr/>
          <p:nvPr/>
        </p:nvSpPr>
        <p:spPr>
          <a:xfrm>
            <a:off x="457200" y="2104034"/>
            <a:ext cx="5562295" cy="59436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2000" b="1" i="0">
                <a:solidFill>
                  <a:srgbClr val="FFFFFF"/>
                </a:solidFill>
                <a:latin typeface="Segoe Sans Display"/>
              </a:rPr>
              <a:t>The Problem</a:t>
            </a:r>
          </a:p>
        </p:txBody>
      </p:sp>
      <p:sp>
        <p:nvSpPr>
          <p:cNvPr id="5" name="Solution Header"/>
          <p:cNvSpPr/>
          <p:nvPr/>
        </p:nvSpPr>
        <p:spPr>
          <a:xfrm>
            <a:off x="6339535" y="2104034"/>
            <a:ext cx="5562295"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2000" b="1" i="0">
                <a:solidFill>
                  <a:srgbClr val="FFFFFF"/>
                </a:solidFill>
                <a:latin typeface="Segoe Sans Display"/>
              </a:rPr>
              <a:t>The Solution</a:t>
            </a:r>
          </a:p>
        </p:txBody>
      </p:sp>
      <p:sp>
        <p:nvSpPr>
          <p:cNvPr id="6" name="Problem Body"/>
          <p:cNvSpPr/>
          <p:nvPr/>
        </p:nvSpPr>
        <p:spPr>
          <a:xfrm>
            <a:off x="457200" y="2698394"/>
            <a:ext cx="5562295"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Solution Body"/>
          <p:cNvSpPr/>
          <p:nvPr/>
        </p:nvSpPr>
        <p:spPr>
          <a:xfrm>
            <a:off x="6339535" y="2698394"/>
            <a:ext cx="5562295"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docs/architecture/solution-architecture.md §1 (Executive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Phase A · Five Research Lenses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Treat outputs as hypotheses. Separate likely from confirmed. Cite sources where possible.</a:t>
            </a:r>
          </a:p>
        </p:txBody>
      </p:sp>
      <p:sp>
        <p:nvSpPr>
          <p:cNvPr id="4" name="Lens 1 Card"/>
          <p:cNvSpPr/>
          <p:nvPr/>
        </p:nvSpPr>
        <p:spPr>
          <a:xfrm>
            <a:off x="457200" y="1884578"/>
            <a:ext cx="2202789" cy="2563063"/>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Lens 1 Oval"/>
          <p:cNvSpPr/>
          <p:nvPr/>
        </p:nvSpPr>
        <p:spPr>
          <a:xfrm>
            <a:off x="690372" y="2019909"/>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200" b="1" i="0">
                <a:solidFill>
                  <a:srgbClr val="FFFFFF"/>
                </a:solidFill>
                <a:latin typeface="Segoe Sans Display"/>
              </a:rPr>
              <a:t>1</a:t>
            </a:r>
          </a:p>
        </p:txBody>
      </p:sp>
      <p:sp>
        <p:nvSpPr>
          <p:cNvPr id="6" name="Lens 2 Card"/>
          <p:cNvSpPr/>
          <p:nvPr/>
        </p:nvSpPr>
        <p:spPr>
          <a:xfrm>
            <a:off x="2764231" y="1884578"/>
            <a:ext cx="2202789" cy="2563063"/>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Lens 2 Oval"/>
          <p:cNvSpPr/>
          <p:nvPr/>
        </p:nvSpPr>
        <p:spPr>
          <a:xfrm>
            <a:off x="2996488" y="2019909"/>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200" b="1" i="0">
                <a:solidFill>
                  <a:srgbClr val="FFFFFF"/>
                </a:solidFill>
                <a:latin typeface="Segoe Sans Display"/>
              </a:rPr>
              <a:t>2</a:t>
            </a:r>
          </a:p>
        </p:txBody>
      </p:sp>
      <p:sp>
        <p:nvSpPr>
          <p:cNvPr id="8" name="Lens 3 Card"/>
          <p:cNvSpPr/>
          <p:nvPr/>
        </p:nvSpPr>
        <p:spPr>
          <a:xfrm>
            <a:off x="5070348" y="1884578"/>
            <a:ext cx="2202789" cy="2563063"/>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Lens 3 Oval"/>
          <p:cNvSpPr/>
          <p:nvPr/>
        </p:nvSpPr>
        <p:spPr>
          <a:xfrm>
            <a:off x="5303520" y="2019909"/>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200" b="1" i="0">
                <a:solidFill>
                  <a:srgbClr val="FFFFFF"/>
                </a:solidFill>
                <a:latin typeface="Segoe Sans Display"/>
              </a:rPr>
              <a:t>3</a:t>
            </a:r>
          </a:p>
        </p:txBody>
      </p:sp>
      <p:sp>
        <p:nvSpPr>
          <p:cNvPr id="10" name="Lens 4 Card"/>
          <p:cNvSpPr/>
          <p:nvPr/>
        </p:nvSpPr>
        <p:spPr>
          <a:xfrm>
            <a:off x="7377379" y="1884578"/>
            <a:ext cx="2202789" cy="2563063"/>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Lens 4 Oval"/>
          <p:cNvSpPr/>
          <p:nvPr/>
        </p:nvSpPr>
        <p:spPr>
          <a:xfrm>
            <a:off x="7610551" y="2019909"/>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200" b="1" i="0">
                <a:solidFill>
                  <a:srgbClr val="FFFFFF"/>
                </a:solidFill>
                <a:latin typeface="Segoe Sans Display"/>
              </a:rPr>
              <a:t>4</a:t>
            </a:r>
          </a:p>
        </p:txBody>
      </p:sp>
      <p:sp>
        <p:nvSpPr>
          <p:cNvPr id="12" name="Lens 5 Card"/>
          <p:cNvSpPr/>
          <p:nvPr/>
        </p:nvSpPr>
        <p:spPr>
          <a:xfrm>
            <a:off x="9684410" y="1884578"/>
            <a:ext cx="2202789" cy="2563063"/>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Lens 5 Oval"/>
          <p:cNvSpPr/>
          <p:nvPr/>
        </p:nvSpPr>
        <p:spPr>
          <a:xfrm>
            <a:off x="9916668" y="2019909"/>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200" b="1" i="0">
                <a:solidFill>
                  <a:srgbClr val="FFFFFF"/>
                </a:solidFill>
                <a:latin typeface="Segoe Sans Display"/>
              </a:rPr>
              <a:t>5</a:t>
            </a:r>
          </a:p>
        </p:txBody>
      </p:sp>
      <p:sp>
        <p:nvSpPr>
          <p:cNvPr id="14" name="Eyebrow Footer"/>
          <p:cNvSpPr txBox="1"/>
          <p:nvPr/>
        </p:nvSpPr>
        <p:spPr>
          <a:xfrm>
            <a:off x="457200" y="4742078"/>
            <a:ext cx="11430000" cy="308152"/>
          </a:xfrm>
          <a:prstGeom prst="rect">
            <a:avLst/>
          </a:prstGeom>
          <a:noFill/>
        </p:spPr>
        <p:txBody>
          <a:bodyPr wrap="square">
            <a:spAutoFit/>
          </a:bodyPr>
          <a:lstStyle/>
          <a:p>
            <a:pPr algn="ctr"/>
            <a:r>
              <a:rPr sz="1300" b="0" i="1">
                <a:solidFill>
                  <a:srgbClr val="1F1F1F"/>
                </a:solidFill>
                <a:latin typeface="Segoe Sans Display"/>
              </a:rPr>
              <a:t>Five lenses, one synthesis — every claim is Verified, a Hypothesis, or an Assumption, with the source cited.</a:t>
            </a:r>
          </a:p>
        </p:txBody>
      </p:sp>
      <p:sp>
        <p:nvSpPr>
          <p:cNvPr id="15"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research.md (R1–R7) · decision-register.md (ADR-001/007/011) · solution-architecture.md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Retail Industry Personas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Three personas the architecture must serve.</a:t>
            </a:r>
          </a:p>
        </p:txBody>
      </p:sp>
      <p:sp>
        <p:nvSpPr>
          <p:cNvPr id="4" name="Persona 1 Header"/>
          <p:cNvSpPr/>
          <p:nvPr/>
        </p:nvSpPr>
        <p:spPr>
          <a:xfrm>
            <a:off x="457200" y="2104034"/>
            <a:ext cx="3713378"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800" b="1" i="0">
                <a:solidFill>
                  <a:srgbClr val="FFFFFF"/>
                </a:solidFill>
                <a:latin typeface="Segoe Sans Display"/>
              </a:rPr>
              <a:t>Online Shopper</a:t>
            </a:r>
          </a:p>
        </p:txBody>
      </p:sp>
      <p:sp>
        <p:nvSpPr>
          <p:cNvPr id="5" name="Persona 2 Header"/>
          <p:cNvSpPr/>
          <p:nvPr/>
        </p:nvSpPr>
        <p:spPr>
          <a:xfrm>
            <a:off x="4351629" y="2104034"/>
            <a:ext cx="3713378"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800" b="1" i="0">
                <a:solidFill>
                  <a:srgbClr val="FFFFFF"/>
                </a:solidFill>
                <a:latin typeface="Segoe Sans Display"/>
              </a:rPr>
              <a:t>Digital Transformation Leader</a:t>
            </a:r>
          </a:p>
        </p:txBody>
      </p:sp>
      <p:sp>
        <p:nvSpPr>
          <p:cNvPr id="6" name="Persona 3 Header"/>
          <p:cNvSpPr/>
          <p:nvPr/>
        </p:nvSpPr>
        <p:spPr>
          <a:xfrm>
            <a:off x="8246059" y="2104034"/>
            <a:ext cx="3713378"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800" b="1" i="0">
                <a:solidFill>
                  <a:srgbClr val="FFFFFF"/>
                </a:solidFill>
                <a:latin typeface="Segoe Sans Display"/>
              </a:rPr>
              <a:t>Risk / Compliance Officer</a:t>
            </a:r>
          </a:p>
        </p:txBody>
      </p:sp>
      <p:sp>
        <p:nvSpPr>
          <p:cNvPr id="7" name="Persona 1 Body"/>
          <p:cNvSpPr/>
          <p:nvPr/>
        </p:nvSpPr>
        <p:spPr>
          <a:xfrm>
            <a:off x="457200" y="2698394"/>
            <a:ext cx="3713378"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Persona 2 Body"/>
          <p:cNvSpPr/>
          <p:nvPr/>
        </p:nvSpPr>
        <p:spPr>
          <a:xfrm>
            <a:off x="4351629" y="2698394"/>
            <a:ext cx="3713378"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rsona 3 Body"/>
          <p:cNvSpPr/>
          <p:nvPr/>
        </p:nvSpPr>
        <p:spPr>
          <a:xfrm>
            <a:off x="8246059" y="2698394"/>
            <a:ext cx="3713378"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Eyebrow Footer"/>
          <p:cNvSpPr txBox="1"/>
          <p:nvPr/>
        </p:nvSpPr>
        <p:spPr>
          <a:xfrm>
            <a:off x="457200" y="6080760"/>
            <a:ext cx="11430000" cy="308152"/>
          </a:xfrm>
          <a:prstGeom prst="rect">
            <a:avLst/>
          </a:prstGeom>
          <a:noFill/>
        </p:spPr>
        <p:txBody>
          <a:bodyPr wrap="square">
            <a:spAutoFit/>
          </a:bodyPr>
          <a:lstStyle/>
          <a:p>
            <a:pPr algn="ctr"/>
            <a:r>
              <a:rPr sz="1300" b="1" i="1">
                <a:solidFill>
                  <a:srgbClr val="B7410E"/>
                </a:solidFill>
                <a:latin typeface="Segoe Sans Display"/>
              </a:rPr>
              <a:t>AI augments shoppers and associates. Humans retain accountability for every purchase, recommendation, and policy decision.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System Context</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External actors and the FitAssess API boundary.</a:t>
            </a:r>
          </a:p>
        </p:txBody>
      </p:sp>
      <p:sp>
        <p:nvSpPr>
          <p:cNvPr id="4" name="Actor Online Shopper"/>
          <p:cNvSpPr/>
          <p:nvPr/>
        </p:nvSpPr>
        <p:spPr>
          <a:xfrm>
            <a:off x="457200" y="1920240"/>
            <a:ext cx="3200400"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Actor Retail Frontend"/>
          <p:cNvSpPr/>
          <p:nvPr/>
        </p:nvSpPr>
        <p:spPr>
          <a:xfrm>
            <a:off x="4496104" y="1920240"/>
            <a:ext cx="3200400"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Actor Operations Team"/>
          <p:cNvSpPr/>
          <p:nvPr/>
        </p:nvSpPr>
        <p:spPr>
          <a:xfrm>
            <a:off x="8534095" y="1920240"/>
            <a:ext cx="3200400"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97280" y="2880360"/>
            <a:ext cx="1463040" cy="274320"/>
          </a:xfrm>
          <a:prstGeom prst="rect">
            <a:avLst/>
          </a:prstGeom>
          <a:noFill/>
        </p:spPr>
        <p:txBody>
          <a:bodyPr wrap="square">
            <a:spAutoFit/>
          </a:bodyPr>
          <a:lstStyle/>
          <a:p>
            <a:pPr algn="ctr"/>
            <a:r>
              <a:rPr sz="1000" b="0" i="1">
                <a:solidFill>
                  <a:srgbClr val="14366E"/>
                </a:solidFill>
                <a:latin typeface="Segoe Sans Display"/>
              </a:rPr>
              <a:t>browser</a:t>
            </a:r>
          </a:p>
        </p:txBody>
      </p:sp>
      <p:sp>
        <p:nvSpPr>
          <p:cNvPr id="8" name="TextBox 7"/>
          <p:cNvSpPr txBox="1"/>
          <p:nvPr/>
        </p:nvSpPr>
        <p:spPr>
          <a:xfrm>
            <a:off x="4496104" y="2880360"/>
            <a:ext cx="3200400" cy="274320"/>
          </a:xfrm>
          <a:prstGeom prst="rect">
            <a:avLst/>
          </a:prstGeom>
          <a:noFill/>
        </p:spPr>
        <p:txBody>
          <a:bodyPr wrap="square">
            <a:spAutoFit/>
          </a:bodyPr>
          <a:lstStyle/>
          <a:p>
            <a:pPr algn="ctr"/>
            <a:r>
              <a:rPr sz="1000" b="0" i="1">
                <a:solidFill>
                  <a:srgbClr val="14366E"/>
                </a:solidFill>
                <a:latin typeface="Segoe Sans Display"/>
              </a:rPr>
              <a:t>REST/HTTPS OAuth 2.0 B2B</a:t>
            </a:r>
          </a:p>
        </p:txBody>
      </p:sp>
      <p:sp>
        <p:nvSpPr>
          <p:cNvPr id="9" name="TextBox 8"/>
          <p:cNvSpPr txBox="1"/>
          <p:nvPr/>
        </p:nvSpPr>
        <p:spPr>
          <a:xfrm>
            <a:off x="8534095" y="2880360"/>
            <a:ext cx="3200400" cy="274320"/>
          </a:xfrm>
          <a:prstGeom prst="rect">
            <a:avLst/>
          </a:prstGeom>
          <a:noFill/>
        </p:spPr>
        <p:txBody>
          <a:bodyPr wrap="square">
            <a:spAutoFit/>
          </a:bodyPr>
          <a:lstStyle/>
          <a:p>
            <a:pPr algn="ctr"/>
            <a:r>
              <a:rPr sz="1000" b="0" i="1">
                <a:solidFill>
                  <a:srgbClr val="14366E"/>
                </a:solidFill>
                <a:latin typeface="Segoe Sans Display"/>
              </a:rPr>
              <a:t>REST/HTTPS OAuth 2.0</a:t>
            </a:r>
          </a:p>
        </p:txBody>
      </p:sp>
      <p:sp>
        <p:nvSpPr>
          <p:cNvPr id="10" name="Arrow Actor1"/>
          <p:cNvSpPr/>
          <p:nvPr/>
        </p:nvSpPr>
        <p:spPr>
          <a:xfrm>
            <a:off x="1828800" y="3154680"/>
            <a:ext cx="274320" cy="36576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Arrow Actor2"/>
          <p:cNvSpPr/>
          <p:nvPr/>
        </p:nvSpPr>
        <p:spPr>
          <a:xfrm>
            <a:off x="5867704" y="3154680"/>
            <a:ext cx="274320" cy="36576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Arrow Actor3"/>
          <p:cNvSpPr/>
          <p:nvPr/>
        </p:nvSpPr>
        <p:spPr>
          <a:xfrm>
            <a:off x="9905695" y="3154680"/>
            <a:ext cx="274320" cy="36576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itAssess API Box"/>
          <p:cNvSpPr/>
          <p:nvPr/>
        </p:nvSpPr>
        <p:spPr>
          <a:xfrm>
            <a:off x="1828800" y="3611880"/>
            <a:ext cx="8534095" cy="77724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rIns="274320" tIns="91440" bIns="91440"/>
          <a:lstStyle/>
          <a:p>
            <a:pPr algn="ctr"/>
            <a:r>
              <a:rPr sz="1600" b="1" i="0">
                <a:solidFill>
                  <a:srgbClr val="FFFFFF"/>
                </a:solidFill>
                <a:latin typeface="Segoe Sans Display"/>
              </a:rPr>
              <a:t>FitAssess API (v1) — Multi-tenant, .NET 8, stateless</a:t>
            </a:r>
          </a:p>
        </p:txBody>
      </p:sp>
      <p:sp>
        <p:nvSpPr>
          <p:cNvPr id="14" name="Arrow API to Azure"/>
          <p:cNvSpPr/>
          <p:nvPr/>
        </p:nvSpPr>
        <p:spPr>
          <a:xfrm>
            <a:off x="5867704" y="4434840"/>
            <a:ext cx="274320" cy="36576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72000" y="4480560"/>
            <a:ext cx="1280160" cy="274320"/>
          </a:xfrm>
          <a:prstGeom prst="rect">
            <a:avLst/>
          </a:prstGeom>
          <a:noFill/>
        </p:spPr>
        <p:txBody>
          <a:bodyPr wrap="square">
            <a:spAutoFit/>
          </a:bodyPr>
          <a:lstStyle/>
          <a:p>
            <a:pPr algn="r"/>
            <a:r>
              <a:rPr sz="1000" b="0" i="1">
                <a:solidFill>
                  <a:srgbClr val="14366E"/>
                </a:solidFill>
                <a:latin typeface="Segoe Sans Display"/>
              </a:rPr>
              <a:t>Managed Identity</a:t>
            </a:r>
          </a:p>
        </p:txBody>
      </p:sp>
      <p:sp>
        <p:nvSpPr>
          <p:cNvPr id="16" name="Azure Service Plane"/>
          <p:cNvSpPr/>
          <p:nvPr/>
        </p:nvSpPr>
        <p:spPr>
          <a:xfrm>
            <a:off x="914400" y="4892040"/>
            <a:ext cx="10362895" cy="14173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t" wrap="square" lIns="274320" tIns="91440" bIns="91440"/>
          <a:lstStyle/>
          <a:p>
            <a:pPr algn="l"/>
            <a:r>
              <a:rPr sz="1200" b="1" i="0">
                <a:solidFill>
                  <a:srgbClr val="0B5594"/>
                </a:solidFill>
                <a:latin typeface="Segoe Sans Display"/>
              </a:rPr>
              <a:t>Azure Service Plane</a:t>
            </a:r>
          </a:p>
        </p:txBody>
      </p:sp>
      <p:sp>
        <p:nvSpPr>
          <p:cNvPr id="17" name="Svc Azure AI"/>
          <p:cNvSpPr/>
          <p:nvPr/>
        </p:nvSpPr>
        <p:spPr>
          <a:xfrm>
            <a:off x="1188720" y="5212080"/>
            <a:ext cx="3108960" cy="41148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Azure AI Services</a:t>
            </a:r>
          </a:p>
        </p:txBody>
      </p:sp>
      <p:sp>
        <p:nvSpPr>
          <p:cNvPr id="18" name="Svc Cosmos DB"/>
          <p:cNvSpPr/>
          <p:nvPr/>
        </p:nvSpPr>
        <p:spPr>
          <a:xfrm>
            <a:off x="4480560" y="5212080"/>
            <a:ext cx="3108960" cy="41148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Cosmos DB</a:t>
            </a:r>
          </a:p>
        </p:txBody>
      </p:sp>
      <p:sp>
        <p:nvSpPr>
          <p:cNvPr id="19" name="Svc Blob Storage"/>
          <p:cNvSpPr/>
          <p:nvPr/>
        </p:nvSpPr>
        <p:spPr>
          <a:xfrm>
            <a:off x="7772400" y="5212080"/>
            <a:ext cx="3108960" cy="41148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Blob Storage</a:t>
            </a:r>
          </a:p>
        </p:txBody>
      </p:sp>
      <p:sp>
        <p:nvSpPr>
          <p:cNvPr id="20" name="Svc Service Bus"/>
          <p:cNvSpPr/>
          <p:nvPr/>
        </p:nvSpPr>
        <p:spPr>
          <a:xfrm>
            <a:off x="1188720" y="5760720"/>
            <a:ext cx="3108960" cy="41148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Service Bus</a:t>
            </a:r>
          </a:p>
        </p:txBody>
      </p:sp>
      <p:sp>
        <p:nvSpPr>
          <p:cNvPr id="21" name="Svc Key Vault"/>
          <p:cNvSpPr/>
          <p:nvPr/>
        </p:nvSpPr>
        <p:spPr>
          <a:xfrm>
            <a:off x="4480560" y="5760720"/>
            <a:ext cx="3108960" cy="41148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Key Vault</a:t>
            </a:r>
          </a:p>
        </p:txBody>
      </p:sp>
      <p:sp>
        <p:nvSpPr>
          <p:cNvPr id="22" name="Svc Azure Monitor"/>
          <p:cNvSpPr/>
          <p:nvPr/>
        </p:nvSpPr>
        <p:spPr>
          <a:xfrm>
            <a:off x="7772400" y="5760720"/>
            <a:ext cx="3108960" cy="41148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Azure Monitor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Container View — Clean Architecture</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Logical layering inside the .NET 8 Web API.</a:t>
            </a:r>
          </a:p>
        </p:txBody>
      </p:sp>
      <p:sp>
        <p:nvSpPr>
          <p:cNvPr id="4" name="Layer 1 Header"/>
          <p:cNvSpPr/>
          <p:nvPr/>
        </p:nvSpPr>
        <p:spPr>
          <a:xfrm>
            <a:off x="640080" y="1874519"/>
            <a:ext cx="1091153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400" b="1" i="0">
                <a:solidFill>
                  <a:srgbClr val="FFFFFF"/>
                </a:solidFill>
                <a:latin typeface="Segoe Sans Display"/>
              </a:rPr>
              <a:t>Presentation Layer (FitAssess.Api)</a:t>
            </a:r>
          </a:p>
        </p:txBody>
      </p:sp>
      <p:sp>
        <p:nvSpPr>
          <p:cNvPr id="5" name="Layer 1 Body"/>
          <p:cNvSpPr/>
          <p:nvPr/>
        </p:nvSpPr>
        <p:spPr>
          <a:xfrm>
            <a:off x="640080" y="2331720"/>
            <a:ext cx="10911535" cy="7772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Arrow L1 L2"/>
          <p:cNvSpPr/>
          <p:nvPr/>
        </p:nvSpPr>
        <p:spPr>
          <a:xfrm>
            <a:off x="5867704" y="3154680"/>
            <a:ext cx="274320" cy="22860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Layer 2 Header"/>
          <p:cNvSpPr/>
          <p:nvPr/>
        </p:nvSpPr>
        <p:spPr>
          <a:xfrm>
            <a:off x="640080" y="3429000"/>
            <a:ext cx="1091153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400" b="1" i="0">
                <a:solidFill>
                  <a:srgbClr val="FFFFFF"/>
                </a:solidFill>
                <a:latin typeface="Segoe Sans Display"/>
              </a:rPr>
              <a:t>Service Layer (FitAssess.Services)</a:t>
            </a:r>
          </a:p>
        </p:txBody>
      </p:sp>
      <p:sp>
        <p:nvSpPr>
          <p:cNvPr id="8" name="Layer 2 Body"/>
          <p:cNvSpPr/>
          <p:nvPr/>
        </p:nvSpPr>
        <p:spPr>
          <a:xfrm>
            <a:off x="640080" y="3886200"/>
            <a:ext cx="10911535"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t" wrap="square" lIns="274320" rIns="182880" tIns="109728" bIns="73152"/>
          <a:lstStyle/>
          <a:p>
            <a:pPr algn="ctr"/>
            <a:r>
              <a:rPr sz="1200" b="0" i="0">
                <a:solidFill>
                  <a:srgbClr val="1F1F1F"/>
                </a:solidFill>
                <a:latin typeface="Segoe Sans Display"/>
              </a:rPr>
              <a:t>FitAssessmentService · ImageValidator · BodyMeasurementExtractor · FitComparisonEngine · ShopperProfileService · GarmentService</a:t>
            </a:r>
          </a:p>
        </p:txBody>
      </p:sp>
      <p:sp>
        <p:nvSpPr>
          <p:cNvPr id="9" name="Arrow L2 L3"/>
          <p:cNvSpPr/>
          <p:nvPr/>
        </p:nvSpPr>
        <p:spPr>
          <a:xfrm>
            <a:off x="5867704" y="4562856"/>
            <a:ext cx="274320" cy="22860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Layer 3 Header"/>
          <p:cNvSpPr/>
          <p:nvPr/>
        </p:nvSpPr>
        <p:spPr>
          <a:xfrm>
            <a:off x="640080" y="4846320"/>
            <a:ext cx="1091153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400" b="1" i="0">
                <a:solidFill>
                  <a:srgbClr val="FFFFFF"/>
                </a:solidFill>
                <a:latin typeface="Segoe Sans Display"/>
              </a:rPr>
              <a:t>Core Layer (FitAssess.Core) — zero dependencies</a:t>
            </a:r>
          </a:p>
        </p:txBody>
      </p:sp>
      <p:sp>
        <p:nvSpPr>
          <p:cNvPr id="11" name="Layer 3 Body"/>
          <p:cNvSpPr/>
          <p:nvPr/>
        </p:nvSpPr>
        <p:spPr>
          <a:xfrm>
            <a:off x="640080" y="5303520"/>
            <a:ext cx="10911535"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t" wrap="square" lIns="274320" rIns="182880" tIns="109728" bIns="73152"/>
          <a:lstStyle/>
          <a:p>
            <a:pPr algn="ctr"/>
            <a:r>
              <a:rPr sz="1200" b="0" i="0">
                <a:solidFill>
                  <a:srgbClr val="1F1F1F"/>
                </a:solidFill>
                <a:latin typeface="Segoe Sans Display"/>
              </a:rPr>
              <a:t>Models: Tenant, ShopperProfile, Garment, FitAssessment · Interfaces: IRepository&lt;T&gt;, IAIClient, IBlobStore · Enums: FitScale, GarmentCategory, AssessmentStatus</a:t>
            </a:r>
          </a:p>
        </p:txBody>
      </p:sp>
      <p:sp>
        <p:nvSpPr>
          <p:cNvPr id="12" name="Arrow L3 L4"/>
          <p:cNvSpPr/>
          <p:nvPr/>
        </p:nvSpPr>
        <p:spPr>
          <a:xfrm>
            <a:off x="5867704" y="5980176"/>
            <a:ext cx="274320" cy="22860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029200" y="6355080"/>
            <a:ext cx="6492240" cy="320040"/>
          </a:xfrm>
          <a:prstGeom prst="rect">
            <a:avLst/>
          </a:prstGeom>
          <a:noFill/>
        </p:spPr>
        <p:txBody>
          <a:bodyPr wrap="square">
            <a:spAutoFit/>
          </a:bodyPr>
          <a:lstStyle/>
          <a:p>
            <a:pPr algn="r"/>
            <a:r>
              <a:rPr sz="1100" b="0" i="1">
                <a:solidFill>
                  <a:srgbClr val="0B5594"/>
                </a:solidFill>
                <a:latin typeface="Segoe Sans Display"/>
              </a:rPr>
              <a:t>Dependency inversion: Infrastructure implements Core interfaces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Phase B · Three Architecture Concepts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Three concepts, one architecture. Concept A ships v1; B and C are evolution paths.</a:t>
            </a:r>
          </a:p>
        </p:txBody>
      </p:sp>
      <p:sp>
        <p:nvSpPr>
          <p:cNvPr id="4" name="Concept A Header"/>
          <p:cNvSpPr/>
          <p:nvPr/>
        </p:nvSpPr>
        <p:spPr>
          <a:xfrm>
            <a:off x="457200" y="1920240"/>
            <a:ext cx="3474720" cy="54864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Concept A — Cloud-Centric</a:t>
            </a:r>
          </a:p>
        </p:txBody>
      </p:sp>
      <p:sp>
        <p:nvSpPr>
          <p:cNvPr id="5" name="Concept A Body"/>
          <p:cNvSpPr/>
          <p:nvPr/>
        </p:nvSpPr>
        <p:spPr>
          <a:xfrm>
            <a:off x="457200" y="2468880"/>
            <a:ext cx="3474720" cy="21945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Concept B Header"/>
          <p:cNvSpPr/>
          <p:nvPr/>
        </p:nvSpPr>
        <p:spPr>
          <a:xfrm>
            <a:off x="4358944" y="1920240"/>
            <a:ext cx="3474720" cy="54864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Concept B — Edge + AI Agent</a:t>
            </a:r>
          </a:p>
        </p:txBody>
      </p:sp>
      <p:sp>
        <p:nvSpPr>
          <p:cNvPr id="7" name="Concept B Body"/>
          <p:cNvSpPr/>
          <p:nvPr/>
        </p:nvSpPr>
        <p:spPr>
          <a:xfrm>
            <a:off x="4358944" y="2468880"/>
            <a:ext cx="3474720" cy="21945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oncept C Header"/>
          <p:cNvSpPr/>
          <p:nvPr/>
        </p:nvSpPr>
        <p:spPr>
          <a:xfrm>
            <a:off x="8259775" y="1920240"/>
            <a:ext cx="3474720" cy="54864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Concept C — Data Fabric</a:t>
            </a:r>
          </a:p>
        </p:txBody>
      </p:sp>
      <p:sp>
        <p:nvSpPr>
          <p:cNvPr id="9" name="Concept C Body"/>
          <p:cNvSpPr/>
          <p:nvPr/>
        </p:nvSpPr>
        <p:spPr>
          <a:xfrm>
            <a:off x="8259775" y="2468880"/>
            <a:ext cx="3474720" cy="21945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meline Line"/>
          <p:cNvSpPr/>
          <p:nvPr/>
        </p:nvSpPr>
        <p:spPr>
          <a:xfrm>
            <a:off x="914400" y="5212080"/>
            <a:ext cx="10362895" cy="36576"/>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meline V1 Oval"/>
          <p:cNvSpPr/>
          <p:nvPr/>
        </p:nvSpPr>
        <p:spPr>
          <a:xfrm>
            <a:off x="1645920" y="4983480"/>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600" b="1" i="0">
                <a:solidFill>
                  <a:srgbClr val="FFFFFF"/>
                </a:solidFill>
                <a:latin typeface="Segoe Sans Display"/>
              </a:rPr>
              <a:t>A</a:t>
            </a:r>
          </a:p>
        </p:txBody>
      </p:sp>
      <p:sp>
        <p:nvSpPr>
          <p:cNvPr id="12" name="Timeline V2 Oval"/>
          <p:cNvSpPr/>
          <p:nvPr/>
        </p:nvSpPr>
        <p:spPr>
          <a:xfrm>
            <a:off x="5843016" y="4983480"/>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600" b="1" i="0">
                <a:solidFill>
                  <a:srgbClr val="FFFFFF"/>
                </a:solidFill>
                <a:latin typeface="Segoe Sans Display"/>
              </a:rPr>
              <a:t>B</a:t>
            </a:r>
          </a:p>
        </p:txBody>
      </p:sp>
      <p:sp>
        <p:nvSpPr>
          <p:cNvPr id="13" name="Timeline V3 Oval"/>
          <p:cNvSpPr/>
          <p:nvPr/>
        </p:nvSpPr>
        <p:spPr>
          <a:xfrm>
            <a:off x="10040112" y="4983480"/>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600" b="1" i="0">
                <a:solidFill>
                  <a:srgbClr val="FFFFFF"/>
                </a:solidFill>
                <a:latin typeface="Segoe Sans Display"/>
              </a:rPr>
              <a:t>C</a:t>
            </a:r>
          </a:p>
        </p:txBody>
      </p:sp>
      <p:sp>
        <p:nvSpPr>
          <p:cNvPr id="14" name="TextBox 13"/>
          <p:cNvSpPr txBox="1"/>
          <p:nvPr/>
        </p:nvSpPr>
        <p:spPr>
          <a:xfrm>
            <a:off x="1097280" y="5577840"/>
            <a:ext cx="1554480" cy="274320"/>
          </a:xfrm>
          <a:prstGeom prst="rect">
            <a:avLst/>
          </a:prstGeom>
          <a:noFill/>
        </p:spPr>
        <p:txBody>
          <a:bodyPr wrap="square">
            <a:spAutoFit/>
          </a:bodyPr>
          <a:lstStyle/>
          <a:p>
            <a:pPr algn="ctr"/>
            <a:r>
              <a:rPr sz="1200" b="0" i="0">
                <a:solidFill>
                  <a:srgbClr val="1F1F1F"/>
                </a:solidFill>
                <a:latin typeface="Segoe Sans Display"/>
              </a:rPr>
              <a:t>v1 (now)</a:t>
            </a:r>
          </a:p>
        </p:txBody>
      </p:sp>
      <p:sp>
        <p:nvSpPr>
          <p:cNvPr id="15" name="TextBox 14"/>
          <p:cNvSpPr txBox="1"/>
          <p:nvPr/>
        </p:nvSpPr>
        <p:spPr>
          <a:xfrm>
            <a:off x="4937760" y="5577840"/>
            <a:ext cx="2286000" cy="274320"/>
          </a:xfrm>
          <a:prstGeom prst="rect">
            <a:avLst/>
          </a:prstGeom>
          <a:noFill/>
        </p:spPr>
        <p:txBody>
          <a:bodyPr wrap="square">
            <a:spAutoFit/>
          </a:bodyPr>
          <a:lstStyle/>
          <a:p>
            <a:pPr algn="ctr"/>
            <a:r>
              <a:rPr sz="1200" b="0" i="0">
                <a:solidFill>
                  <a:srgbClr val="1F1F1F"/>
                </a:solidFill>
                <a:latin typeface="Segoe Sans Display"/>
              </a:rPr>
              <a:t>v2 (12–18 months)</a:t>
            </a:r>
          </a:p>
        </p:txBody>
      </p:sp>
      <p:sp>
        <p:nvSpPr>
          <p:cNvPr id="16" name="TextBox 15"/>
          <p:cNvSpPr txBox="1"/>
          <p:nvPr/>
        </p:nvSpPr>
        <p:spPr>
          <a:xfrm>
            <a:off x="9144000" y="5577840"/>
            <a:ext cx="2286000" cy="274320"/>
          </a:xfrm>
          <a:prstGeom prst="rect">
            <a:avLst/>
          </a:prstGeom>
          <a:noFill/>
        </p:spPr>
        <p:txBody>
          <a:bodyPr wrap="square">
            <a:spAutoFit/>
          </a:bodyPr>
          <a:lstStyle/>
          <a:p>
            <a:pPr algn="ctr"/>
            <a:r>
              <a:rPr sz="1200" b="0" i="0">
                <a:solidFill>
                  <a:srgbClr val="1F1F1F"/>
                </a:solidFill>
                <a:latin typeface="Segoe Sans Display"/>
              </a:rPr>
              <a:t>v3 (24+ months)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Concept A — Cloud-Centric Platform</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v1 implementation target. Fastest time-to-market, fully managed Azure services.</a:t>
            </a:r>
          </a:p>
        </p:txBody>
      </p:sp>
      <p:sp>
        <p:nvSpPr>
          <p:cNvPr id="4" name="Retail Frontend"/>
          <p:cNvSpPr/>
          <p:nvPr/>
        </p:nvSpPr>
        <p:spPr>
          <a:xfrm>
            <a:off x="457200" y="1920240"/>
            <a:ext cx="2743200" cy="4572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Retail Frontend (B2B OAuth)</a:t>
            </a:r>
          </a:p>
        </p:txBody>
      </p:sp>
      <p:sp>
        <p:nvSpPr>
          <p:cNvPr id="5" name="Arrow FE to API"/>
          <p:cNvSpPr/>
          <p:nvPr/>
        </p:nvSpPr>
        <p:spPr>
          <a:xfrm>
            <a:off x="3291840" y="2057400"/>
            <a:ext cx="457200" cy="182880"/>
          </a:xfrm>
          <a:prstGeom prst="right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API Box"/>
          <p:cNvSpPr/>
          <p:nvPr/>
        </p:nvSpPr>
        <p:spPr>
          <a:xfrm>
            <a:off x="3840480" y="1828800"/>
            <a:ext cx="3017520" cy="64008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Arrow API down"/>
          <p:cNvSpPr/>
          <p:nvPr/>
        </p:nvSpPr>
        <p:spPr>
          <a:xfrm>
            <a:off x="5212080" y="2514600"/>
            <a:ext cx="228600" cy="27432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Svc AI Plane"/>
          <p:cNvSpPr/>
          <p:nvPr/>
        </p:nvSpPr>
        <p:spPr>
          <a:xfrm>
            <a:off x="457200" y="2926080"/>
            <a:ext cx="3200400"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Svc Cosmos"/>
          <p:cNvSpPr/>
          <p:nvPr/>
        </p:nvSpPr>
        <p:spPr>
          <a:xfrm>
            <a:off x="3840480" y="2926080"/>
            <a:ext cx="3017520"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Cosmos DB (multi-tenant)</a:t>
            </a:r>
          </a:p>
        </p:txBody>
      </p:sp>
      <p:sp>
        <p:nvSpPr>
          <p:cNvPr id="10" name="Svc Blob"/>
          <p:cNvSpPr/>
          <p:nvPr/>
        </p:nvSpPr>
        <p:spPr>
          <a:xfrm>
            <a:off x="457200" y="3703320"/>
            <a:ext cx="3200400" cy="5029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Blob Storage (60s TTL)</a:t>
            </a:r>
          </a:p>
        </p:txBody>
      </p:sp>
      <p:sp>
        <p:nvSpPr>
          <p:cNvPr id="11" name="Svc ServiceBus"/>
          <p:cNvSpPr/>
          <p:nvPr/>
        </p:nvSpPr>
        <p:spPr>
          <a:xfrm>
            <a:off x="3840480" y="3703320"/>
            <a:ext cx="3017520" cy="5029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Service Bus (async queue)</a:t>
            </a:r>
          </a:p>
        </p:txBody>
      </p:sp>
      <p:sp>
        <p:nvSpPr>
          <p:cNvPr id="12" name="Svc KV"/>
          <p:cNvSpPr/>
          <p:nvPr/>
        </p:nvSpPr>
        <p:spPr>
          <a:xfrm>
            <a:off x="457200" y="4343400"/>
            <a:ext cx="3200400" cy="41148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000" b="0" i="0">
                <a:solidFill>
                  <a:srgbClr val="1F1F1F"/>
                </a:solidFill>
                <a:latin typeface="Segoe Sans Display"/>
              </a:rPr>
              <a:t>Key Vault</a:t>
            </a:r>
          </a:p>
        </p:txBody>
      </p:sp>
      <p:sp>
        <p:nvSpPr>
          <p:cNvPr id="13" name="Svc Monitor"/>
          <p:cNvSpPr/>
          <p:nvPr/>
        </p:nvSpPr>
        <p:spPr>
          <a:xfrm>
            <a:off x="3840480" y="4343400"/>
            <a:ext cx="3017520" cy="41148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000" b="0" i="0">
                <a:solidFill>
                  <a:srgbClr val="1F1F1F"/>
                </a:solidFill>
                <a:latin typeface="Segoe Sans Display"/>
              </a:rPr>
              <a:t>Azure Monitor</a:t>
            </a:r>
          </a:p>
        </p:txBody>
      </p:sp>
      <p:sp>
        <p:nvSpPr>
          <p:cNvPr id="14" name="Tradeoffs Header"/>
          <p:cNvSpPr/>
          <p:nvPr/>
        </p:nvSpPr>
        <p:spPr>
          <a:xfrm>
            <a:off x="7315200" y="1920240"/>
            <a:ext cx="4419295" cy="54864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800" b="1" i="0">
                <a:solidFill>
                  <a:srgbClr val="FFFFFF"/>
                </a:solidFill>
                <a:latin typeface="Segoe Sans Display"/>
              </a:rPr>
              <a:t>Tradeoffs</a:t>
            </a:r>
          </a:p>
        </p:txBody>
      </p:sp>
      <p:sp>
        <p:nvSpPr>
          <p:cNvPr id="15" name="Tradeoffs Body"/>
          <p:cNvSpPr/>
          <p:nvPr/>
        </p:nvSpPr>
        <p:spPr>
          <a:xfrm>
            <a:off x="7315200" y="2468880"/>
            <a:ext cx="4419295"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Concept B — Edge + AI Agent Operations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Future v2. Decisioning at the edge with store associate AI copilot.</a:t>
            </a:r>
          </a:p>
        </p:txBody>
      </p:sp>
      <p:sp>
        <p:nvSpPr>
          <p:cNvPr id="4" name="Edge Container Label"/>
          <p:cNvSpPr/>
          <p:nvPr/>
        </p:nvSpPr>
        <p:spPr>
          <a:xfrm>
            <a:off x="457200" y="1920240"/>
            <a:ext cx="6400800" cy="41148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400" b="1" i="0">
                <a:solidFill>
                  <a:srgbClr val="FFFFFF"/>
                </a:solidFill>
                <a:latin typeface="Segoe Sans Display"/>
              </a:rPr>
              <a:t>In-Store Edge</a:t>
            </a:r>
          </a:p>
        </p:txBody>
      </p:sp>
      <p:sp>
        <p:nvSpPr>
          <p:cNvPr id="5" name="Edge Container Body"/>
          <p:cNvSpPr/>
          <p:nvPr/>
        </p:nvSpPr>
        <p:spPr>
          <a:xfrm>
            <a:off x="457200" y="2331720"/>
            <a:ext cx="6400800" cy="19202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Kiosk Box"/>
          <p:cNvSpPr/>
          <p:nvPr/>
        </p:nvSpPr>
        <p:spPr>
          <a:xfrm>
            <a:off x="731520" y="2468880"/>
            <a:ext cx="5852160" cy="73152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Copilot Box"/>
          <p:cNvSpPr/>
          <p:nvPr/>
        </p:nvSpPr>
        <p:spPr>
          <a:xfrm>
            <a:off x="731520" y="3337560"/>
            <a:ext cx="5852160" cy="77724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Arrow Edge to Cloud"/>
          <p:cNvSpPr/>
          <p:nvPr/>
        </p:nvSpPr>
        <p:spPr>
          <a:xfrm>
            <a:off x="3429000" y="4343400"/>
            <a:ext cx="274320" cy="36576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71600" y="4389120"/>
            <a:ext cx="2011680" cy="274320"/>
          </a:xfrm>
          <a:prstGeom prst="rect">
            <a:avLst/>
          </a:prstGeom>
          <a:noFill/>
        </p:spPr>
        <p:txBody>
          <a:bodyPr wrap="square">
            <a:spAutoFit/>
          </a:bodyPr>
          <a:lstStyle/>
          <a:p>
            <a:pPr algn="r"/>
            <a:r>
              <a:rPr sz="1000" b="0" i="1">
                <a:solidFill>
                  <a:srgbClr val="14366E"/>
                </a:solidFill>
                <a:latin typeface="Segoe Sans Display"/>
              </a:rPr>
              <a:t>measurements only</a:t>
            </a:r>
          </a:p>
        </p:txBody>
      </p:sp>
      <p:sp>
        <p:nvSpPr>
          <p:cNvPr id="10" name="TextBox 9"/>
          <p:cNvSpPr txBox="1"/>
          <p:nvPr/>
        </p:nvSpPr>
        <p:spPr>
          <a:xfrm>
            <a:off x="914400" y="4617720"/>
            <a:ext cx="2468880" cy="274320"/>
          </a:xfrm>
          <a:prstGeom prst="rect">
            <a:avLst/>
          </a:prstGeom>
          <a:noFill/>
        </p:spPr>
        <p:txBody>
          <a:bodyPr wrap="square">
            <a:spAutoFit/>
          </a:bodyPr>
          <a:lstStyle/>
          <a:p>
            <a:pPr algn="r"/>
            <a:r>
              <a:rPr sz="1000" b="0" i="1">
                <a:solidFill>
                  <a:srgbClr val="14366E"/>
                </a:solidFill>
                <a:latin typeface="Segoe Sans Display"/>
              </a:rPr>
              <a:t>(not raw images)</a:t>
            </a:r>
          </a:p>
        </p:txBody>
      </p:sp>
      <p:sp>
        <p:nvSpPr>
          <p:cNvPr id="11" name="Cloud Backend"/>
          <p:cNvSpPr/>
          <p:nvPr/>
        </p:nvSpPr>
        <p:spPr>
          <a:xfrm>
            <a:off x="457200" y="4846320"/>
            <a:ext cx="6400800" cy="7315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radeoffs Header"/>
          <p:cNvSpPr/>
          <p:nvPr/>
        </p:nvSpPr>
        <p:spPr>
          <a:xfrm>
            <a:off x="7315200" y="1920240"/>
            <a:ext cx="4419295" cy="54864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800" b="1" i="0">
                <a:solidFill>
                  <a:srgbClr val="FFFFFF"/>
                </a:solidFill>
                <a:latin typeface="Segoe Sans Display"/>
              </a:rPr>
              <a:t>Tradeoffs</a:t>
            </a:r>
          </a:p>
        </p:txBody>
      </p:sp>
      <p:sp>
        <p:nvSpPr>
          <p:cNvPr id="13" name="Tradeoffs Body"/>
          <p:cNvSpPr/>
          <p:nvPr/>
        </p:nvSpPr>
        <p:spPr>
          <a:xfrm>
            <a:off x="7315200" y="2468880"/>
            <a:ext cx="4419295" cy="31089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Concept C — Data Fabric / Intelligence Layer</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Long-term v3. Unified semantic layer for retail intelligence.</a:t>
            </a:r>
          </a:p>
        </p:txBody>
      </p:sp>
      <p:sp>
        <p:nvSpPr>
          <p:cNvPr id="4" name="Source Shopper"/>
          <p:cNvSpPr/>
          <p:nvPr/>
        </p:nvSpPr>
        <p:spPr>
          <a:xfrm>
            <a:off x="457200" y="1920240"/>
            <a:ext cx="1920240" cy="54864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000" b="0" i="0">
                <a:solidFill>
                  <a:srgbClr val="1F1F1F"/>
                </a:solidFill>
                <a:latin typeface="Segoe Sans Display"/>
              </a:rPr>
              <a:t>Shopper Measurements</a:t>
            </a:r>
          </a:p>
        </p:txBody>
      </p:sp>
      <p:sp>
        <p:nvSpPr>
          <p:cNvPr id="5" name="Source Garment"/>
          <p:cNvSpPr/>
          <p:nvPr/>
        </p:nvSpPr>
        <p:spPr>
          <a:xfrm>
            <a:off x="2560320" y="1920240"/>
            <a:ext cx="1920240" cy="54864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000" b="0" i="0">
                <a:solidFill>
                  <a:srgbClr val="1F1F1F"/>
                </a:solidFill>
                <a:latin typeface="Segoe Sans Display"/>
              </a:rPr>
              <a:t>Garment Catalog</a:t>
            </a:r>
          </a:p>
        </p:txBody>
      </p:sp>
      <p:sp>
        <p:nvSpPr>
          <p:cNvPr id="6" name="Source Returns"/>
          <p:cNvSpPr/>
          <p:nvPr/>
        </p:nvSpPr>
        <p:spPr>
          <a:xfrm>
            <a:off x="4663440" y="1920240"/>
            <a:ext cx="2194560" cy="54864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000" b="0" i="0">
                <a:solidFill>
                  <a:srgbClr val="1F1F1F"/>
                </a:solidFill>
                <a:latin typeface="Segoe Sans Display"/>
              </a:rPr>
              <a:t>Return &amp; Exchange Transactions</a:t>
            </a:r>
          </a:p>
        </p:txBody>
      </p:sp>
      <p:sp>
        <p:nvSpPr>
          <p:cNvPr id="7" name="Arrow Sources Down"/>
          <p:cNvSpPr/>
          <p:nvPr/>
        </p:nvSpPr>
        <p:spPr>
          <a:xfrm>
            <a:off x="3383280" y="2560320"/>
            <a:ext cx="228600" cy="27432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Fabric Header"/>
          <p:cNvSpPr/>
          <p:nvPr/>
        </p:nvSpPr>
        <p:spPr>
          <a:xfrm>
            <a:off x="457200" y="2926080"/>
            <a:ext cx="6400800"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300" b="1" i="0">
                <a:solidFill>
                  <a:srgbClr val="FFFFFF"/>
                </a:solidFill>
                <a:latin typeface="Segoe Sans Display"/>
              </a:rPr>
              <a:t>Microsoft Fabric — Unified Semantic Layer</a:t>
            </a:r>
          </a:p>
        </p:txBody>
      </p:sp>
      <p:sp>
        <p:nvSpPr>
          <p:cNvPr id="9" name="Fabric Body"/>
          <p:cNvSpPr/>
          <p:nvPr/>
        </p:nvSpPr>
        <p:spPr>
          <a:xfrm>
            <a:off x="457200" y="3383280"/>
            <a:ext cx="6400800" cy="12801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Arrow Fabric Down"/>
          <p:cNvSpPr/>
          <p:nvPr/>
        </p:nvSpPr>
        <p:spPr>
          <a:xfrm>
            <a:off x="3383280" y="4754880"/>
            <a:ext cx="228600" cy="27432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utput API"/>
          <p:cNvSpPr/>
          <p:nvPr/>
        </p:nvSpPr>
        <p:spPr>
          <a:xfrm>
            <a:off x="457200" y="5120640"/>
            <a:ext cx="1920240" cy="54864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000" b="0" i="0">
                <a:solidFill>
                  <a:srgbClr val="1F1F1F"/>
                </a:solidFill>
                <a:latin typeface="Segoe Sans Display"/>
              </a:rPr>
              <a:t>FitAssess API (real-time)</a:t>
            </a:r>
          </a:p>
        </p:txBody>
      </p:sp>
      <p:sp>
        <p:nvSpPr>
          <p:cNvPr id="12" name="Output Return Model"/>
          <p:cNvSpPr/>
          <p:nvPr/>
        </p:nvSpPr>
        <p:spPr>
          <a:xfrm>
            <a:off x="2560320" y="5120640"/>
            <a:ext cx="2103120" cy="54864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000" b="0" i="0">
                <a:solidFill>
                  <a:srgbClr val="1F1F1F"/>
                </a:solidFill>
                <a:latin typeface="Segoe Sans Display"/>
              </a:rPr>
              <a:t>Return Prediction Model (batch)</a:t>
            </a:r>
          </a:p>
        </p:txBody>
      </p:sp>
      <p:sp>
        <p:nvSpPr>
          <p:cNvPr id="13" name="Output Merch"/>
          <p:cNvSpPr/>
          <p:nvPr/>
        </p:nvSpPr>
        <p:spPr>
          <a:xfrm>
            <a:off x="4846320" y="5120640"/>
            <a:ext cx="2011680" cy="54864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000" b="0" i="0">
                <a:solidFill>
                  <a:srgbClr val="1F1F1F"/>
                </a:solidFill>
                <a:latin typeface="Segoe Sans Display"/>
              </a:rPr>
              <a:t>Merchandising Intelligence (trends)</a:t>
            </a:r>
          </a:p>
        </p:txBody>
      </p:sp>
      <p:sp>
        <p:nvSpPr>
          <p:cNvPr id="14" name="Tradeoffs Header"/>
          <p:cNvSpPr/>
          <p:nvPr/>
        </p:nvSpPr>
        <p:spPr>
          <a:xfrm>
            <a:off x="7315200" y="1920240"/>
            <a:ext cx="4419295" cy="54864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800" b="1" i="0">
                <a:solidFill>
                  <a:srgbClr val="FFFFFF"/>
                </a:solidFill>
                <a:latin typeface="Segoe Sans Display"/>
              </a:rPr>
              <a:t>Tradeoffs</a:t>
            </a:r>
          </a:p>
        </p:txBody>
      </p:sp>
      <p:sp>
        <p:nvSpPr>
          <p:cNvPr id="15" name="Tradeoffs Body"/>
          <p:cNvSpPr/>
          <p:nvPr/>
        </p:nvSpPr>
        <p:spPr>
          <a:xfrm>
            <a:off x="7315200" y="2468880"/>
            <a:ext cx="4419295"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Three-Tier AI Pipeline</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Concept A detail. Validation → Extraction → Future custom model.</a:t>
            </a:r>
          </a:p>
        </p:txBody>
      </p:sp>
      <p:sp>
        <p:nvSpPr>
          <p:cNvPr id="4" name="Tier 1 Header"/>
          <p:cNvSpPr/>
          <p:nvPr/>
        </p:nvSpPr>
        <p:spPr>
          <a:xfrm>
            <a:off x="457200" y="1828800"/>
            <a:ext cx="1127729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500" b="1" i="0">
                <a:solidFill>
                  <a:srgbClr val="FFFFFF"/>
                </a:solidFill>
                <a:latin typeface="Segoe Sans Display"/>
              </a:rPr>
              <a:t>Tier 1 · Validation (parallel)</a:t>
            </a:r>
          </a:p>
        </p:txBody>
      </p:sp>
      <p:sp>
        <p:nvSpPr>
          <p:cNvPr id="5" name="Tier 1 Body"/>
          <p:cNvSpPr/>
          <p:nvPr/>
        </p:nvSpPr>
        <p:spPr>
          <a:xfrm>
            <a:off x="457200" y="2286000"/>
            <a:ext cx="11277295" cy="9601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Arrow T1 T2"/>
          <p:cNvSpPr/>
          <p:nvPr/>
        </p:nvSpPr>
        <p:spPr>
          <a:xfrm>
            <a:off x="5867704" y="3291840"/>
            <a:ext cx="274320" cy="22860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ier 2 Header"/>
          <p:cNvSpPr/>
          <p:nvPr/>
        </p:nvSpPr>
        <p:spPr>
          <a:xfrm>
            <a:off x="457200" y="3566160"/>
            <a:ext cx="1127729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500" b="1" i="0">
                <a:solidFill>
                  <a:srgbClr val="FFFFFF"/>
                </a:solidFill>
                <a:latin typeface="Segoe Sans Display"/>
              </a:rPr>
              <a:t>Tier 2 · Measurement Extraction (v1)</a:t>
            </a:r>
          </a:p>
        </p:txBody>
      </p:sp>
      <p:sp>
        <p:nvSpPr>
          <p:cNvPr id="8" name="Tier 2 Body"/>
          <p:cNvSpPr/>
          <p:nvPr/>
        </p:nvSpPr>
        <p:spPr>
          <a:xfrm>
            <a:off x="457200" y="4023360"/>
            <a:ext cx="11277295" cy="9601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Arrow T2 T3"/>
          <p:cNvSpPr/>
          <p:nvPr/>
        </p:nvSpPr>
        <p:spPr>
          <a:xfrm>
            <a:off x="5867704" y="5029200"/>
            <a:ext cx="274320" cy="22860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er 3 Header"/>
          <p:cNvSpPr/>
          <p:nvPr/>
        </p:nvSpPr>
        <p:spPr>
          <a:xfrm>
            <a:off x="457200" y="5303520"/>
            <a:ext cx="1127729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500" b="1" i="0">
                <a:solidFill>
                  <a:srgbClr val="FFFFFF"/>
                </a:solidFill>
                <a:latin typeface="Segoe Sans Display"/>
              </a:rPr>
              <a:t>Tier 3 · Custom Model (v2 planned)</a:t>
            </a:r>
          </a:p>
        </p:txBody>
      </p:sp>
      <p:sp>
        <p:nvSpPr>
          <p:cNvPr id="11" name="Tier 3 Body"/>
          <p:cNvSpPr/>
          <p:nvPr/>
        </p:nvSpPr>
        <p:spPr>
          <a:xfrm>
            <a:off x="457200" y="5760720"/>
            <a:ext cx="11277295"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Assessment Request Flow</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End-to-end happy path from POST to fit result.</a:t>
            </a:r>
          </a:p>
        </p:txBody>
      </p:sp>
      <p:sp>
        <p:nvSpPr>
          <p:cNvPr id="4" name="Step 1 Oval"/>
          <p:cNvSpPr/>
          <p:nvPr/>
        </p:nvSpPr>
        <p:spPr>
          <a:xfrm>
            <a:off x="457200" y="2011680"/>
            <a:ext cx="457200" cy="45720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600" b="1" i="0">
                <a:solidFill>
                  <a:srgbClr val="FFFFFF"/>
                </a:solidFill>
                <a:latin typeface="Segoe Sans Display"/>
              </a:rPr>
              <a:t>1</a:t>
            </a:r>
          </a:p>
        </p:txBody>
      </p:sp>
      <p:sp>
        <p:nvSpPr>
          <p:cNvPr id="5" name="Step 1 Card"/>
          <p:cNvSpPr/>
          <p:nvPr/>
        </p:nvSpPr>
        <p:spPr>
          <a:xfrm>
            <a:off x="457200" y="2560320"/>
            <a:ext cx="1463040"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tIns="91440" bIns="91440"/>
          <a:lstStyle/>
          <a:p>
            <a:pPr algn="ctr"/>
            <a:r>
              <a:rPr sz="1000" b="0" i="0">
                <a:solidFill>
                  <a:srgbClr val="1F1F1F"/>
                </a:solidFill>
                <a:latin typeface="Segoe Sans Display"/>
              </a:rPr>
              <a:t>Frontend POST /assessments</a:t>
            </a:r>
          </a:p>
        </p:txBody>
      </p:sp>
      <p:sp>
        <p:nvSpPr>
          <p:cNvPr id="6" name="Arrow 1 2"/>
          <p:cNvSpPr/>
          <p:nvPr/>
        </p:nvSpPr>
        <p:spPr>
          <a:xfrm>
            <a:off x="1965960" y="2926080"/>
            <a:ext cx="228600" cy="137160"/>
          </a:xfrm>
          <a:prstGeom prst="right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Step 2 Oval"/>
          <p:cNvSpPr/>
          <p:nvPr/>
        </p:nvSpPr>
        <p:spPr>
          <a:xfrm>
            <a:off x="2240280" y="2011680"/>
            <a:ext cx="457200" cy="45720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600" b="1" i="0">
                <a:solidFill>
                  <a:srgbClr val="FFFFFF"/>
                </a:solidFill>
                <a:latin typeface="Segoe Sans Display"/>
              </a:rPr>
              <a:t>2</a:t>
            </a:r>
          </a:p>
        </p:txBody>
      </p:sp>
      <p:sp>
        <p:nvSpPr>
          <p:cNvPr id="8" name="Step 2 Card"/>
          <p:cNvSpPr/>
          <p:nvPr/>
        </p:nvSpPr>
        <p:spPr>
          <a:xfrm>
            <a:off x="2240280" y="2560320"/>
            <a:ext cx="1463040"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tIns="91440" bIns="91440"/>
          <a:lstStyle/>
          <a:p>
            <a:pPr algn="ctr"/>
            <a:r>
              <a:rPr sz="1000" b="0" i="0">
                <a:solidFill>
                  <a:srgbClr val="1F1F1F"/>
                </a:solidFill>
                <a:latin typeface="Segoe Sans Display"/>
              </a:rPr>
              <a:t>Auth (JWT) + rate limit</a:t>
            </a:r>
          </a:p>
        </p:txBody>
      </p:sp>
      <p:sp>
        <p:nvSpPr>
          <p:cNvPr id="9" name="Arrow 2 3"/>
          <p:cNvSpPr/>
          <p:nvPr/>
        </p:nvSpPr>
        <p:spPr>
          <a:xfrm>
            <a:off x="3749039" y="2926080"/>
            <a:ext cx="228600" cy="137160"/>
          </a:xfrm>
          <a:prstGeom prst="right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Step 3 Oval"/>
          <p:cNvSpPr/>
          <p:nvPr/>
        </p:nvSpPr>
        <p:spPr>
          <a:xfrm>
            <a:off x="4023360" y="2011680"/>
            <a:ext cx="457200" cy="45720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600" b="1" i="0">
                <a:solidFill>
                  <a:srgbClr val="FFFFFF"/>
                </a:solidFill>
                <a:latin typeface="Segoe Sans Display"/>
              </a:rPr>
              <a:t>3</a:t>
            </a:r>
          </a:p>
        </p:txBody>
      </p:sp>
      <p:sp>
        <p:nvSpPr>
          <p:cNvPr id="11" name="Step 3 Card"/>
          <p:cNvSpPr/>
          <p:nvPr/>
        </p:nvSpPr>
        <p:spPr>
          <a:xfrm>
            <a:off x="4023360" y="2560320"/>
            <a:ext cx="1463040"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tIns="91440" bIns="91440"/>
          <a:lstStyle/>
          <a:p>
            <a:pPr algn="ctr"/>
            <a:r>
              <a:rPr sz="1000" b="0" i="0">
                <a:solidFill>
                  <a:srgbClr val="1F1F1F"/>
                </a:solidFill>
                <a:latin typeface="Segoe Sans Display"/>
              </a:rPr>
              <a:t>Image upload (in-memory or Blob if &gt; 4 MB)</a:t>
            </a:r>
          </a:p>
        </p:txBody>
      </p:sp>
      <p:sp>
        <p:nvSpPr>
          <p:cNvPr id="12" name="Arrow 3 4"/>
          <p:cNvSpPr/>
          <p:nvPr/>
        </p:nvSpPr>
        <p:spPr>
          <a:xfrm>
            <a:off x="5532120" y="2926080"/>
            <a:ext cx="228600" cy="137160"/>
          </a:xfrm>
          <a:prstGeom prst="right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Step 4 Oval"/>
          <p:cNvSpPr/>
          <p:nvPr/>
        </p:nvSpPr>
        <p:spPr>
          <a:xfrm>
            <a:off x="5806440" y="2011680"/>
            <a:ext cx="457200" cy="45720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600" b="1" i="0">
                <a:solidFill>
                  <a:srgbClr val="FFFFFF"/>
                </a:solidFill>
                <a:latin typeface="Segoe Sans Display"/>
              </a:rPr>
              <a:t>4</a:t>
            </a:r>
          </a:p>
        </p:txBody>
      </p:sp>
      <p:sp>
        <p:nvSpPr>
          <p:cNvPr id="14" name="Step 4 Card"/>
          <p:cNvSpPr/>
          <p:nvPr/>
        </p:nvSpPr>
        <p:spPr>
          <a:xfrm>
            <a:off x="5806440" y="2560320"/>
            <a:ext cx="1463040"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tIns="91440" bIns="91440"/>
          <a:lstStyle/>
          <a:p>
            <a:pPr algn="ctr"/>
            <a:r>
              <a:rPr sz="1000" b="0" i="0">
                <a:solidFill>
                  <a:srgbClr val="1F1F1F"/>
                </a:solidFill>
                <a:latin typeface="Segoe Sans Display"/>
              </a:rPr>
              <a:t>Tier 1: Validate (Vision + Content Safety + Defender)</a:t>
            </a:r>
          </a:p>
        </p:txBody>
      </p:sp>
      <p:sp>
        <p:nvSpPr>
          <p:cNvPr id="15" name="Arrow 4 5"/>
          <p:cNvSpPr/>
          <p:nvPr/>
        </p:nvSpPr>
        <p:spPr>
          <a:xfrm>
            <a:off x="7315200" y="2926080"/>
            <a:ext cx="228600" cy="137160"/>
          </a:xfrm>
          <a:prstGeom prst="right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tep 5 Oval"/>
          <p:cNvSpPr/>
          <p:nvPr/>
        </p:nvSpPr>
        <p:spPr>
          <a:xfrm>
            <a:off x="7589520" y="2011680"/>
            <a:ext cx="457200" cy="45720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600" b="1" i="0">
                <a:solidFill>
                  <a:srgbClr val="FFFFFF"/>
                </a:solidFill>
                <a:latin typeface="Segoe Sans Display"/>
              </a:rPr>
              <a:t>5</a:t>
            </a:r>
          </a:p>
        </p:txBody>
      </p:sp>
      <p:sp>
        <p:nvSpPr>
          <p:cNvPr id="17" name="Step 5 Card"/>
          <p:cNvSpPr/>
          <p:nvPr/>
        </p:nvSpPr>
        <p:spPr>
          <a:xfrm>
            <a:off x="7589520" y="2560320"/>
            <a:ext cx="1463040"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tIns="91440" bIns="91440"/>
          <a:lstStyle/>
          <a:p>
            <a:pPr algn="ctr"/>
            <a:r>
              <a:rPr sz="1000" b="0" i="0">
                <a:solidFill>
                  <a:srgbClr val="1F1F1F"/>
                </a:solidFill>
                <a:latin typeface="Segoe Sans Display"/>
              </a:rPr>
              <a:t>Tier 2: Extract measurements (GPT-4o + height)</a:t>
            </a:r>
          </a:p>
        </p:txBody>
      </p:sp>
      <p:sp>
        <p:nvSpPr>
          <p:cNvPr id="18" name="Arrow 5 6"/>
          <p:cNvSpPr/>
          <p:nvPr/>
        </p:nvSpPr>
        <p:spPr>
          <a:xfrm>
            <a:off x="9098280" y="2926080"/>
            <a:ext cx="228600" cy="137160"/>
          </a:xfrm>
          <a:prstGeom prst="right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Step 6 Oval"/>
          <p:cNvSpPr/>
          <p:nvPr/>
        </p:nvSpPr>
        <p:spPr>
          <a:xfrm>
            <a:off x="9372600" y="2011680"/>
            <a:ext cx="457200" cy="45720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600" b="1" i="0">
                <a:solidFill>
                  <a:srgbClr val="FFFFFF"/>
                </a:solidFill>
                <a:latin typeface="Segoe Sans Display"/>
              </a:rPr>
              <a:t>6</a:t>
            </a:r>
          </a:p>
        </p:txBody>
      </p:sp>
      <p:sp>
        <p:nvSpPr>
          <p:cNvPr id="20" name="Step 6 Card"/>
          <p:cNvSpPr/>
          <p:nvPr/>
        </p:nvSpPr>
        <p:spPr>
          <a:xfrm>
            <a:off x="9372600" y="2560320"/>
            <a:ext cx="1463040"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tIns="91440" bIns="91440"/>
          <a:lstStyle/>
          <a:p>
            <a:pPr algn="ctr"/>
            <a:r>
              <a:rPr sz="1000" b="0" i="0">
                <a:solidFill>
                  <a:srgbClr val="1F1F1F"/>
                </a:solidFill>
                <a:latin typeface="Segoe Sans Display"/>
              </a:rPr>
              <a:t>Compare vs garment data (FitComparisonEngine)</a:t>
            </a:r>
          </a:p>
        </p:txBody>
      </p:sp>
      <p:sp>
        <p:nvSpPr>
          <p:cNvPr id="21" name="Arrow 6 7"/>
          <p:cNvSpPr/>
          <p:nvPr/>
        </p:nvSpPr>
        <p:spPr>
          <a:xfrm>
            <a:off x="10058400" y="3520440"/>
            <a:ext cx="228600" cy="27432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tep 7 Oval"/>
          <p:cNvSpPr/>
          <p:nvPr/>
        </p:nvSpPr>
        <p:spPr>
          <a:xfrm>
            <a:off x="9372600" y="3931920"/>
            <a:ext cx="457200" cy="45720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600" b="1" i="0">
                <a:solidFill>
                  <a:srgbClr val="FFFFFF"/>
                </a:solidFill>
                <a:latin typeface="Segoe Sans Display"/>
              </a:rPr>
              <a:t>7</a:t>
            </a:r>
          </a:p>
        </p:txBody>
      </p:sp>
      <p:sp>
        <p:nvSpPr>
          <p:cNvPr id="23" name="Step 7 Card"/>
          <p:cNvSpPr/>
          <p:nvPr/>
        </p:nvSpPr>
        <p:spPr>
          <a:xfrm>
            <a:off x="7589520" y="3931920"/>
            <a:ext cx="1737360"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tIns="91440" bIns="91440"/>
          <a:lstStyle/>
          <a:p>
            <a:pPr algn="ctr"/>
            <a:r>
              <a:rPr sz="1000" b="0" i="0">
                <a:solidFill>
                  <a:srgbClr val="1F1F1F"/>
                </a:solidFill>
                <a:latin typeface="Segoe Sans Display"/>
              </a:rPr>
              <a:t>Return result + audit + purge image</a:t>
            </a:r>
          </a:p>
        </p:txBody>
      </p:sp>
      <p:sp>
        <p:nvSpPr>
          <p:cNvPr id="24" name="Bottom Strip"/>
          <p:cNvSpPr/>
          <p:nvPr/>
        </p:nvSpPr>
        <p:spPr>
          <a:xfrm>
            <a:off x="457200" y="5303520"/>
            <a:ext cx="11277295"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274320" rIns="182880" tIns="137160" bIns="91440"/>
          <a:lstStyle/>
          <a:p>
            <a:pPr algn="ctr"/>
            <a:r>
              <a:rPr sz="1200" b="0" i="0">
                <a:solidFill>
                  <a:srgbClr val="1F1F1F"/>
                </a:solidFill>
                <a:latin typeface="Segoe Sans Display"/>
              </a:rPr>
              <a:t>p95 latency target: &lt; 5 s · Async queue triggers above 50 depth or 4 s p95 · Failures return size chart fallback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Multi-Tenant Data Architecture</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Cosmos DB layout with hierarchical partition keys for tenant isolation.</a:t>
            </a:r>
          </a:p>
        </p:txBody>
      </p:sp>
      <p:sp>
        <p:nvSpPr>
          <p:cNvPr id="4" name="Cosmos Header"/>
          <p:cNvSpPr/>
          <p:nvPr/>
        </p:nvSpPr>
        <p:spPr>
          <a:xfrm>
            <a:off x="457200" y="1828800"/>
            <a:ext cx="1127729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400" b="1" i="0">
                <a:solidFill>
                  <a:srgbClr val="FFFFFF"/>
                </a:solidFill>
                <a:latin typeface="Segoe Sans Display"/>
              </a:rPr>
              <a:t>Azure Cosmos DB Account — Database: fitassess (Autoscale 400–4000 RU/s)</a:t>
            </a:r>
          </a:p>
        </p:txBody>
      </p:sp>
      <p:sp>
        <p:nvSpPr>
          <p:cNvPr id="5" name="Container Tenants"/>
          <p:cNvSpPr/>
          <p:nvPr/>
        </p:nvSpPr>
        <p:spPr>
          <a:xfrm>
            <a:off x="640080" y="2423160"/>
            <a:ext cx="5303520"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Container Garments"/>
          <p:cNvSpPr/>
          <p:nvPr/>
        </p:nvSpPr>
        <p:spPr>
          <a:xfrm>
            <a:off x="6126480" y="2423160"/>
            <a:ext cx="5394960"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Container Profiles"/>
          <p:cNvSpPr/>
          <p:nvPr/>
        </p:nvSpPr>
        <p:spPr>
          <a:xfrm>
            <a:off x="640080" y="3200400"/>
            <a:ext cx="5303520"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ontainer Assessments"/>
          <p:cNvSpPr/>
          <p:nvPr/>
        </p:nvSpPr>
        <p:spPr>
          <a:xfrm>
            <a:off x="6126480" y="3200400"/>
            <a:ext cx="5394960"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ontainer Audit"/>
          <p:cNvSpPr/>
          <p:nvPr/>
        </p:nvSpPr>
        <p:spPr>
          <a:xfrm>
            <a:off x="640080" y="3977639"/>
            <a:ext cx="11094415"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57200" y="4846320"/>
            <a:ext cx="11277295" cy="457200"/>
          </a:xfrm>
          <a:prstGeom prst="rect">
            <a:avLst/>
          </a:prstGeom>
          <a:noFill/>
        </p:spPr>
        <p:txBody>
          <a:bodyPr wrap="square">
            <a:spAutoFit/>
          </a:bodyPr>
          <a:lstStyle/>
          <a:p>
            <a:pPr algn="l"/>
            <a:r>
              <a:rPr sz="1100" b="0" i="1">
                <a:solidFill>
                  <a:srgbClr val="0B5594"/>
                </a:solidFill>
                <a:latin typeface="Segoe Sans Display"/>
              </a:rPr>
              <a:t>Hierarchical partition key: /tenantId → /entityType → /entityId. Repository&lt;T&gt; enforces tenant context — cross-tenant queries fail to compile.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Network &amp; Security Topology</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Zero-trust architecture with private endpoints and managed identity.</a:t>
            </a:r>
          </a:p>
        </p:txBody>
      </p:sp>
      <p:sp>
        <p:nvSpPr>
          <p:cNvPr id="4" name="Layer Internet"/>
          <p:cNvSpPr/>
          <p:nvPr/>
        </p:nvSpPr>
        <p:spPr>
          <a:xfrm>
            <a:off x="457200" y="1828800"/>
            <a:ext cx="11277295" cy="50292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Arrow L1 L2"/>
          <p:cNvSpPr/>
          <p:nvPr/>
        </p:nvSpPr>
        <p:spPr>
          <a:xfrm>
            <a:off x="5867704" y="2359152"/>
            <a:ext cx="228600" cy="18288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Layer Public"/>
          <p:cNvSpPr/>
          <p:nvPr/>
        </p:nvSpPr>
        <p:spPr>
          <a:xfrm>
            <a:off x="457200" y="2578608"/>
            <a:ext cx="1127729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200" b="1" i="0">
                <a:solidFill>
                  <a:srgbClr val="FFFFFF"/>
                </a:solidFill>
                <a:latin typeface="Segoe Sans Display"/>
              </a:rPr>
              <a:t>Public Surface — ACA Ingress (HTTPS) — WAF / rate limit</a:t>
            </a:r>
          </a:p>
        </p:txBody>
      </p:sp>
      <p:sp>
        <p:nvSpPr>
          <p:cNvPr id="7" name="Arrow L2 L3"/>
          <p:cNvSpPr/>
          <p:nvPr/>
        </p:nvSpPr>
        <p:spPr>
          <a:xfrm>
            <a:off x="5867704" y="3063240"/>
            <a:ext cx="228600" cy="18288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Layer ACA"/>
          <p:cNvSpPr/>
          <p:nvPr/>
        </p:nvSpPr>
        <p:spPr>
          <a:xfrm>
            <a:off x="457200" y="3291840"/>
            <a:ext cx="11277295" cy="8229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Arrow L3 L4"/>
          <p:cNvSpPr/>
          <p:nvPr/>
        </p:nvSpPr>
        <p:spPr>
          <a:xfrm>
            <a:off x="5867704" y="4160520"/>
            <a:ext cx="228600" cy="18288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Layer Private Header"/>
          <p:cNvSpPr/>
          <p:nvPr/>
        </p:nvSpPr>
        <p:spPr>
          <a:xfrm>
            <a:off x="457200" y="4389120"/>
            <a:ext cx="1127729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100" b="1" i="0">
                <a:solidFill>
                  <a:srgbClr val="FFFFFF"/>
                </a:solidFill>
                <a:latin typeface="Segoe Sans Display"/>
              </a:rPr>
              <a:t>Private Endpoint Subnet</a:t>
            </a:r>
          </a:p>
        </p:txBody>
      </p:sp>
      <p:sp>
        <p:nvSpPr>
          <p:cNvPr id="11" name="PE Cosmos"/>
          <p:cNvSpPr/>
          <p:nvPr/>
        </p:nvSpPr>
        <p:spPr>
          <a:xfrm>
            <a:off x="3200400" y="4434840"/>
            <a:ext cx="1828800" cy="36576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900" b="0" i="0">
                <a:solidFill>
                  <a:srgbClr val="1F1F1F"/>
                </a:solidFill>
                <a:latin typeface="Segoe Sans Display"/>
              </a:rPr>
              <a:t>Cosmos DB (private)</a:t>
            </a:r>
          </a:p>
        </p:txBody>
      </p:sp>
      <p:sp>
        <p:nvSpPr>
          <p:cNvPr id="12" name="PE KeyVault"/>
          <p:cNvSpPr/>
          <p:nvPr/>
        </p:nvSpPr>
        <p:spPr>
          <a:xfrm>
            <a:off x="5212080" y="4434840"/>
            <a:ext cx="1828800" cy="36576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900" b="0" i="0">
                <a:solidFill>
                  <a:srgbClr val="1F1F1F"/>
                </a:solidFill>
                <a:latin typeface="Segoe Sans Display"/>
              </a:rPr>
              <a:t>Key Vault (private)</a:t>
            </a:r>
          </a:p>
        </p:txBody>
      </p:sp>
      <p:sp>
        <p:nvSpPr>
          <p:cNvPr id="13" name="PE Blob"/>
          <p:cNvSpPr/>
          <p:nvPr/>
        </p:nvSpPr>
        <p:spPr>
          <a:xfrm>
            <a:off x="7223760" y="4434840"/>
            <a:ext cx="1828800" cy="36576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900" b="0" i="0">
                <a:solidFill>
                  <a:srgbClr val="1F1F1F"/>
                </a:solidFill>
                <a:latin typeface="Segoe Sans Display"/>
              </a:rPr>
              <a:t>Blob Storage</a:t>
            </a:r>
          </a:p>
        </p:txBody>
      </p:sp>
      <p:sp>
        <p:nvSpPr>
          <p:cNvPr id="14" name="PE ServiceBus"/>
          <p:cNvSpPr/>
          <p:nvPr/>
        </p:nvSpPr>
        <p:spPr>
          <a:xfrm>
            <a:off x="9235440" y="4434840"/>
            <a:ext cx="1828800" cy="36576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900" b="0" i="0">
                <a:solidFill>
                  <a:srgbClr val="1F1F1F"/>
                </a:solidFill>
                <a:latin typeface="Segoe Sans Display"/>
              </a:rPr>
              <a:t>Service Bus</a:t>
            </a:r>
          </a:p>
        </p:txBody>
      </p:sp>
      <p:sp>
        <p:nvSpPr>
          <p:cNvPr id="15" name="Arrow L4 L5"/>
          <p:cNvSpPr/>
          <p:nvPr/>
        </p:nvSpPr>
        <p:spPr>
          <a:xfrm>
            <a:off x="5867704" y="4892040"/>
            <a:ext cx="228600" cy="18288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Layer AI Header"/>
          <p:cNvSpPr/>
          <p:nvPr/>
        </p:nvSpPr>
        <p:spPr>
          <a:xfrm>
            <a:off x="457200" y="5120640"/>
            <a:ext cx="1127729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100" b="1" i="0">
                <a:solidFill>
                  <a:srgbClr val="FFFFFF"/>
                </a:solidFill>
                <a:latin typeface="Segoe Sans Display"/>
              </a:rPr>
              <a:t>Azure AI Plane (managed identity auth)</a:t>
            </a:r>
          </a:p>
        </p:txBody>
      </p:sp>
      <p:sp>
        <p:nvSpPr>
          <p:cNvPr id="17" name="AI OpenAI"/>
          <p:cNvSpPr/>
          <p:nvPr/>
        </p:nvSpPr>
        <p:spPr>
          <a:xfrm>
            <a:off x="4114800" y="5166360"/>
            <a:ext cx="1920240" cy="36576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900" b="0" i="0">
                <a:solidFill>
                  <a:srgbClr val="1F1F1F"/>
                </a:solidFill>
                <a:latin typeface="Segoe Sans Display"/>
              </a:rPr>
              <a:t>OpenAI (MI)</a:t>
            </a:r>
          </a:p>
        </p:txBody>
      </p:sp>
      <p:sp>
        <p:nvSpPr>
          <p:cNvPr id="18" name="AI Vision"/>
          <p:cNvSpPr/>
          <p:nvPr/>
        </p:nvSpPr>
        <p:spPr>
          <a:xfrm>
            <a:off x="6217920" y="5166360"/>
            <a:ext cx="1920240" cy="36576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900" b="0" i="0">
                <a:solidFill>
                  <a:srgbClr val="1F1F1F"/>
                </a:solidFill>
                <a:latin typeface="Segoe Sans Display"/>
              </a:rPr>
              <a:t>AI Vision (MI)</a:t>
            </a:r>
          </a:p>
        </p:txBody>
      </p:sp>
      <p:sp>
        <p:nvSpPr>
          <p:cNvPr id="19" name="AI ContentSafety"/>
          <p:cNvSpPr/>
          <p:nvPr/>
        </p:nvSpPr>
        <p:spPr>
          <a:xfrm>
            <a:off x="8321040" y="5166360"/>
            <a:ext cx="2103120" cy="365760"/>
          </a:xfrm>
          <a:prstGeom prst="rect">
            <a:avLst/>
          </a:prstGeom>
          <a:solidFill>
            <a:srgbClr val="FFFFFF"/>
          </a:solidFill>
          <a:ln w="6350">
            <a:solidFill>
              <a:srgbClr val="1436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900" b="0" i="0">
                <a:solidFill>
                  <a:srgbClr val="1F1F1F"/>
                </a:solidFill>
                <a:latin typeface="Segoe Sans Display"/>
              </a:rPr>
              <a:t>Content Safety (MI)</a:t>
            </a:r>
          </a:p>
        </p:txBody>
      </p:sp>
      <p:sp>
        <p:nvSpPr>
          <p:cNvPr id="20" name="Layer Observability"/>
          <p:cNvSpPr/>
          <p:nvPr/>
        </p:nvSpPr>
        <p:spPr>
          <a:xfrm>
            <a:off x="457200" y="5669280"/>
            <a:ext cx="11277295"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274320" rIns="182880" tIns="91440" bIns="91440"/>
          <a:lstStyle/>
          <a:p>
            <a:pPr algn="l"/>
            <a:r>
              <a:rPr sz="1100" b="0" i="0">
                <a:solidFill>
                  <a:srgbClr val="1F1F1F"/>
                </a:solidFill>
                <a:latin typeface="Segoe Sans Display"/>
              </a:rPr>
              <a:t>Observability — Azure Monitor (App Insights) · Log Analytics (90 d hot, 1 y cold)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Deployment Topology</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Environment promotion: Dev → Staging → Production (multi-AZ).</a:t>
            </a:r>
          </a:p>
        </p:txBody>
      </p:sp>
      <p:sp>
        <p:nvSpPr>
          <p:cNvPr id="4" name="GitHub Repo"/>
          <p:cNvSpPr/>
          <p:nvPr/>
        </p:nvSpPr>
        <p:spPr>
          <a:xfrm>
            <a:off x="3200400" y="1828800"/>
            <a:ext cx="5790895" cy="5029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lstStyle/>
          <a:p>
            <a:pPr algn="ctr"/>
            <a:r>
              <a:rPr sz="1200" b="1" i="0">
                <a:solidFill>
                  <a:srgbClr val="FFFFFF"/>
                </a:solidFill>
                <a:latin typeface="Segoe Sans Display"/>
              </a:rPr>
              <a:t>GitHub Repository (main / feature branches) → GitHub Actions</a:t>
            </a:r>
          </a:p>
        </p:txBody>
      </p:sp>
      <p:sp>
        <p:nvSpPr>
          <p:cNvPr id="5" name="Arrow GH Dev"/>
          <p:cNvSpPr/>
          <p:nvPr/>
        </p:nvSpPr>
        <p:spPr>
          <a:xfrm>
            <a:off x="5989320" y="2377440"/>
            <a:ext cx="228600" cy="22860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Env Dev"/>
          <p:cNvSpPr/>
          <p:nvPr/>
        </p:nvSpPr>
        <p:spPr>
          <a:xfrm>
            <a:off x="1371600" y="2697480"/>
            <a:ext cx="9448495" cy="6858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Arrow Dev Stg"/>
          <p:cNvSpPr/>
          <p:nvPr/>
        </p:nvSpPr>
        <p:spPr>
          <a:xfrm>
            <a:off x="5989320" y="3456432"/>
            <a:ext cx="228600" cy="22860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400800" y="3456432"/>
            <a:ext cx="2286000" cy="228600"/>
          </a:xfrm>
          <a:prstGeom prst="rect">
            <a:avLst/>
          </a:prstGeom>
          <a:noFill/>
        </p:spPr>
        <p:txBody>
          <a:bodyPr wrap="square">
            <a:spAutoFit/>
          </a:bodyPr>
          <a:lstStyle/>
          <a:p>
            <a:pPr algn="l"/>
            <a:r>
              <a:rPr sz="900" b="0" i="1">
                <a:solidFill>
                  <a:srgbClr val="6B6B6B"/>
                </a:solidFill>
                <a:latin typeface="Segoe Sans Display"/>
              </a:rPr>
              <a:t>manual gate / smoke tests</a:t>
            </a:r>
          </a:p>
        </p:txBody>
      </p:sp>
      <p:sp>
        <p:nvSpPr>
          <p:cNvPr id="9" name="Env Staging"/>
          <p:cNvSpPr/>
          <p:nvPr/>
        </p:nvSpPr>
        <p:spPr>
          <a:xfrm>
            <a:off x="1371600" y="3794760"/>
            <a:ext cx="9448495" cy="6858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Arrow Stg Prod"/>
          <p:cNvSpPr/>
          <p:nvPr/>
        </p:nvSpPr>
        <p:spPr>
          <a:xfrm>
            <a:off x="5989320" y="4553712"/>
            <a:ext cx="228600" cy="22860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400800" y="4553712"/>
            <a:ext cx="1828800" cy="228600"/>
          </a:xfrm>
          <a:prstGeom prst="rect">
            <a:avLst/>
          </a:prstGeom>
          <a:noFill/>
        </p:spPr>
        <p:txBody>
          <a:bodyPr wrap="square">
            <a:spAutoFit/>
          </a:bodyPr>
          <a:lstStyle/>
          <a:p>
            <a:pPr algn="l"/>
            <a:r>
              <a:rPr sz="900" b="0" i="1">
                <a:solidFill>
                  <a:srgbClr val="6B6B6B"/>
                </a:solidFill>
                <a:latin typeface="Segoe Sans Display"/>
              </a:rPr>
              <a:t>manual prod gate</a:t>
            </a:r>
          </a:p>
        </p:txBody>
      </p:sp>
      <p:sp>
        <p:nvSpPr>
          <p:cNvPr id="12" name="Env Prod Header"/>
          <p:cNvSpPr/>
          <p:nvPr/>
        </p:nvSpPr>
        <p:spPr>
          <a:xfrm>
            <a:off x="1371600" y="4892040"/>
            <a:ext cx="944849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28600" rIns="182880"/>
          <a:lstStyle/>
          <a:p>
            <a:pPr algn="l"/>
            <a:r>
              <a:rPr sz="1300" b="1" i="0">
                <a:solidFill>
                  <a:srgbClr val="FFFFFF"/>
                </a:solidFill>
                <a:latin typeface="Segoe Sans Display"/>
              </a:rPr>
              <a:t>Production Environment — Region: West Europe</a:t>
            </a:r>
          </a:p>
        </p:txBody>
      </p:sp>
      <p:sp>
        <p:nvSpPr>
          <p:cNvPr id="13" name="Env Prod Body"/>
          <p:cNvSpPr/>
          <p:nvPr/>
        </p:nvSpPr>
        <p:spPr>
          <a:xfrm>
            <a:off x="1371600" y="5349240"/>
            <a:ext cx="9448495" cy="914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CI/CD Pipeline</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17-stage pipeline: build, test, scan, deploy.</a:t>
            </a:r>
          </a:p>
        </p:txBody>
      </p:sp>
      <p:sp>
        <p:nvSpPr>
          <p:cNvPr id="4" name="TextBox 3"/>
          <p:cNvSpPr txBox="1"/>
          <p:nvPr/>
        </p:nvSpPr>
        <p:spPr>
          <a:xfrm>
            <a:off x="457200" y="1828800"/>
            <a:ext cx="1645920" cy="320040"/>
          </a:xfrm>
          <a:prstGeom prst="rect">
            <a:avLst/>
          </a:prstGeom>
          <a:noFill/>
        </p:spPr>
        <p:txBody>
          <a:bodyPr wrap="square">
            <a:spAutoFit/>
          </a:bodyPr>
          <a:lstStyle/>
          <a:p>
            <a:pPr algn="l"/>
            <a:r>
              <a:rPr sz="1100" b="0" i="0">
                <a:solidFill>
                  <a:srgbClr val="0B5594"/>
                </a:solidFill>
                <a:latin typeface="Segoe Sans Display"/>
              </a:rPr>
              <a:t>Build &amp; Test</a:t>
            </a:r>
          </a:p>
        </p:txBody>
      </p:sp>
      <p:sp>
        <p:nvSpPr>
          <p:cNvPr id="5" name="Stage 1"/>
          <p:cNvSpPr/>
          <p:nvPr/>
        </p:nvSpPr>
        <p:spPr>
          <a:xfrm>
            <a:off x="2103120" y="1828800"/>
            <a:ext cx="155448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1"/>
            </a:pPr>
            <a:r>
              <a:rPr sz="900" b="0" i="0">
                <a:solidFill>
                  <a:srgbClr val="1F1F1F"/>
                </a:solidFill>
                <a:latin typeface="Segoe Sans Display"/>
              </a:rPr>
              <a:t>Lint/Format</a:t>
            </a:r>
          </a:p>
        </p:txBody>
      </p:sp>
      <p:sp>
        <p:nvSpPr>
          <p:cNvPr id="6" name="Stage 2"/>
          <p:cNvSpPr/>
          <p:nvPr/>
        </p:nvSpPr>
        <p:spPr>
          <a:xfrm>
            <a:off x="3749039" y="1828800"/>
            <a:ext cx="155448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2"/>
            </a:pPr>
            <a:r>
              <a:rPr sz="900" b="0" i="0">
                <a:solidFill>
                  <a:srgbClr val="1F1F1F"/>
                </a:solidFill>
                <a:latin typeface="Segoe Sans Display"/>
              </a:rPr>
              <a:t>Build (dotnet)</a:t>
            </a:r>
          </a:p>
        </p:txBody>
      </p:sp>
      <p:sp>
        <p:nvSpPr>
          <p:cNvPr id="7" name="Stage 3"/>
          <p:cNvSpPr/>
          <p:nvPr/>
        </p:nvSpPr>
        <p:spPr>
          <a:xfrm>
            <a:off x="5394960" y="1828800"/>
            <a:ext cx="155448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3"/>
            </a:pPr>
            <a:r>
              <a:rPr sz="900" b="0" i="0">
                <a:solidFill>
                  <a:srgbClr val="1F1F1F"/>
                </a:solidFill>
                <a:latin typeface="Segoe Sans Display"/>
              </a:rPr>
              <a:t>Unit Tests</a:t>
            </a:r>
          </a:p>
        </p:txBody>
      </p:sp>
      <p:sp>
        <p:nvSpPr>
          <p:cNvPr id="8" name="Stage 4"/>
          <p:cNvSpPr/>
          <p:nvPr/>
        </p:nvSpPr>
        <p:spPr>
          <a:xfrm>
            <a:off x="7040880" y="1828800"/>
            <a:ext cx="155448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4"/>
            </a:pPr>
            <a:r>
              <a:rPr sz="900" b="0" i="0">
                <a:solidFill>
                  <a:srgbClr val="1F1F1F"/>
                </a:solidFill>
                <a:latin typeface="Segoe Sans Display"/>
              </a:rPr>
              <a:t>Integration Tests</a:t>
            </a:r>
          </a:p>
        </p:txBody>
      </p:sp>
      <p:sp>
        <p:nvSpPr>
          <p:cNvPr id="9" name="Stage 5"/>
          <p:cNvSpPr/>
          <p:nvPr/>
        </p:nvSpPr>
        <p:spPr>
          <a:xfrm>
            <a:off x="8686800" y="1828800"/>
            <a:ext cx="155448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5"/>
            </a:pPr>
            <a:r>
              <a:rPr sz="900" b="0" i="0">
                <a:solidFill>
                  <a:srgbClr val="1F1F1F"/>
                </a:solidFill>
                <a:latin typeface="Segoe Sans Display"/>
              </a:rPr>
              <a:t>Contract Tests</a:t>
            </a:r>
          </a:p>
        </p:txBody>
      </p:sp>
      <p:sp>
        <p:nvSpPr>
          <p:cNvPr id="10" name="Stage 6"/>
          <p:cNvSpPr/>
          <p:nvPr/>
        </p:nvSpPr>
        <p:spPr>
          <a:xfrm>
            <a:off x="10332720" y="1828800"/>
            <a:ext cx="137160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6"/>
            </a:pPr>
            <a:r>
              <a:rPr sz="900" b="0" i="0">
                <a:solidFill>
                  <a:srgbClr val="1F1F1F"/>
                </a:solidFill>
                <a:latin typeface="Segoe Sans Display"/>
              </a:rPr>
              <a:t>Coverage ≥80%</a:t>
            </a:r>
          </a:p>
        </p:txBody>
      </p:sp>
      <p:sp>
        <p:nvSpPr>
          <p:cNvPr id="11" name="TextBox 10"/>
          <p:cNvSpPr txBox="1"/>
          <p:nvPr/>
        </p:nvSpPr>
        <p:spPr>
          <a:xfrm>
            <a:off x="457200" y="2606040"/>
            <a:ext cx="1645920" cy="320040"/>
          </a:xfrm>
          <a:prstGeom prst="rect">
            <a:avLst/>
          </a:prstGeom>
          <a:noFill/>
        </p:spPr>
        <p:txBody>
          <a:bodyPr wrap="square">
            <a:spAutoFit/>
          </a:bodyPr>
          <a:lstStyle/>
          <a:p>
            <a:pPr algn="l"/>
            <a:r>
              <a:rPr sz="1100" b="0" i="0">
                <a:solidFill>
                  <a:srgbClr val="0B5594"/>
                </a:solidFill>
                <a:latin typeface="Segoe Sans Display"/>
              </a:rPr>
              <a:t>Security Scan</a:t>
            </a:r>
          </a:p>
        </p:txBody>
      </p:sp>
      <p:sp>
        <p:nvSpPr>
          <p:cNvPr id="12" name="Stage 7"/>
          <p:cNvSpPr/>
          <p:nvPr/>
        </p:nvSpPr>
        <p:spPr>
          <a:xfrm>
            <a:off x="2103120" y="2606040"/>
            <a:ext cx="228600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7"/>
            </a:pPr>
            <a:r>
              <a:rPr sz="900" b="0" i="0">
                <a:solidFill>
                  <a:srgbClr val="1F1F1F"/>
                </a:solidFill>
                <a:latin typeface="Segoe Sans Display"/>
              </a:rPr>
              <a:t>SAST (CodeQL/Semgrep)</a:t>
            </a:r>
          </a:p>
        </p:txBody>
      </p:sp>
      <p:sp>
        <p:nvSpPr>
          <p:cNvPr id="13" name="Stage 8"/>
          <p:cNvSpPr/>
          <p:nvPr/>
        </p:nvSpPr>
        <p:spPr>
          <a:xfrm>
            <a:off x="4526280" y="2606040"/>
            <a:ext cx="228600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8"/>
            </a:pPr>
            <a:r>
              <a:rPr sz="900" b="0" i="0">
                <a:solidFill>
                  <a:srgbClr val="1F1F1F"/>
                </a:solidFill>
                <a:latin typeface="Segoe Sans Display"/>
              </a:rPr>
              <a:t>SCA (dependency scan)</a:t>
            </a:r>
          </a:p>
        </p:txBody>
      </p:sp>
      <p:sp>
        <p:nvSpPr>
          <p:cNvPr id="14" name="Stage 9"/>
          <p:cNvSpPr/>
          <p:nvPr/>
        </p:nvSpPr>
        <p:spPr>
          <a:xfrm>
            <a:off x="6949440" y="2606040"/>
            <a:ext cx="228600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9"/>
            </a:pPr>
            <a:r>
              <a:rPr sz="900" b="0" i="0">
                <a:solidFill>
                  <a:srgbClr val="1F1F1F"/>
                </a:solidFill>
                <a:latin typeface="Segoe Sans Display"/>
              </a:rPr>
              <a:t>SBOM (CycloneDX)</a:t>
            </a:r>
          </a:p>
        </p:txBody>
      </p:sp>
      <p:sp>
        <p:nvSpPr>
          <p:cNvPr id="15" name="TextBox 14"/>
          <p:cNvSpPr txBox="1"/>
          <p:nvPr/>
        </p:nvSpPr>
        <p:spPr>
          <a:xfrm>
            <a:off x="457200" y="3383280"/>
            <a:ext cx="1645920" cy="320040"/>
          </a:xfrm>
          <a:prstGeom prst="rect">
            <a:avLst/>
          </a:prstGeom>
          <a:noFill/>
        </p:spPr>
        <p:txBody>
          <a:bodyPr wrap="square">
            <a:spAutoFit/>
          </a:bodyPr>
          <a:lstStyle/>
          <a:p>
            <a:pPr algn="l"/>
            <a:r>
              <a:rPr sz="1100" b="0" i="0">
                <a:solidFill>
                  <a:srgbClr val="0B5594"/>
                </a:solidFill>
                <a:latin typeface="Segoe Sans Display"/>
              </a:rPr>
              <a:t>Container</a:t>
            </a:r>
          </a:p>
        </p:txBody>
      </p:sp>
      <p:sp>
        <p:nvSpPr>
          <p:cNvPr id="16" name="Stage 10"/>
          <p:cNvSpPr/>
          <p:nvPr/>
        </p:nvSpPr>
        <p:spPr>
          <a:xfrm>
            <a:off x="2103120" y="3383280"/>
            <a:ext cx="256032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10"/>
            </a:pPr>
            <a:r>
              <a:rPr sz="900" b="0" i="0">
                <a:solidFill>
                  <a:srgbClr val="1F1F1F"/>
                </a:solidFill>
                <a:latin typeface="Segoe Sans Display"/>
              </a:rPr>
              <a:t>Container Build (Docker)</a:t>
            </a:r>
          </a:p>
        </p:txBody>
      </p:sp>
      <p:sp>
        <p:nvSpPr>
          <p:cNvPr id="17" name="Stage 11"/>
          <p:cNvSpPr/>
          <p:nvPr/>
        </p:nvSpPr>
        <p:spPr>
          <a:xfrm>
            <a:off x="4800600" y="3383280"/>
            <a:ext cx="274320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11"/>
            </a:pPr>
            <a:r>
              <a:rPr sz="900" b="0" i="0">
                <a:solidFill>
                  <a:srgbClr val="1F1F1F"/>
                </a:solidFill>
                <a:latin typeface="Segoe Sans Display"/>
              </a:rPr>
              <a:t>Trivy Scan + Notation Sign</a:t>
            </a:r>
          </a:p>
        </p:txBody>
      </p:sp>
      <p:sp>
        <p:nvSpPr>
          <p:cNvPr id="18" name="TextBox 17"/>
          <p:cNvSpPr txBox="1"/>
          <p:nvPr/>
        </p:nvSpPr>
        <p:spPr>
          <a:xfrm>
            <a:off x="457200" y="4160520"/>
            <a:ext cx="1645920" cy="320040"/>
          </a:xfrm>
          <a:prstGeom prst="rect">
            <a:avLst/>
          </a:prstGeom>
          <a:noFill/>
        </p:spPr>
        <p:txBody>
          <a:bodyPr wrap="square">
            <a:spAutoFit/>
          </a:bodyPr>
          <a:lstStyle/>
          <a:p>
            <a:pPr algn="l"/>
            <a:r>
              <a:rPr sz="1100" b="0" i="0">
                <a:solidFill>
                  <a:srgbClr val="0B5594"/>
                </a:solidFill>
                <a:latin typeface="Segoe Sans Display"/>
              </a:rPr>
              <a:t>Staging Deploy</a:t>
            </a:r>
          </a:p>
        </p:txBody>
      </p:sp>
      <p:sp>
        <p:nvSpPr>
          <p:cNvPr id="19" name="Stage 12"/>
          <p:cNvSpPr/>
          <p:nvPr/>
        </p:nvSpPr>
        <p:spPr>
          <a:xfrm>
            <a:off x="2103120" y="4160520"/>
            <a:ext cx="256032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12"/>
            </a:pPr>
            <a:r>
              <a:rPr sz="900" b="0" i="0">
                <a:solidFill>
                  <a:srgbClr val="1F1F1F"/>
                </a:solidFill>
                <a:latin typeface="Segoe Sans Display"/>
              </a:rPr>
              <a:t>Bicep Deploy (what-if)</a:t>
            </a:r>
          </a:p>
        </p:txBody>
      </p:sp>
      <p:sp>
        <p:nvSpPr>
          <p:cNvPr id="20" name="Stage 13"/>
          <p:cNvSpPr/>
          <p:nvPr/>
        </p:nvSpPr>
        <p:spPr>
          <a:xfrm>
            <a:off x="4800600" y="4160520"/>
            <a:ext cx="256032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13"/>
            </a:pPr>
            <a:r>
              <a:rPr sz="900" b="0" i="0">
                <a:solidFill>
                  <a:srgbClr val="1F1F1F"/>
                </a:solidFill>
                <a:latin typeface="Segoe Sans Display"/>
              </a:rPr>
              <a:t>DAST Scan (OWASP ZAP)</a:t>
            </a:r>
          </a:p>
        </p:txBody>
      </p:sp>
      <p:sp>
        <p:nvSpPr>
          <p:cNvPr id="21" name="Stage 14"/>
          <p:cNvSpPr/>
          <p:nvPr/>
        </p:nvSpPr>
        <p:spPr>
          <a:xfrm>
            <a:off x="7498079" y="4160520"/>
            <a:ext cx="228600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14"/>
            </a:pPr>
            <a:r>
              <a:rPr sz="900" b="0" i="0">
                <a:solidFill>
                  <a:srgbClr val="1F1F1F"/>
                </a:solidFill>
                <a:latin typeface="Segoe Sans Display"/>
              </a:rPr>
              <a:t>E2E Smoke Tests</a:t>
            </a:r>
          </a:p>
        </p:txBody>
      </p:sp>
      <p:sp>
        <p:nvSpPr>
          <p:cNvPr id="22" name="Arrow Gate"/>
          <p:cNvSpPr/>
          <p:nvPr/>
        </p:nvSpPr>
        <p:spPr>
          <a:xfrm>
            <a:off x="5989320" y="4800600"/>
            <a:ext cx="228600" cy="22860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400800" y="4800600"/>
            <a:ext cx="1371600" cy="228600"/>
          </a:xfrm>
          <a:prstGeom prst="rect">
            <a:avLst/>
          </a:prstGeom>
          <a:noFill/>
        </p:spPr>
        <p:txBody>
          <a:bodyPr wrap="square">
            <a:spAutoFit/>
          </a:bodyPr>
          <a:lstStyle/>
          <a:p>
            <a:pPr algn="l"/>
            <a:r>
              <a:rPr sz="900" b="0" i="1">
                <a:solidFill>
                  <a:srgbClr val="6B6B6B"/>
                </a:solidFill>
                <a:latin typeface="Segoe Sans Display"/>
              </a:rPr>
              <a:t>manual gate</a:t>
            </a:r>
          </a:p>
        </p:txBody>
      </p:sp>
      <p:sp>
        <p:nvSpPr>
          <p:cNvPr id="24" name="TextBox 23"/>
          <p:cNvSpPr txBox="1"/>
          <p:nvPr/>
        </p:nvSpPr>
        <p:spPr>
          <a:xfrm>
            <a:off x="457200" y="5166360"/>
            <a:ext cx="1645920" cy="320040"/>
          </a:xfrm>
          <a:prstGeom prst="rect">
            <a:avLst/>
          </a:prstGeom>
          <a:noFill/>
        </p:spPr>
        <p:txBody>
          <a:bodyPr wrap="square">
            <a:spAutoFit/>
          </a:bodyPr>
          <a:lstStyle/>
          <a:p>
            <a:pPr algn="l"/>
            <a:r>
              <a:rPr sz="1100" b="0" i="0">
                <a:solidFill>
                  <a:srgbClr val="0B5594"/>
                </a:solidFill>
                <a:latin typeface="Segoe Sans Display"/>
              </a:rPr>
              <a:t>Prod Deploy</a:t>
            </a:r>
          </a:p>
        </p:txBody>
      </p:sp>
      <p:sp>
        <p:nvSpPr>
          <p:cNvPr id="25" name="Stage 15"/>
          <p:cNvSpPr/>
          <p:nvPr/>
        </p:nvSpPr>
        <p:spPr>
          <a:xfrm>
            <a:off x="2103120" y="5166360"/>
            <a:ext cx="274320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15"/>
            </a:pPr>
            <a:r>
              <a:rPr sz="900" b="0" i="0">
                <a:solidFill>
                  <a:srgbClr val="1F1F1F"/>
                </a:solidFill>
                <a:latin typeface="Segoe Sans Display"/>
              </a:rPr>
              <a:t>Bicep Deploy + Canary (10%)</a:t>
            </a:r>
          </a:p>
        </p:txBody>
      </p:sp>
      <p:sp>
        <p:nvSpPr>
          <p:cNvPr id="26" name="Stage 16"/>
          <p:cNvSpPr/>
          <p:nvPr/>
        </p:nvSpPr>
        <p:spPr>
          <a:xfrm>
            <a:off x="4983480" y="5166360"/>
            <a:ext cx="301752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16"/>
            </a:pPr>
            <a:r>
              <a:rPr sz="900" b="0" i="0">
                <a:solidFill>
                  <a:srgbClr val="1F1F1F"/>
                </a:solidFill>
                <a:latin typeface="Segoe Sans Display"/>
              </a:rPr>
              <a:t>Feature Flag Progressive Rollout</a:t>
            </a:r>
          </a:p>
        </p:txBody>
      </p:sp>
      <p:sp>
        <p:nvSpPr>
          <p:cNvPr id="27" name="Stage 17"/>
          <p:cNvSpPr/>
          <p:nvPr/>
        </p:nvSpPr>
        <p:spPr>
          <a:xfrm>
            <a:off x="8138160" y="5166360"/>
            <a:ext cx="3291840" cy="54864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marL="228600" indent="-228600">
              <a:buAutoNum type="arabicPeriod" startAt="17"/>
            </a:pPr>
            <a:r>
              <a:rPr sz="900" b="0" i="0">
                <a:solidFill>
                  <a:srgbClr val="1F1F1F"/>
                </a:solidFill>
                <a:latin typeface="Segoe Sans Display"/>
              </a:rPr>
              <a:t>Azure Monitor (auto-rollback on SLO breach)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Entity Relationship Model</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Domain entities and their relationships.</a:t>
            </a:r>
          </a:p>
        </p:txBody>
      </p:sp>
      <p:sp>
        <p:nvSpPr>
          <p:cNvPr id="4" name="Entity Tenant Header"/>
          <p:cNvSpPr/>
          <p:nvPr/>
        </p:nvSpPr>
        <p:spPr>
          <a:xfrm>
            <a:off x="4953304" y="1920240"/>
            <a:ext cx="2286000"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a:lstStyle/>
          <a:p>
            <a:pPr algn="ctr"/>
            <a:r>
              <a:rPr sz="1400" b="1" i="0">
                <a:solidFill>
                  <a:srgbClr val="FFFFFF"/>
                </a:solidFill>
                <a:latin typeface="Segoe Sans Display"/>
              </a:rPr>
              <a:t>Tenant</a:t>
            </a:r>
          </a:p>
        </p:txBody>
      </p:sp>
      <p:sp>
        <p:nvSpPr>
          <p:cNvPr id="5" name="Entity Tenant Body"/>
          <p:cNvSpPr/>
          <p:nvPr/>
        </p:nvSpPr>
        <p:spPr>
          <a:xfrm>
            <a:off x="4953304" y="2377440"/>
            <a:ext cx="2286000" cy="4114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/id (PK)</a:t>
            </a:r>
          </a:p>
        </p:txBody>
      </p:sp>
      <p:sp>
        <p:nvSpPr>
          <p:cNvPr id="6" name="Arrow Tenant Garment"/>
          <p:cNvSpPr/>
          <p:nvPr/>
        </p:nvSpPr>
        <p:spPr>
          <a:xfrm>
            <a:off x="4206240" y="2834640"/>
            <a:ext cx="228600" cy="32004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Arrow Tenant Profile"/>
          <p:cNvSpPr/>
          <p:nvPr/>
        </p:nvSpPr>
        <p:spPr>
          <a:xfrm>
            <a:off x="7772400" y="2834640"/>
            <a:ext cx="228600" cy="32004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3200400" y="2880360"/>
            <a:ext cx="914400" cy="228600"/>
          </a:xfrm>
          <a:prstGeom prst="rect">
            <a:avLst/>
          </a:prstGeom>
          <a:noFill/>
        </p:spPr>
        <p:txBody>
          <a:bodyPr wrap="square">
            <a:spAutoFit/>
          </a:bodyPr>
          <a:lstStyle/>
          <a:p>
            <a:pPr algn="r"/>
            <a:r>
              <a:rPr sz="1000" b="0" i="0">
                <a:solidFill>
                  <a:srgbClr val="14366E"/>
                </a:solidFill>
                <a:latin typeface="Segoe Sans Display"/>
              </a:rPr>
              <a:t>1:N</a:t>
            </a:r>
          </a:p>
        </p:txBody>
      </p:sp>
      <p:sp>
        <p:nvSpPr>
          <p:cNvPr id="9" name="TextBox 8"/>
          <p:cNvSpPr txBox="1"/>
          <p:nvPr/>
        </p:nvSpPr>
        <p:spPr>
          <a:xfrm>
            <a:off x="8046720" y="2880360"/>
            <a:ext cx="914400" cy="228600"/>
          </a:xfrm>
          <a:prstGeom prst="rect">
            <a:avLst/>
          </a:prstGeom>
          <a:noFill/>
        </p:spPr>
        <p:txBody>
          <a:bodyPr wrap="square">
            <a:spAutoFit/>
          </a:bodyPr>
          <a:lstStyle/>
          <a:p>
            <a:pPr algn="l"/>
            <a:r>
              <a:rPr sz="1000" b="0" i="0">
                <a:solidFill>
                  <a:srgbClr val="14366E"/>
                </a:solidFill>
                <a:latin typeface="Segoe Sans Display"/>
              </a:rPr>
              <a:t>1:N</a:t>
            </a:r>
          </a:p>
        </p:txBody>
      </p:sp>
      <p:sp>
        <p:nvSpPr>
          <p:cNvPr id="10" name="Entity Garment Header"/>
          <p:cNvSpPr/>
          <p:nvPr/>
        </p:nvSpPr>
        <p:spPr>
          <a:xfrm>
            <a:off x="731520" y="3246120"/>
            <a:ext cx="4114800"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a:lstStyle/>
          <a:p>
            <a:pPr algn="ctr"/>
            <a:r>
              <a:rPr sz="1400" b="1" i="0">
                <a:solidFill>
                  <a:srgbClr val="FFFFFF"/>
                </a:solidFill>
                <a:latin typeface="Segoe Sans Display"/>
              </a:rPr>
              <a:t>Garment</a:t>
            </a:r>
          </a:p>
        </p:txBody>
      </p:sp>
      <p:sp>
        <p:nvSpPr>
          <p:cNvPr id="11" name="Entity Garment Body"/>
          <p:cNvSpPr/>
          <p:nvPr/>
        </p:nvSpPr>
        <p:spPr>
          <a:xfrm>
            <a:off x="731520" y="3703320"/>
            <a:ext cx="4114800" cy="5029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/tenantId (PK), garmentId, sizeLabel</a:t>
            </a:r>
          </a:p>
        </p:txBody>
      </p:sp>
      <p:sp>
        <p:nvSpPr>
          <p:cNvPr id="12" name="Entity Profile Header"/>
          <p:cNvSpPr/>
          <p:nvPr/>
        </p:nvSpPr>
        <p:spPr>
          <a:xfrm>
            <a:off x="6400800" y="3246120"/>
            <a:ext cx="5029200"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a:lstStyle/>
          <a:p>
            <a:pPr algn="ctr"/>
            <a:r>
              <a:rPr sz="1400" b="1" i="0">
                <a:solidFill>
                  <a:srgbClr val="FFFFFF"/>
                </a:solidFill>
                <a:latin typeface="Segoe Sans Display"/>
              </a:rPr>
              <a:t>ShopperProfile</a:t>
            </a:r>
          </a:p>
        </p:txBody>
      </p:sp>
      <p:sp>
        <p:nvSpPr>
          <p:cNvPr id="13" name="Entity Profile Body"/>
          <p:cNvSpPr/>
          <p:nvPr/>
        </p:nvSpPr>
        <p:spPr>
          <a:xfrm>
            <a:off x="6400800" y="3703320"/>
            <a:ext cx="5029200" cy="5029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0" i="0">
                <a:solidFill>
                  <a:srgbClr val="1F1F1F"/>
                </a:solidFill>
                <a:latin typeface="Segoe Sans Display"/>
              </a:rPr>
              <a:t>/tenantId (PK), shopperRef, measurements, heightCm</a:t>
            </a:r>
          </a:p>
        </p:txBody>
      </p:sp>
      <p:sp>
        <p:nvSpPr>
          <p:cNvPr id="14" name="Arrow Profile Assessment"/>
          <p:cNvSpPr/>
          <p:nvPr/>
        </p:nvSpPr>
        <p:spPr>
          <a:xfrm>
            <a:off x="8686800" y="4251960"/>
            <a:ext cx="228600" cy="320040"/>
          </a:xfrm>
          <a:prstGeom prst="down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006840" y="4297680"/>
            <a:ext cx="914400" cy="228600"/>
          </a:xfrm>
          <a:prstGeom prst="rect">
            <a:avLst/>
          </a:prstGeom>
          <a:noFill/>
        </p:spPr>
        <p:txBody>
          <a:bodyPr wrap="square">
            <a:spAutoFit/>
          </a:bodyPr>
          <a:lstStyle/>
          <a:p>
            <a:pPr algn="l"/>
            <a:r>
              <a:rPr sz="1000" b="0" i="0">
                <a:solidFill>
                  <a:srgbClr val="14366E"/>
                </a:solidFill>
                <a:latin typeface="Segoe Sans Display"/>
              </a:rPr>
              <a:t>1:N</a:t>
            </a:r>
          </a:p>
        </p:txBody>
      </p:sp>
      <p:sp>
        <p:nvSpPr>
          <p:cNvPr id="16" name="Entity Assessment Header"/>
          <p:cNvSpPr/>
          <p:nvPr/>
        </p:nvSpPr>
        <p:spPr>
          <a:xfrm>
            <a:off x="1828800" y="4663440"/>
            <a:ext cx="8534095" cy="4572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a:lstStyle/>
          <a:p>
            <a:pPr algn="ctr"/>
            <a:r>
              <a:rPr sz="1400" b="1" i="0">
                <a:solidFill>
                  <a:srgbClr val="FFFFFF"/>
                </a:solidFill>
                <a:latin typeface="Segoe Sans Display"/>
              </a:rPr>
              <a:t>FitAssessment</a:t>
            </a:r>
          </a:p>
        </p:txBody>
      </p:sp>
      <p:sp>
        <p:nvSpPr>
          <p:cNvPr id="17" name="Entity Assessment Body"/>
          <p:cNvSpPr/>
          <p:nvPr/>
        </p:nvSpPr>
        <p:spPr>
          <a:xfrm>
            <a:off x="1828800" y="5120640"/>
            <a:ext cx="8534095" cy="5029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000" b="0" i="0">
                <a:solidFill>
                  <a:srgbClr val="1F1F1F"/>
                </a:solidFill>
                <a:latin typeface="Segoe Sans Display"/>
              </a:rPr>
              <a:t>/tenantId (PK), shopperRef, garmentRef, perAreaFit, overallFit, confidence, modelVersion, correlationId, isLowConfidence, escalationUrl</a:t>
            </a:r>
          </a:p>
        </p:txBody>
      </p:sp>
      <p:sp>
        <p:nvSpPr>
          <p:cNvPr id="18" name="Arrow Assessment Audit"/>
          <p:cNvSpPr/>
          <p:nvPr/>
        </p:nvSpPr>
        <p:spPr>
          <a:xfrm>
            <a:off x="10424160" y="5303520"/>
            <a:ext cx="320040" cy="182880"/>
          </a:xfrm>
          <a:prstGeom prst="rightArrow">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058400" y="5532120"/>
            <a:ext cx="1371600" cy="228600"/>
          </a:xfrm>
          <a:prstGeom prst="rect">
            <a:avLst/>
          </a:prstGeom>
          <a:noFill/>
        </p:spPr>
        <p:txBody>
          <a:bodyPr wrap="square">
            <a:spAutoFit/>
          </a:bodyPr>
          <a:lstStyle/>
          <a:p>
            <a:pPr algn="ctr"/>
            <a:r>
              <a:rPr sz="900" b="0" i="1">
                <a:solidFill>
                  <a:srgbClr val="14366E"/>
                </a:solidFill>
                <a:latin typeface="Segoe Sans Display"/>
              </a:rPr>
              <a:t>writes to</a:t>
            </a:r>
          </a:p>
        </p:txBody>
      </p:sp>
      <p:sp>
        <p:nvSpPr>
          <p:cNvPr id="20" name="Entity Audit Header"/>
          <p:cNvSpPr/>
          <p:nvPr/>
        </p:nvSpPr>
        <p:spPr>
          <a:xfrm>
            <a:off x="8686800" y="5806440"/>
            <a:ext cx="3047695" cy="41148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a:lstStyle/>
          <a:p>
            <a:pPr algn="ctr"/>
            <a:r>
              <a:rPr sz="1300" b="1" i="0">
                <a:solidFill>
                  <a:srgbClr val="FFFFFF"/>
                </a:solidFill>
                <a:latin typeface="Segoe Sans Display"/>
              </a:rPr>
              <a:t>AuditLog</a:t>
            </a:r>
          </a:p>
        </p:txBody>
      </p:sp>
      <p:sp>
        <p:nvSpPr>
          <p:cNvPr id="21" name="Entity Audit Body"/>
          <p:cNvSpPr/>
          <p:nvPr/>
        </p:nvSpPr>
        <p:spPr>
          <a:xfrm>
            <a:off x="8686800" y="6217920"/>
            <a:ext cx="3047695" cy="3657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000" b="0" i="0">
                <a:solidFill>
                  <a:srgbClr val="1F1F1F"/>
                </a:solidFill>
                <a:latin typeface="Segoe Sans Display"/>
              </a:rPr>
              <a:t>/tenantId (PK), immutable</a:t>
            </a:r>
          </a:p>
        </p:txBody>
      </p:sp>
      <p:sp>
        <p:nvSpPr>
          <p:cNvPr id="22" name="TextBox 21"/>
          <p:cNvSpPr txBox="1"/>
          <p:nvPr/>
        </p:nvSpPr>
        <p:spPr>
          <a:xfrm>
            <a:off x="457200" y="6035040"/>
            <a:ext cx="4572000" cy="274320"/>
          </a:xfrm>
          <a:prstGeom prst="rect">
            <a:avLst/>
          </a:prstGeom>
          <a:noFill/>
        </p:spPr>
        <p:txBody>
          <a:bodyPr wrap="square">
            <a:spAutoFit/>
          </a:bodyPr>
          <a:lstStyle/>
          <a:p>
            <a:pPr algn="l"/>
            <a:r>
              <a:rPr sz="1100" b="0" i="1">
                <a:solidFill>
                  <a:srgbClr val="0B5594"/>
                </a:solidFill>
                <a:latin typeface="Segoe Sans Display"/>
              </a:rPr>
              <a:t>shopperRef is an opaque hash — never PII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C-Suite — So What?</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Each concept translated to executive language.</a:t>
            </a:r>
          </a:p>
        </p:txBody>
      </p:sp>
      <p:sp>
        <p:nvSpPr>
          <p:cNvPr id="4" name="Header Empty"/>
          <p:cNvSpPr/>
          <p:nvPr/>
        </p:nvSpPr>
        <p:spPr>
          <a:xfrm>
            <a:off x="457200" y="1920240"/>
            <a:ext cx="1920240" cy="50292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Header CIO"/>
          <p:cNvSpPr/>
          <p:nvPr/>
        </p:nvSpPr>
        <p:spPr>
          <a:xfrm>
            <a:off x="2377440" y="1920240"/>
            <a:ext cx="3108960" cy="50292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300" b="1" i="0">
                <a:solidFill>
                  <a:srgbClr val="FFFFFF"/>
                </a:solidFill>
                <a:latin typeface="Segoe Sans Display"/>
              </a:rPr>
              <a:t>CIO / VP Tech</a:t>
            </a:r>
          </a:p>
        </p:txBody>
      </p:sp>
      <p:sp>
        <p:nvSpPr>
          <p:cNvPr id="6" name="Header Business"/>
          <p:cNvSpPr/>
          <p:nvPr/>
        </p:nvSpPr>
        <p:spPr>
          <a:xfrm>
            <a:off x="5486400" y="1920240"/>
            <a:ext cx="3108960" cy="50292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300" b="1" i="0">
                <a:solidFill>
                  <a:srgbClr val="FFFFFF"/>
                </a:solidFill>
                <a:latin typeface="Segoe Sans Display"/>
              </a:rPr>
              <a:t>Business / Ops</a:t>
            </a:r>
          </a:p>
        </p:txBody>
      </p:sp>
      <p:sp>
        <p:nvSpPr>
          <p:cNvPr id="7" name="Header Risk"/>
          <p:cNvSpPr/>
          <p:nvPr/>
        </p:nvSpPr>
        <p:spPr>
          <a:xfrm>
            <a:off x="8595360" y="1920240"/>
            <a:ext cx="3139135" cy="50292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300" b="1" i="0">
                <a:solidFill>
                  <a:srgbClr val="FFFFFF"/>
                </a:solidFill>
                <a:latin typeface="Segoe Sans Display"/>
              </a:rPr>
              <a:t>Risk / Compliance</a:t>
            </a:r>
          </a:p>
        </p:txBody>
      </p:sp>
      <p:sp>
        <p:nvSpPr>
          <p:cNvPr id="8" name="Row1 Label"/>
          <p:cNvSpPr/>
          <p:nvPr/>
        </p:nvSpPr>
        <p:spPr>
          <a:xfrm>
            <a:off x="457200" y="2514600"/>
            <a:ext cx="1920240" cy="109728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1" i="0">
                <a:solidFill>
                  <a:srgbClr val="FFFFFF"/>
                </a:solidFill>
                <a:latin typeface="Segoe Sans Display"/>
              </a:rPr>
              <a:t>A. Cloud-Centric</a:t>
            </a:r>
          </a:p>
        </p:txBody>
      </p:sp>
      <p:sp>
        <p:nvSpPr>
          <p:cNvPr id="9" name="Row1 CIO"/>
          <p:cNvSpPr/>
          <p:nvPr/>
        </p:nvSpPr>
        <p:spPr>
          <a:xfrm>
            <a:off x="2377440" y="2514600"/>
            <a:ext cx="3108960" cy="109728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0" i="0">
                <a:solidFill>
                  <a:srgbClr val="1F1F1F"/>
                </a:solidFill>
                <a:latin typeface="Segoe Sans Display"/>
              </a:rPr>
              <a:t>API-first, managed services, scalable</a:t>
            </a:r>
          </a:p>
        </p:txBody>
      </p:sp>
      <p:sp>
        <p:nvSpPr>
          <p:cNvPr id="10" name="Row1 Business"/>
          <p:cNvSpPr/>
          <p:nvPr/>
        </p:nvSpPr>
        <p:spPr>
          <a:xfrm>
            <a:off x="5486400" y="2514600"/>
            <a:ext cx="3108960" cy="109728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0" i="0">
                <a:solidFill>
                  <a:srgbClr val="1F1F1F"/>
                </a:solidFill>
                <a:latin typeface="Segoe Sans Display"/>
              </a:rPr>
              <a:t>20–30% return reduction, ROI in 6 months</a:t>
            </a:r>
          </a:p>
        </p:txBody>
      </p:sp>
      <p:sp>
        <p:nvSpPr>
          <p:cNvPr id="11" name="Row1 Risk"/>
          <p:cNvSpPr/>
          <p:nvPr/>
        </p:nvSpPr>
        <p:spPr>
          <a:xfrm>
            <a:off x="8595360" y="2514600"/>
            <a:ext cx="3139135" cy="109728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0" i="0">
                <a:solidFill>
                  <a:srgbClr val="1F1F1F"/>
                </a:solidFill>
                <a:latin typeface="Segoe Sans Display"/>
              </a:rPr>
              <a:t>Privacy by design, DPIA-ready</a:t>
            </a:r>
          </a:p>
        </p:txBody>
      </p:sp>
      <p:sp>
        <p:nvSpPr>
          <p:cNvPr id="12" name="Row2 Label"/>
          <p:cNvSpPr/>
          <p:nvPr/>
        </p:nvSpPr>
        <p:spPr>
          <a:xfrm>
            <a:off x="457200" y="3703320"/>
            <a:ext cx="1920240" cy="109728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1" i="0">
                <a:solidFill>
                  <a:srgbClr val="FFFFFF"/>
                </a:solidFill>
                <a:latin typeface="Segoe Sans Display"/>
              </a:rPr>
              <a:t>B. Edge + Agent</a:t>
            </a:r>
          </a:p>
        </p:txBody>
      </p:sp>
      <p:sp>
        <p:nvSpPr>
          <p:cNvPr id="13" name="Row2 CIO"/>
          <p:cNvSpPr/>
          <p:nvPr/>
        </p:nvSpPr>
        <p:spPr>
          <a:xfrm>
            <a:off x="2377440" y="3703320"/>
            <a:ext cx="3108960" cy="109728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0" i="0">
                <a:solidFill>
                  <a:srgbClr val="1F1F1F"/>
                </a:solidFill>
                <a:latin typeface="Segoe Sans Display"/>
              </a:rPr>
              <a:t>Extends digital into physical stores</a:t>
            </a:r>
          </a:p>
        </p:txBody>
      </p:sp>
      <p:sp>
        <p:nvSpPr>
          <p:cNvPr id="14" name="Row2 Business"/>
          <p:cNvSpPr/>
          <p:nvPr/>
        </p:nvSpPr>
        <p:spPr>
          <a:xfrm>
            <a:off x="5486400" y="3703320"/>
            <a:ext cx="3108960" cy="109728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0" i="0">
                <a:solidFill>
                  <a:srgbClr val="1F1F1F"/>
                </a:solidFill>
                <a:latin typeface="Segoe Sans Display"/>
              </a:rPr>
              <a:t>Associates as AI-augmented stylists</a:t>
            </a:r>
          </a:p>
        </p:txBody>
      </p:sp>
      <p:sp>
        <p:nvSpPr>
          <p:cNvPr id="15" name="Row2 Risk"/>
          <p:cNvSpPr/>
          <p:nvPr/>
        </p:nvSpPr>
        <p:spPr>
          <a:xfrm>
            <a:off x="8595360" y="3703320"/>
            <a:ext cx="3139135" cy="109728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0" i="0">
                <a:solidFill>
                  <a:srgbClr val="1F1F1F"/>
                </a:solidFill>
                <a:latin typeface="Segoe Sans Display"/>
              </a:rPr>
              <a:t>Strongest privacy posture (local)</a:t>
            </a:r>
          </a:p>
        </p:txBody>
      </p:sp>
      <p:sp>
        <p:nvSpPr>
          <p:cNvPr id="16" name="Row3 Label"/>
          <p:cNvSpPr/>
          <p:nvPr/>
        </p:nvSpPr>
        <p:spPr>
          <a:xfrm>
            <a:off x="457200" y="4892040"/>
            <a:ext cx="1920240" cy="109728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1" i="0">
                <a:solidFill>
                  <a:srgbClr val="FFFFFF"/>
                </a:solidFill>
                <a:latin typeface="Segoe Sans Display"/>
              </a:rPr>
              <a:t>C. Data Fabric</a:t>
            </a:r>
          </a:p>
        </p:txBody>
      </p:sp>
      <p:sp>
        <p:nvSpPr>
          <p:cNvPr id="17" name="Row3 CIO"/>
          <p:cNvSpPr/>
          <p:nvPr/>
        </p:nvSpPr>
        <p:spPr>
          <a:xfrm>
            <a:off x="2377440" y="4892040"/>
            <a:ext cx="3108960" cy="109728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0" i="0">
                <a:solidFill>
                  <a:srgbClr val="1F1F1F"/>
                </a:solidFill>
                <a:latin typeface="Segoe Sans Display"/>
              </a:rPr>
              <a:t>Unified retail intelligence layer</a:t>
            </a:r>
          </a:p>
        </p:txBody>
      </p:sp>
      <p:sp>
        <p:nvSpPr>
          <p:cNvPr id="18" name="Row3 Business"/>
          <p:cNvSpPr/>
          <p:nvPr/>
        </p:nvSpPr>
        <p:spPr>
          <a:xfrm>
            <a:off x="5486400" y="4892040"/>
            <a:ext cx="3108960" cy="109728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0" i="0">
                <a:solidFill>
                  <a:srgbClr val="1F1F1F"/>
                </a:solidFill>
                <a:latin typeface="Segoe Sans Display"/>
              </a:rPr>
              <a:t>Fit-informed merchandising</a:t>
            </a:r>
          </a:p>
        </p:txBody>
      </p:sp>
      <p:sp>
        <p:nvSpPr>
          <p:cNvPr id="19" name="Row3 Risk"/>
          <p:cNvSpPr/>
          <p:nvPr/>
        </p:nvSpPr>
        <p:spPr>
          <a:xfrm>
            <a:off x="8595360" y="4892040"/>
            <a:ext cx="3139135" cy="109728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0" i="0">
                <a:solidFill>
                  <a:srgbClr val="1F1F1F"/>
                </a:solidFill>
                <a:latin typeface="Segoe Sans Display"/>
              </a:rPr>
              <a:t>Full lineage, GDPR Article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Business Value &amp; IQ Framework</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Value drivers aligned to Microsoft AI platform capabilities.</a:t>
            </a:r>
          </a:p>
        </p:txBody>
      </p:sp>
      <p:sp>
        <p:nvSpPr>
          <p:cNvPr id="4" name="Left Header"/>
          <p:cNvSpPr/>
          <p:nvPr/>
        </p:nvSpPr>
        <p:spPr>
          <a:xfrm>
            <a:off x="457200" y="1920240"/>
            <a:ext cx="5394960" cy="5029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Four Value Drivers</a:t>
            </a:r>
          </a:p>
        </p:txBody>
      </p:sp>
      <p:sp>
        <p:nvSpPr>
          <p:cNvPr id="5" name="VD1"/>
          <p:cNvSpPr/>
          <p:nvPr/>
        </p:nvSpPr>
        <p:spPr>
          <a:xfrm>
            <a:off x="457200" y="2514600"/>
            <a:ext cx="5394960" cy="7315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VD2"/>
          <p:cNvSpPr/>
          <p:nvPr/>
        </p:nvSpPr>
        <p:spPr>
          <a:xfrm>
            <a:off x="457200" y="3337560"/>
            <a:ext cx="5394960" cy="7315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VD3"/>
          <p:cNvSpPr/>
          <p:nvPr/>
        </p:nvSpPr>
        <p:spPr>
          <a:xfrm>
            <a:off x="457200" y="4160520"/>
            <a:ext cx="5394960" cy="7315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VD4"/>
          <p:cNvSpPr/>
          <p:nvPr/>
        </p:nvSpPr>
        <p:spPr>
          <a:xfrm>
            <a:off x="457200" y="4983480"/>
            <a:ext cx="5394960" cy="73152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ight Header"/>
          <p:cNvSpPr/>
          <p:nvPr/>
        </p:nvSpPr>
        <p:spPr>
          <a:xfrm>
            <a:off x="6309360" y="1920240"/>
            <a:ext cx="5425135" cy="5029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IQ Framework Alignment</a:t>
            </a:r>
          </a:p>
        </p:txBody>
      </p:sp>
      <p:sp>
        <p:nvSpPr>
          <p:cNvPr id="10" name="IQ Work Label"/>
          <p:cNvSpPr/>
          <p:nvPr/>
        </p:nvSpPr>
        <p:spPr>
          <a:xfrm>
            <a:off x="6309360" y="2514600"/>
            <a:ext cx="1463040" cy="8229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1" i="0">
                <a:solidFill>
                  <a:srgbClr val="FFFFFF"/>
                </a:solidFill>
                <a:latin typeface="Segoe Sans Display"/>
              </a:rPr>
              <a:t>Work IQ</a:t>
            </a:r>
          </a:p>
        </p:txBody>
      </p:sp>
      <p:sp>
        <p:nvSpPr>
          <p:cNvPr id="11" name="IQ Work Body"/>
          <p:cNvSpPr/>
          <p:nvPr/>
        </p:nvSpPr>
        <p:spPr>
          <a:xfrm>
            <a:off x="7772400" y="2514600"/>
            <a:ext cx="3962095" cy="8229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82880" rIns="137160" tIns="91440" bIns="91440"/>
          <a:lstStyle/>
          <a:p>
            <a:pPr algn="l"/>
            <a:r>
              <a:rPr sz="1200" b="0" i="0">
                <a:solidFill>
                  <a:srgbClr val="1F1F1F"/>
                </a:solidFill>
                <a:latin typeface="Segoe Sans Display"/>
              </a:rPr>
              <a:t>In-workflow recommendations for shoppers and associates</a:t>
            </a:r>
          </a:p>
        </p:txBody>
      </p:sp>
      <p:sp>
        <p:nvSpPr>
          <p:cNvPr id="12" name="IQ Foundry Label"/>
          <p:cNvSpPr/>
          <p:nvPr/>
        </p:nvSpPr>
        <p:spPr>
          <a:xfrm>
            <a:off x="6309360" y="3429000"/>
            <a:ext cx="1463040" cy="8229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1" i="0">
                <a:solidFill>
                  <a:srgbClr val="FFFFFF"/>
                </a:solidFill>
                <a:latin typeface="Segoe Sans Display"/>
              </a:rPr>
              <a:t>Foundry IQ</a:t>
            </a:r>
          </a:p>
        </p:txBody>
      </p:sp>
      <p:sp>
        <p:nvSpPr>
          <p:cNvPr id="13" name="IQ Foundry Body"/>
          <p:cNvSpPr/>
          <p:nvPr/>
        </p:nvSpPr>
        <p:spPr>
          <a:xfrm>
            <a:off x="7772400" y="3429000"/>
            <a:ext cx="3962095" cy="8229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82880" rIns="137160" tIns="91440" bIns="91440"/>
          <a:lstStyle/>
          <a:p>
            <a:pPr algn="l"/>
            <a:r>
              <a:rPr sz="1200" b="0" i="0">
                <a:solidFill>
                  <a:srgbClr val="1F1F1F"/>
                </a:solidFill>
                <a:latin typeface="Segoe Sans Display"/>
              </a:rPr>
              <a:t>The 3-tier AI pipeline (Vision + Content Safety + OpenAI)</a:t>
            </a:r>
          </a:p>
        </p:txBody>
      </p:sp>
      <p:sp>
        <p:nvSpPr>
          <p:cNvPr id="14" name="IQ Fabric Label"/>
          <p:cNvSpPr/>
          <p:nvPr/>
        </p:nvSpPr>
        <p:spPr>
          <a:xfrm>
            <a:off x="6309360" y="4343400"/>
            <a:ext cx="1463040" cy="8229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137160" rIns="137160" tIns="91440" bIns="91440"/>
          <a:lstStyle/>
          <a:p>
            <a:pPr algn="ctr"/>
            <a:r>
              <a:rPr sz="1200" b="1" i="0">
                <a:solidFill>
                  <a:srgbClr val="FFFFFF"/>
                </a:solidFill>
                <a:latin typeface="Segoe Sans Display"/>
              </a:rPr>
              <a:t>Fabric IQ</a:t>
            </a:r>
          </a:p>
        </p:txBody>
      </p:sp>
      <p:sp>
        <p:nvSpPr>
          <p:cNvPr id="15" name="IQ Fabric Body"/>
          <p:cNvSpPr/>
          <p:nvPr/>
        </p:nvSpPr>
        <p:spPr>
          <a:xfrm>
            <a:off x="7772400" y="4343400"/>
            <a:ext cx="3962095" cy="8229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82880" rIns="137160" tIns="91440" bIns="91440"/>
          <a:lstStyle/>
          <a:p>
            <a:pPr algn="l"/>
            <a:r>
              <a:rPr sz="1200" b="0" i="0">
                <a:solidFill>
                  <a:srgbClr val="1F1F1F"/>
                </a:solidFill>
                <a:latin typeface="Segoe Sans Display"/>
              </a:rPr>
              <a:t>Governed data foundation, Concept C semantic layer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Key Decisions &amp; Top Risks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Five decisions that shape v1 and five risks we are tracking.</a:t>
            </a:r>
          </a:p>
        </p:txBody>
      </p:sp>
      <p:sp>
        <p:nvSpPr>
          <p:cNvPr id="4" name="Decisions Header"/>
          <p:cNvSpPr/>
          <p:nvPr/>
        </p:nvSpPr>
        <p:spPr>
          <a:xfrm>
            <a:off x="457200" y="1920240"/>
            <a:ext cx="5394960" cy="54864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Decisions That Shape v1</a:t>
            </a:r>
          </a:p>
        </p:txBody>
      </p:sp>
      <p:sp>
        <p:nvSpPr>
          <p:cNvPr id="5" name="Decisions Body"/>
          <p:cNvSpPr/>
          <p:nvPr/>
        </p:nvSpPr>
        <p:spPr>
          <a:xfrm>
            <a:off x="457200" y="2468880"/>
            <a:ext cx="5394960" cy="33832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isks Header"/>
          <p:cNvSpPr/>
          <p:nvPr/>
        </p:nvSpPr>
        <p:spPr>
          <a:xfrm>
            <a:off x="6339535" y="1920240"/>
            <a:ext cx="5394960" cy="54864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Risks We're Tracking</a:t>
            </a:r>
          </a:p>
        </p:txBody>
      </p:sp>
      <p:sp>
        <p:nvSpPr>
          <p:cNvPr id="7" name="Risks Body"/>
          <p:cNvSpPr/>
          <p:nvPr/>
        </p:nvSpPr>
        <p:spPr>
          <a:xfrm>
            <a:off x="6339535" y="2468880"/>
            <a:ext cx="5394960" cy="33832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Tradeoffs &amp; Hypotheses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Named hypotheses with status and validation method.</a:t>
            </a:r>
          </a:p>
        </p:txBody>
      </p:sp>
      <p:sp>
        <p:nvSpPr>
          <p:cNvPr id="4" name="Hdr ID"/>
          <p:cNvSpPr/>
          <p:nvPr/>
        </p:nvSpPr>
        <p:spPr>
          <a:xfrm>
            <a:off x="457200" y="1874519"/>
            <a:ext cx="731520" cy="45720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200" b="1" i="0">
                <a:solidFill>
                  <a:srgbClr val="FFFFFF"/>
                </a:solidFill>
                <a:latin typeface="Segoe Sans Display"/>
              </a:rPr>
              <a:t>ID</a:t>
            </a:r>
          </a:p>
        </p:txBody>
      </p:sp>
      <p:sp>
        <p:nvSpPr>
          <p:cNvPr id="5" name="Hdr Hypothesis"/>
          <p:cNvSpPr/>
          <p:nvPr/>
        </p:nvSpPr>
        <p:spPr>
          <a:xfrm>
            <a:off x="1188720" y="1874519"/>
            <a:ext cx="4572000" cy="45720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200" b="1" i="0">
                <a:solidFill>
                  <a:srgbClr val="FFFFFF"/>
                </a:solidFill>
                <a:latin typeface="Segoe Sans Display"/>
              </a:rPr>
              <a:t>Hypothesis</a:t>
            </a:r>
          </a:p>
        </p:txBody>
      </p:sp>
      <p:sp>
        <p:nvSpPr>
          <p:cNvPr id="6" name="Hdr Status"/>
          <p:cNvSpPr/>
          <p:nvPr/>
        </p:nvSpPr>
        <p:spPr>
          <a:xfrm>
            <a:off x="5760720" y="1874519"/>
            <a:ext cx="1554480" cy="45720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200" b="1" i="0">
                <a:solidFill>
                  <a:srgbClr val="FFFFFF"/>
                </a:solidFill>
                <a:latin typeface="Segoe Sans Display"/>
              </a:rPr>
              <a:t>Status</a:t>
            </a:r>
          </a:p>
        </p:txBody>
      </p:sp>
      <p:sp>
        <p:nvSpPr>
          <p:cNvPr id="7" name="Hdr Validation"/>
          <p:cNvSpPr/>
          <p:nvPr/>
        </p:nvSpPr>
        <p:spPr>
          <a:xfrm>
            <a:off x="7315200" y="1874519"/>
            <a:ext cx="4419295" cy="45720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200" b="1" i="0">
                <a:solidFill>
                  <a:srgbClr val="FFFFFF"/>
                </a:solidFill>
                <a:latin typeface="Segoe Sans Display"/>
              </a:rPr>
              <a:t>Validation Method</a:t>
            </a:r>
          </a:p>
        </p:txBody>
      </p:sp>
      <p:sp>
        <p:nvSpPr>
          <p:cNvPr id="8" name="R1 ID"/>
          <p:cNvSpPr/>
          <p:nvPr/>
        </p:nvSpPr>
        <p:spPr>
          <a:xfrm>
            <a:off x="457200" y="2377440"/>
            <a:ext cx="731520"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FFFFFF"/>
                </a:solidFill>
                <a:latin typeface="Segoe Sans Display"/>
              </a:rPr>
              <a:t>H-1</a:t>
            </a:r>
          </a:p>
        </p:txBody>
      </p:sp>
      <p:sp>
        <p:nvSpPr>
          <p:cNvPr id="9" name="R1 Hyp"/>
          <p:cNvSpPr/>
          <p:nvPr/>
        </p:nvSpPr>
        <p:spPr>
          <a:xfrm>
            <a:off x="1188720" y="2377440"/>
            <a:ext cx="457200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GPT-4o + height delivers ±2–4 cm</a:t>
            </a:r>
          </a:p>
        </p:txBody>
      </p:sp>
      <p:sp>
        <p:nvSpPr>
          <p:cNvPr id="10" name="R1 Status"/>
          <p:cNvSpPr/>
          <p:nvPr/>
        </p:nvSpPr>
        <p:spPr>
          <a:xfrm>
            <a:off x="5760720" y="2377440"/>
            <a:ext cx="155448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BF8F00"/>
                </a:solidFill>
                <a:latin typeface="Segoe Sans Display"/>
              </a:rPr>
              <a:t>[Hypothesis]</a:t>
            </a:r>
          </a:p>
        </p:txBody>
      </p:sp>
      <p:sp>
        <p:nvSpPr>
          <p:cNvPr id="11" name="R1 Val"/>
          <p:cNvSpPr/>
          <p:nvPr/>
        </p:nvSpPr>
        <p:spPr>
          <a:xfrm>
            <a:off x="7315200" y="2377440"/>
            <a:ext cx="4419295"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Integration testing vs ground-truth dataset</a:t>
            </a:r>
          </a:p>
        </p:txBody>
      </p:sp>
      <p:sp>
        <p:nvSpPr>
          <p:cNvPr id="12" name="R2 ID"/>
          <p:cNvSpPr/>
          <p:nvPr/>
        </p:nvSpPr>
        <p:spPr>
          <a:xfrm>
            <a:off x="457200" y="3017520"/>
            <a:ext cx="731520"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FFFFFF"/>
                </a:solidFill>
                <a:latin typeface="Segoe Sans Display"/>
              </a:rPr>
              <a:t>H-2</a:t>
            </a:r>
          </a:p>
        </p:txBody>
      </p:sp>
      <p:sp>
        <p:nvSpPr>
          <p:cNvPr id="13" name="R2 Hyp"/>
          <p:cNvSpPr/>
          <p:nvPr/>
        </p:nvSpPr>
        <p:spPr>
          <a:xfrm>
            <a:off x="1188720" y="3017520"/>
            <a:ext cx="457200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70% confidence is the right trust threshold</a:t>
            </a:r>
          </a:p>
        </p:txBody>
      </p:sp>
      <p:sp>
        <p:nvSpPr>
          <p:cNvPr id="14" name="R2 Status"/>
          <p:cNvSpPr/>
          <p:nvPr/>
        </p:nvSpPr>
        <p:spPr>
          <a:xfrm>
            <a:off x="5760720" y="3017520"/>
            <a:ext cx="155448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BF8F00"/>
                </a:solidFill>
                <a:latin typeface="Segoe Sans Display"/>
              </a:rPr>
              <a:t>[Hypothesis]</a:t>
            </a:r>
          </a:p>
        </p:txBody>
      </p:sp>
      <p:sp>
        <p:nvSpPr>
          <p:cNvPr id="15" name="R2 Val"/>
          <p:cNvSpPr/>
          <p:nvPr/>
        </p:nvSpPr>
        <p:spPr>
          <a:xfrm>
            <a:off x="7315200" y="3017520"/>
            <a:ext cx="4419295"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A/B testing vs disclaimer escalation rate</a:t>
            </a:r>
          </a:p>
        </p:txBody>
      </p:sp>
      <p:sp>
        <p:nvSpPr>
          <p:cNvPr id="16" name="R3 ID"/>
          <p:cNvSpPr/>
          <p:nvPr/>
        </p:nvSpPr>
        <p:spPr>
          <a:xfrm>
            <a:off x="457200" y="3657600"/>
            <a:ext cx="731520"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FFFFFF"/>
                </a:solidFill>
                <a:latin typeface="Segoe Sans Display"/>
              </a:rPr>
              <a:t>H-3</a:t>
            </a:r>
          </a:p>
        </p:txBody>
      </p:sp>
      <p:sp>
        <p:nvSpPr>
          <p:cNvPr id="17" name="R3 Hyp"/>
          <p:cNvSpPr/>
          <p:nvPr/>
        </p:nvSpPr>
        <p:spPr>
          <a:xfrm>
            <a:off x="1188720" y="3657600"/>
            <a:ext cx="457200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Hierarchical PK prevents tenant leakage</a:t>
            </a:r>
          </a:p>
        </p:txBody>
      </p:sp>
      <p:sp>
        <p:nvSpPr>
          <p:cNvPr id="18" name="R3 Status"/>
          <p:cNvSpPr/>
          <p:nvPr/>
        </p:nvSpPr>
        <p:spPr>
          <a:xfrm>
            <a:off x="5760720" y="3657600"/>
            <a:ext cx="155448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548235"/>
                </a:solidFill>
                <a:latin typeface="Segoe Sans Display"/>
              </a:rPr>
              <a:t>[Verified]</a:t>
            </a:r>
          </a:p>
        </p:txBody>
      </p:sp>
      <p:sp>
        <p:nvSpPr>
          <p:cNvPr id="19" name="R3 Val"/>
          <p:cNvSpPr/>
          <p:nvPr/>
        </p:nvSpPr>
        <p:spPr>
          <a:xfrm>
            <a:off x="7315200" y="3657600"/>
            <a:ext cx="4419295"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Schema + repository compile-time check</a:t>
            </a:r>
          </a:p>
        </p:txBody>
      </p:sp>
      <p:sp>
        <p:nvSpPr>
          <p:cNvPr id="20" name="R4 ID"/>
          <p:cNvSpPr/>
          <p:nvPr/>
        </p:nvSpPr>
        <p:spPr>
          <a:xfrm>
            <a:off x="457200" y="4297680"/>
            <a:ext cx="731520"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FFFFFF"/>
                </a:solidFill>
                <a:latin typeface="Segoe Sans Display"/>
              </a:rPr>
              <a:t>H-4</a:t>
            </a:r>
          </a:p>
        </p:txBody>
      </p:sp>
      <p:sp>
        <p:nvSpPr>
          <p:cNvPr id="21" name="R4 Hyp"/>
          <p:cNvSpPr/>
          <p:nvPr/>
        </p:nvSpPr>
        <p:spPr>
          <a:xfrm>
            <a:off x="1188720" y="4297680"/>
            <a:ext cx="457200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60 s blob TTL satisfies privacy regulators</a:t>
            </a:r>
          </a:p>
        </p:txBody>
      </p:sp>
      <p:sp>
        <p:nvSpPr>
          <p:cNvPr id="22" name="R4 Status"/>
          <p:cNvSpPr/>
          <p:nvPr/>
        </p:nvSpPr>
        <p:spPr>
          <a:xfrm>
            <a:off x="5760720" y="4297680"/>
            <a:ext cx="155448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BF8F00"/>
                </a:solidFill>
                <a:latin typeface="Segoe Sans Display"/>
              </a:rPr>
              <a:t>[Hypothesis]</a:t>
            </a:r>
          </a:p>
        </p:txBody>
      </p:sp>
      <p:sp>
        <p:nvSpPr>
          <p:cNvPr id="23" name="R4 Val"/>
          <p:cNvSpPr/>
          <p:nvPr/>
        </p:nvSpPr>
        <p:spPr>
          <a:xfrm>
            <a:off x="7315200" y="4297680"/>
            <a:ext cx="4419295"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DPIA + counsel review</a:t>
            </a:r>
          </a:p>
        </p:txBody>
      </p:sp>
      <p:sp>
        <p:nvSpPr>
          <p:cNvPr id="24" name="R5 ID"/>
          <p:cNvSpPr/>
          <p:nvPr/>
        </p:nvSpPr>
        <p:spPr>
          <a:xfrm>
            <a:off x="457200" y="4937760"/>
            <a:ext cx="731520"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FFFFFF"/>
                </a:solidFill>
                <a:latin typeface="Segoe Sans Display"/>
              </a:rPr>
              <a:t>H-5</a:t>
            </a:r>
          </a:p>
        </p:txBody>
      </p:sp>
      <p:sp>
        <p:nvSpPr>
          <p:cNvPr id="25" name="R5 Hyp"/>
          <p:cNvSpPr/>
          <p:nvPr/>
        </p:nvSpPr>
        <p:spPr>
          <a:xfrm>
            <a:off x="1188720" y="4937760"/>
            <a:ext cx="457200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ASP.NET rate limiting sufficient for v1</a:t>
            </a:r>
          </a:p>
        </p:txBody>
      </p:sp>
      <p:sp>
        <p:nvSpPr>
          <p:cNvPr id="26" name="R5 Status"/>
          <p:cNvSpPr/>
          <p:nvPr/>
        </p:nvSpPr>
        <p:spPr>
          <a:xfrm>
            <a:off x="5760720" y="4937760"/>
            <a:ext cx="155448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BF8F00"/>
                </a:solidFill>
                <a:latin typeface="Segoe Sans Display"/>
              </a:rPr>
              <a:t>[Hypothesis]</a:t>
            </a:r>
          </a:p>
        </p:txBody>
      </p:sp>
      <p:sp>
        <p:nvSpPr>
          <p:cNvPr id="27" name="R5 Val"/>
          <p:cNvSpPr/>
          <p:nvPr/>
        </p:nvSpPr>
        <p:spPr>
          <a:xfrm>
            <a:off x="7315200" y="4937760"/>
            <a:ext cx="4419295"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Load test at 2× projected peak</a:t>
            </a:r>
          </a:p>
        </p:txBody>
      </p:sp>
      <p:sp>
        <p:nvSpPr>
          <p:cNvPr id="28" name="R6 ID"/>
          <p:cNvSpPr/>
          <p:nvPr/>
        </p:nvSpPr>
        <p:spPr>
          <a:xfrm>
            <a:off x="457200" y="5577840"/>
            <a:ext cx="731520"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FFFFFF"/>
                </a:solidFill>
                <a:latin typeface="Segoe Sans Display"/>
              </a:rPr>
              <a:t>H-6</a:t>
            </a:r>
          </a:p>
        </p:txBody>
      </p:sp>
      <p:sp>
        <p:nvSpPr>
          <p:cNvPr id="29" name="R6 Hyp"/>
          <p:cNvSpPr/>
          <p:nvPr/>
        </p:nvSpPr>
        <p:spPr>
          <a:xfrm>
            <a:off x="1188720" y="5577840"/>
            <a:ext cx="457200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Edge inference (B) cost-justified vs cloud</a:t>
            </a:r>
          </a:p>
        </p:txBody>
      </p:sp>
      <p:sp>
        <p:nvSpPr>
          <p:cNvPr id="30" name="R6 Status"/>
          <p:cNvSpPr/>
          <p:nvPr/>
        </p:nvSpPr>
        <p:spPr>
          <a:xfrm>
            <a:off x="5760720" y="5577840"/>
            <a:ext cx="1554480"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100" b="1" i="0">
                <a:solidFill>
                  <a:srgbClr val="BF8F00"/>
                </a:solidFill>
                <a:latin typeface="Segoe Sans Display"/>
              </a:rPr>
              <a:t>[Hypothesis]</a:t>
            </a:r>
          </a:p>
        </p:txBody>
      </p:sp>
      <p:sp>
        <p:nvSpPr>
          <p:cNvPr id="31" name="R6 Val"/>
          <p:cNvSpPr/>
          <p:nvPr/>
        </p:nvSpPr>
        <p:spPr>
          <a:xfrm>
            <a:off x="7315200" y="5577840"/>
            <a:ext cx="4419295" cy="5943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137160"/>
          <a:lstStyle/>
          <a:p>
            <a:pPr algn="l"/>
            <a:r>
              <a:rPr sz="1100" b="0" i="0">
                <a:solidFill>
                  <a:srgbClr val="1F1F1F"/>
                </a:solidFill>
                <a:latin typeface="Segoe Sans Display"/>
              </a:rPr>
              <a:t>Per-store TCO model + pilot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Why This Architecture, Why Now?</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What would change our mind?</a:t>
            </a:r>
          </a:p>
        </p:txBody>
      </p:sp>
      <p:sp>
        <p:nvSpPr>
          <p:cNvPr id="4" name="TextBox 3"/>
          <p:cNvSpPr txBox="1"/>
          <p:nvPr/>
        </p:nvSpPr>
        <p:spPr>
          <a:xfrm>
            <a:off x="914400" y="2011680"/>
            <a:ext cx="10362895" cy="640080"/>
          </a:xfrm>
          <a:prstGeom prst="rect">
            <a:avLst/>
          </a:prstGeom>
          <a:noFill/>
        </p:spPr>
        <p:txBody>
          <a:bodyPr wrap="square">
            <a:spAutoFit/>
          </a:bodyPr>
          <a:lstStyle/>
          <a:p>
            <a:pPr algn="ctr"/>
            <a:r>
              <a:rPr sz="2800" b="0" i="0">
                <a:solidFill>
                  <a:srgbClr val="14366E"/>
                </a:solidFill>
                <a:latin typeface="Segoe Sans Display"/>
              </a:rPr>
              <a:t>Why this architecture, why now, what would change our mind?</a:t>
            </a:r>
          </a:p>
        </p:txBody>
      </p:sp>
      <p:sp>
        <p:nvSpPr>
          <p:cNvPr id="5" name="Behavior 1"/>
          <p:cNvSpPr/>
          <p:nvPr/>
        </p:nvSpPr>
        <p:spPr>
          <a:xfrm>
            <a:off x="731520" y="2926080"/>
            <a:ext cx="10728655"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274320" rIns="182880" tIns="91440" bIns="91440"/>
          <a:lstStyle/>
          <a:p>
            <a:pPr algn="l"/>
            <a:r>
              <a:rPr sz="1400" b="0" i="0">
                <a:solidFill>
                  <a:srgbClr val="1F1F1F"/>
                </a:solidFill>
                <a:latin typeface="Segoe Sans Display"/>
              </a:rPr>
              <a:t>We will ship Concept A as v1 because measurable ROI in 6 months is the contract.</a:t>
            </a:r>
          </a:p>
        </p:txBody>
      </p:sp>
      <p:sp>
        <p:nvSpPr>
          <p:cNvPr id="6" name="Behavior 2"/>
          <p:cNvSpPr/>
          <p:nvPr/>
        </p:nvSpPr>
        <p:spPr>
          <a:xfrm>
            <a:off x="731520" y="3657600"/>
            <a:ext cx="10728655"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274320" rIns="182880" tIns="91440" bIns="91440"/>
          <a:lstStyle/>
          <a:p>
            <a:pPr algn="l"/>
            <a:r>
              <a:rPr sz="1400" b="0" i="0">
                <a:solidFill>
                  <a:srgbClr val="1F1F1F"/>
                </a:solidFill>
                <a:latin typeface="Segoe Sans Display"/>
              </a:rPr>
              <a:t>We will reopen Tier 2 if H-1 fails integration testing.</a:t>
            </a:r>
          </a:p>
        </p:txBody>
      </p:sp>
      <p:sp>
        <p:nvSpPr>
          <p:cNvPr id="7" name="Behavior 3"/>
          <p:cNvSpPr/>
          <p:nvPr/>
        </p:nvSpPr>
        <p:spPr>
          <a:xfrm>
            <a:off x="731520" y="4389120"/>
            <a:ext cx="10728655"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274320" rIns="182880" tIns="91440" bIns="91440"/>
          <a:lstStyle/>
          <a:p>
            <a:pPr algn="l"/>
            <a:r>
              <a:rPr sz="1400" b="0" i="0">
                <a:solidFill>
                  <a:srgbClr val="1F1F1F"/>
                </a:solidFill>
                <a:latin typeface="Segoe Sans Display"/>
              </a:rPr>
              <a:t>We will pilot Concept B in 12–18 months once shopper trust data exists.</a:t>
            </a:r>
          </a:p>
        </p:txBody>
      </p:sp>
      <p:sp>
        <p:nvSpPr>
          <p:cNvPr id="8" name="Behavior 4"/>
          <p:cNvSpPr/>
          <p:nvPr/>
        </p:nvSpPr>
        <p:spPr>
          <a:xfrm>
            <a:off x="731520" y="5120640"/>
            <a:ext cx="10728655" cy="6400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274320" rIns="182880" tIns="91440" bIns="91440"/>
          <a:lstStyle/>
          <a:p>
            <a:pPr algn="l"/>
            <a:r>
              <a:rPr sz="1400" b="0" i="0">
                <a:solidFill>
                  <a:srgbClr val="1F1F1F"/>
                </a:solidFill>
                <a:latin typeface="Segoe Sans Display"/>
              </a:rPr>
              <a:t>We will deepen into Concept C when fit data demonstrates business value beyond returns.</a:t>
            </a:r>
          </a:p>
        </p:txBody>
      </p:sp>
      <p:sp>
        <p:nvSpPr>
          <p:cNvPr id="9" name="TextBox 8"/>
          <p:cNvSpPr txBox="1"/>
          <p:nvPr/>
        </p:nvSpPr>
        <p:spPr>
          <a:xfrm>
            <a:off x="914400" y="6035040"/>
            <a:ext cx="10362895" cy="365760"/>
          </a:xfrm>
          <a:prstGeom prst="rect">
            <a:avLst/>
          </a:prstGeom>
          <a:noFill/>
        </p:spPr>
        <p:txBody>
          <a:bodyPr wrap="square">
            <a:spAutoFit/>
          </a:bodyPr>
          <a:lstStyle/>
          <a:p>
            <a:pPr algn="ctr"/>
            <a:r>
              <a:rPr sz="1200" b="0" i="1">
                <a:solidFill>
                  <a:srgbClr val="6B6B6B"/>
                </a:solidFill>
                <a:latin typeface="Segoe Sans Display"/>
              </a:rPr>
              <a:t>AI augments humans. Humans retain accountability for every purchase, recommendation, and policy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Custom 21">
      <a:dk1>
        <a:sysClr val="windowText" lastClr="000000"/>
      </a:dk1>
      <a:lt1>
        <a:srgbClr val="FFFFFF"/>
      </a:lt1>
      <a:dk2>
        <a:srgbClr val="463668"/>
      </a:dk2>
      <a:lt2>
        <a:srgbClr val="E7E6E6"/>
      </a:lt2>
      <a:accent1>
        <a:srgbClr val="434343"/>
      </a:accent1>
      <a:accent2>
        <a:srgbClr val="2A446F"/>
      </a:accent2>
      <a:accent3>
        <a:srgbClr val="8DC8E8"/>
      </a:accent3>
      <a:accent4>
        <a:srgbClr val="8661C5"/>
      </a:accent4>
      <a:accent5>
        <a:srgbClr val="225B62"/>
      </a:accent5>
      <a:accent6>
        <a:srgbClr val="2F2F2F"/>
      </a:accent6>
      <a:hlink>
        <a:srgbClr val="0078D4"/>
      </a:hlink>
      <a:folHlink>
        <a:srgbClr val="7B7B7B"/>
      </a:folHlink>
    </a:clrScheme>
    <a:fontScheme name="Custom 1">
      <a:majorFont>
        <a:latin typeface="Segoe Sans Text Semibold"/>
        <a:ea typeface=""/>
        <a:cs typeface=""/>
      </a:majorFont>
      <a:minorFont>
        <a:latin typeface="Segoe Sans Tex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f366ca2c-0331-4b68-94c5-c8ac92536882">
      <Terms xmlns="http://schemas.microsoft.com/office/infopath/2007/PartnerControls"/>
    </lcf76f155ced4ddcb4097134ff3c332f>
    <TaxCatchAll xmlns="010a4d30-4de2-46dd-b668-2c35ef8d096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29BA2C596FC949B2F4B7CB2497383C" ma:contentTypeVersion="13" ma:contentTypeDescription="Create a new document." ma:contentTypeScope="" ma:versionID="8b7cb8938f8f5cb192d5e22a256442fe">
  <xsd:schema xmlns:xsd="http://www.w3.org/2001/XMLSchema" xmlns:xs="http://www.w3.org/2001/XMLSchema" xmlns:p="http://schemas.microsoft.com/office/2006/metadata/properties" xmlns:ns1="http://schemas.microsoft.com/sharepoint/v3" xmlns:ns2="f366ca2c-0331-4b68-94c5-c8ac92536882" xmlns:ns3="010a4d30-4de2-46dd-b668-2c35ef8d0964" targetNamespace="http://schemas.microsoft.com/office/2006/metadata/properties" ma:root="true" ma:fieldsID="c6dc196e439cb4b0c24b8dc563536a53" ns1:_="" ns2:_="" ns3:_="">
    <xsd:import namespace="http://schemas.microsoft.com/sharepoint/v3"/>
    <xsd:import namespace="f366ca2c-0331-4b68-94c5-c8ac92536882"/>
    <xsd:import namespace="010a4d30-4de2-46dd-b668-2c35ef8d0964"/>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66ca2c-0331-4b68-94c5-c8ac92536882"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0a4d30-4de2-46dd-b668-2c35ef8d0964"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c81b033c-46a0-4780-8372-6f58a352d34c}" ma:internalName="TaxCatchAll" ma:showField="CatchAllData" ma:web="010a4d30-4de2-46dd-b668-2c35ef8d096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ADAB6E-78D9-4DD7-86A0-2E041DC37127}">
  <ds:schemaRefs>
    <ds:schemaRef ds:uri="http://purl.org/dc/dcmitype/"/>
    <ds:schemaRef ds:uri="http://schemas.microsoft.com/office/2006/documentManagement/types"/>
    <ds:schemaRef ds:uri="http://schemas.openxmlformats.org/package/2006/metadata/core-properties"/>
    <ds:schemaRef ds:uri="f366ca2c-0331-4b68-94c5-c8ac92536882"/>
    <ds:schemaRef ds:uri="http://www.w3.org/XML/1998/namespace"/>
    <ds:schemaRef ds:uri="http://purl.org/dc/elements/1.1/"/>
    <ds:schemaRef ds:uri="http://schemas.microsoft.com/office/2006/metadata/properties"/>
    <ds:schemaRef ds:uri="http://schemas.microsoft.com/office/infopath/2007/PartnerControls"/>
    <ds:schemaRef ds:uri="010a4d30-4de2-46dd-b668-2c35ef8d0964"/>
    <ds:schemaRef ds:uri="http://schemas.microsoft.com/sharepoint/v3"/>
    <ds:schemaRef ds:uri="http://purl.org/dc/terms/"/>
  </ds:schemaRefs>
</ds:datastoreItem>
</file>

<file path=customXml/itemProps2.xml><?xml version="1.0" encoding="utf-8"?>
<ds:datastoreItem xmlns:ds="http://schemas.openxmlformats.org/officeDocument/2006/customXml" ds:itemID="{DD71D941-C55A-48C1-AF2E-FFD9BEE2834F}">
  <ds:schemaRefs>
    <ds:schemaRef ds:uri="http://schemas.microsoft.com/sharepoint/v3/contenttype/forms"/>
  </ds:schemaRefs>
</ds:datastoreItem>
</file>

<file path=customXml/itemProps3.xml><?xml version="1.0" encoding="utf-8"?>
<ds:datastoreItem xmlns:ds="http://schemas.openxmlformats.org/officeDocument/2006/customXml" ds:itemID="{647D9C91-6087-40D7-9D8C-1340B9E19DFB}">
  <ds:schemaRefs>
    <ds:schemaRef ds:uri="010a4d30-4de2-46dd-b668-2c35ef8d0964"/>
    <ds:schemaRef ds:uri="f366ca2c-0331-4b68-94c5-c8ac9253688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1830</Words>
  <Application>Microsoft Office PowerPoint</Application>
  <PresentationFormat>Widescreen</PresentationFormat>
  <Paragraphs>220</Paragraphs>
  <Slides>11</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Aptos</vt:lpstr>
      <vt:lpstr>Arial</vt:lpstr>
      <vt:lpstr>Calibri</vt:lpstr>
      <vt:lpstr>Segoe Sans Display</vt:lpstr>
      <vt:lpstr>Segoe Sans Text</vt:lpstr>
      <vt:lpstr>Segoe Sans Text Semibold</vt:lpstr>
      <vt:lpstr>Wingdings</vt:lpstr>
      <vt:lpstr>Office Theme</vt:lpstr>
      <vt:lpstr>1_Office Theme</vt:lpstr>
      <vt:lpstr>PowerPoint Presentation</vt:lpstr>
      <vt:lpstr>Context &amp; Goal</vt:lpstr>
      <vt:lpstr>Phase A  |  Technical Architecture Research  </vt:lpstr>
      <vt:lpstr>Phase A  |  Copilot Prompts</vt:lpstr>
      <vt:lpstr>Phase B  |  Design Future-State Architecture</vt:lpstr>
      <vt:lpstr>Deliverable 1  |  Three Architecture Concept Diagrams</vt:lpstr>
      <vt:lpstr>Deliverable 2  |  Persona-Driven Scenarios</vt:lpstr>
      <vt:lpstr>Deliverable 3  |  C-Suite Relevance  —  “So What?” </vt:lpstr>
      <vt:lpstr>Workshop Flow &amp; Quality Bar</vt:lpstr>
      <vt:lpstr>Business Value Drivers in an AI First World</vt:lpstr>
      <vt:lpstr>What this means for ISD Architects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Robert Potocnik</dc:creator>
  <cp:keywords/>
  <dc:description>generated using python-pptx</dc:description>
  <cp:lastModifiedBy>Robert Potocnik</cp:lastModifiedBy>
  <cp:revision>1</cp:revision>
  <dcterms:created xsi:type="dcterms:W3CDTF">2013-01-27T09:14:16Z</dcterms:created>
  <dcterms:modified xsi:type="dcterms:W3CDTF">2026-05-13T21:24:37Z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0x0101007729BA2C596FC949B2F4B7CB2497383C</vt:lpwstr>
  </property>
  <property fmtid="{D5CDD505-2E9C-101B-9397-08002B2CF9AE}" pid="3" name="xd_ProgID">
    <vt:lpwstr/>
  </property>
  <property fmtid="{D5CDD505-2E9C-101B-9397-08002B2CF9AE}" pid="4" name="MediaServiceImageTags">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y fmtid="{D5CDD505-2E9C-101B-9397-08002B2CF9AE}" pid="10" name="Order">
    <vt:r8>531300</vt:r8>
  </property>
</Properties>
</file>