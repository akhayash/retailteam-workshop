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notesMasterIdLst>
    <p:notesMasterId r:id="rId17"/>
  </p:notesMasterIdLst>
  <p:handoutMasterIdLst>
    <p:handoutMasterId r:id="rId18"/>
  </p:handoutMasterIdLst>
  <p:sldIdLst>
    <p:sldId id="256" r:id="rId14"/>
    <p:sldId id="257" r:id="rId15"/>
    <p:sldId id="258" r:id="rId16"/>
    <p:sldId id="259" r:id="rId13"/>
    <p:sldId id="260" r:id="rId12"/>
    <p:sldId id="261" r:id="rId11"/>
    <p:sldId id="262" r:id="rId10"/>
    <p:sldId id="263" r:id="rId9"/>
    <p:sldId id="264" r:id="rId8"/>
    <p:sldId id="265" r:id="rId7"/>
    <p:sldId id="266" r:id="rId6"/>
    <p:sldId id="267" r:id="rId25"/>
    <p:sldId id="268" r:id="rId26"/>
    <p:sldId id="269" r:id="rId27"/>
    <p:sldId id="270" r:id="rId28"/>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61BD13B-2344-4F41-99AC-2DDA9613BFA3}">
          <p14:sldIdLst>
            <p14:sldId id="269"/>
            <p14:sldId id="276"/>
            <p14:sldId id="275"/>
            <p14:sldId id="277"/>
            <p14:sldId id="278"/>
            <p14:sldId id="279"/>
            <p14:sldId id="280"/>
            <p14:sldId id="281"/>
            <p14:sldId id="282"/>
          </p14:sldIdLst>
        </p14:section>
        <p14:section name="Food for thought" id="{7E6BA749-AAEC-4B36-884F-BD0C1EB6CB81}">
          <p14:sldIdLst>
            <p14:sldId id="265"/>
            <p14:sldId id="266"/>
          </p14:sldIdLst>
        </p14:section>
        <p14:section name="Original" id="{0670563B-B2A4-458D-86FB-E9ADC323AAB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FB7706-D677-880B-F9E8-65D27F5D3DE3}" name="Kevin Fleck" initials="KF" userId="S::kfleck@microsoft.com::592a24b6-d598-4a89-99db-55218655c98f" providerId="AD"/>
  <p188:author id="{78D4F1FB-D4A7-101A-E123-4F368CC74BFB}" name="Darryl Schaffer" initials="DS" userId="S::darrylsc@microsoft.com::949d0210-9a49-4bf8-9209-1c37b4bbaf0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5FAF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1C91D-AE03-4903-97DE-02007C0FDA4F}" v="2" dt="2026-05-13T15:45:25.753"/>
    <p1510:client id="{21B993C7-78B2-4B6C-9394-2E32F8AE230A}" v="1" dt="2026-05-13T14:10:56.778"/>
    <p1510:client id="{C0477D6C-43A1-44D4-84F5-8DE82092F0AC}" v="4" dt="2026-05-13T21:24:37.280"/>
    <p1510:client id="{CAA01F5A-3139-4291-BAD7-3EDA3960AF01}" v="1" dt="2026-05-13T14:09:58.063"/>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08" autoAdjust="0"/>
    <p:restoredTop sz="94660"/>
  </p:normalViewPr>
  <p:slideViewPr>
    <p:cSldViewPr snapToGrid="0">
      <p:cViewPr varScale="1">
        <p:scale>
          <a:sx n="93" d="100"/>
          <a:sy n="93" d="100"/>
        </p:scale>
        <p:origin x="68" y="2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microsoft.com/office/2018/10/relationships/authors" Target="authors.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73CB56-EB37-77F4-6836-9131A4C0F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C29C11D-FB53-6549-1E55-6D47B4E262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4C2D47-8B52-4FE9-A9A2-1ADA2F43B27D}" type="datetimeFigureOut">
              <a:rPr lang="en-US" smtClean="0"/>
              <a:t>5/13/2026</a:t>
            </a:fld>
            <a:endParaRPr lang="en-US"/>
          </a:p>
        </p:txBody>
      </p:sp>
      <p:sp>
        <p:nvSpPr>
          <p:cNvPr id="4" name="Footer Placeholder 3">
            <a:extLst>
              <a:ext uri="{FF2B5EF4-FFF2-40B4-BE49-F238E27FC236}">
                <a16:creationId xmlns:a16="http://schemas.microsoft.com/office/drawing/2014/main" id="{CA749A9E-E413-75D4-2F2C-2EED83D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6DB02A3-7ED6-A0D3-3D4C-BA35CF4073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E6494-6CA0-4E26-91AE-FEB834235D75}" type="slidenum">
              <a:rPr lang="en-US" smtClean="0"/>
              <a:t>‹#›</a:t>
            </a:fld>
            <a:endParaRPr lang="en-US"/>
          </a:p>
        </p:txBody>
      </p:sp>
    </p:spTree>
    <p:extLst>
      <p:ext uri="{BB962C8B-B14F-4D97-AF65-F5344CB8AC3E}">
        <p14:creationId xmlns:p14="http://schemas.microsoft.com/office/powerpoint/2010/main" val="172649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4B5C32-1647-4DB7-8BB3-6DC9D8B8AEA3}"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2F8B0C-73E7-44BF-865F-7E1ECD9679C9}" type="slidenum">
              <a:rPr lang="en-US" smtClean="0"/>
              <a:t>‹#›</a:t>
            </a:fld>
            <a:endParaRPr lang="en-US"/>
          </a:p>
        </p:txBody>
      </p:sp>
    </p:spTree>
    <p:extLst>
      <p:ext uri="{BB962C8B-B14F-4D97-AF65-F5344CB8AC3E}">
        <p14:creationId xmlns:p14="http://schemas.microsoft.com/office/powerpoint/2010/main" val="3610249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brand framing: this is the Retail Team's Solution Architecture for the AI Clothing Fit Assessment Agent, v2.0.0 dated 2026-05-13. Frame the deck as the workshop output for Phase A (research) and Phase B (future-state design) following the workshop guidance deck. Set expectations that every claim is labelled Verified, Hypothesis, or Assumption, and that tradeoffs and personas are explicit. Source: docs/architecture/solution-architecture.md.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first: clothing returns drive 25–40% of online apparel revenue back through the warehouse, and the obvious biometric fixes hit privacy walls. Then present the solution: a multi-tenant .NET 8 service on Azure Container Apps with a three-tier Microsoft-only AI pipeline that purges photos in under 60 seconds and keeps the human in the decision loop. The point of this slide is to set the boundary — what we are building and what we are not (we are not replacing human judgment, we are not building biometrics). Source: solution-architecture.md §1.</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workshop Phase A frame: five lenses we ran the AI Clothing Fit Assessment Agent through. Walk the room left to right — Tech Stack (the Microsoft choices we made and ADRs that back them), Limitations (what hurts: Vision retirement, GPT-4o non-determinism, accuracy ceilings), Patterns (Clean Architecture and multi-tenant from day one — these are decided), Owners (who owns what across Engineering, Platform, Data, Security, and Product), and Personas (a preview of slide 4). Emphasize the discipline: every claim is labeled and cited. Source: research.md, decision-register.md, solution-architecture.md §3.</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personas frame the architecture. The Online Shopper wants a confident size pick in under five seconds without uploading something they will regret. The Digital Transformation Leader is on the hook for measurable return-rate reduction and demands a multi-tenant platform that won't lock the company to a single brand. The Risk / Compliance Officer needs the architecture to survive GDPR Article 30 and EU AI Act scrutiny without exposing biometric liability. The eyebrow line is the workshop discipline: AI augments, humans stay accountable. Source: solution-architecture.md §4 (Stakeholders &amp; Personas).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three concepts the way the workshop guidance asks for them — not as three parallel builds but as one architecture told three ways. Concept A is the v1 we ship now: cloud-centric, Microsoft-only, governed. Concept B is the v2 expansion: edge devices and an AI agent that works alongside the in-store associate. Concept C is the v3 strategic move: a Microsoft Fabric–based semantic layer that turns fit data into cross-domain merchandising intelligence. The next three slides defend each concept in detail. Source: solution-architecture.md §6 (Architecture Concepts) and decision-register.md ADR-001.</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A is what ships in v1. Walk through the five service pillars on the left — Container Apps for the API, Cosmos DB with hierarchical partition keys for multi-tenant safety, Blob with a 60-second TTL for privacy, the Microsoft AI trio for validation and extraction, and Service Bus for overflow when the synchronous path is too slow. On the right, name the tradeoffs honestly: we trade Azure portability for shipping speed, and we live with single-region in v1. Close on the hypothesis box: H-1 (accuracy) is verified by integration testing; H-2 (the 70% confidence threshold) is still a hypothesis we will validate with A/B testing. Source: solution-architecture.md §6.1, ADR-001, ADR-002, ADR-008.</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B is the v2 expansion path. The architectural shift is from cloud-only to edge + cloud — pose detection runs on in-store devices, only low-confidence cases call the cloud, and a mobile copilot assists the store associate. Stress the human-in-the-loop framing in the AI + Human paragraph: the associate retains accountability, the AI just synthesizes. Tradeoffs are honest — we get the strongest privacy posture and the lowest latency at the cost of hardware capex and device management. The H-6 hypothesis (edge cost-justified) is what a pilot would settle. Source: solution-architecture.md §6.2.</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C is the v3 strategic move. It only makes sense after Concept A has produced 12+ months of fit data — that is when joining fit confidence to returns, profiles, and catalog data starts paying off. The AI + Human paragraph keeps the discipline: a Fabric-based copilot augments the merchandising analyst's catalog work, but the analyst owns the decisions. Tradeoffs are real — Fabric is capex-heavy, and the time-to-insight beyond the initial fit feature is long. The trigger note in the bottom box makes the dependency on Concept A explicit. Source: solution-architecture.md §6.3.</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 A engine. Tier 1 is three safety checks in parallel — Azure AI Vision rejects multi-person or no-person images, Content Safety blocks minors and explicit content, Defender for Storage screens for malware. Tier 2 is the GPT-4o Vision extraction — structured JSON, height as the mandatory scale reference, prompts versioned in source so every decision is auditable. Tier 3 is the deterministic SMPL body model we will swap in if H-1 fails integration testing. Each tier cites its ADR so the room can audit the decision trail. Source: solution-architecture.md §6.1, ADR-001, ADR-008, ADR-012.</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A POST from the frontend hits auth and rate limiting, the image lands in-memory or in a short-lived blob, Tier 1 runs three safety checks in parallel, Tier 2 extracts measurements with GPT-4o, the result is compared against the garment's size data, and the response is returned with a full audit trail while the image is purged. Anchor on the latency strip: p95 must stay under 5 seconds; when depth crosses 50 or the synchronous path slips past 4 seconds, the request goes async via Service Bus. Source: solution-architecture.md §7, openapi.yaml, ADR-006.</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the room aligns. Read across each row: Concept A is the v1 because it ships fast, lets engineering focus on the fit feature, and enforces multi-tenant safety at the engine level. Concept B is the v2 because it extends in-store reach and gives the strongest privacy posture — but it adds device fleet and capex risk. Concept C is the v3 because it is the strategic move that only pays off after Concept A has produced 12+ months of fit data. Close on the eyebrow at the bottom — the sequencing is the architecture decision. Source: solution-architecture.md §6 and §9.</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the technology with the outcome it earns. On the left, four value drivers — decision velocity (confident size recommendations, 30% returns reduction target), workforce productivity (associate and analyst copilots), operational resilience (multi-tenant safety, 60s TTL, audit trail), and growth enablement (fit data as a strategic asset). On the right, the Microsoft IQ framing — Work IQ is the in-workflow recommendation, Foundry IQ is the three-tier pipeline, Fabric IQ is the Concept C semantic layer. The IQs are enablers, not headlines — the drivers are what the business pays for. Source: solution-architecture.md §8.</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every commitment with what could break it. On the left, the five ADRs that define v1 — the three-tier pipeline, hierarchical partition keys for multi-tenant safety, Entra + managed identity (APIM deferred to v2), mandatory height input, and Clean Architecture. On the right, the five risks we are actively tracking — R-001 GPT-4o accuracy is CRITICAL (mitigated by the Tier 3 fallback), R-002, R-003, and R-007 are HIGH (each with a named mitigation), and R-005 is MEDIUM because the engine-level partitioning already enforces tenant isolation. The colored severity tokens make the risk profile readable at a glance. Source: decision-register.md and risk-register.md.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honest about what is verified and what is still a hypothesis. H-3 (multi-tenant safety via hierarchical PK) is Verified at compile time. H-1 (GPT-4o accuracy) and H-2 (the 70% confidence threshold) drive the riskiest behavior in the system and must be settled in integration and A/B testing before pilot. H-4 (60s TTL) and H-5 (rate limiting) are operational hypotheses with named tests. H-6 (edge cost) is the gate for Concept B. The status column is the asymmetry — we ship on H-1 verified by test, but production data is what truly settles it. Source: solution-architecture.md §10.</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question and the commitments. Read the question aloud — Why this architecture, why now, what would change our mind? Then walk through the four commitments. Concept A ships because we owe the business a measurable return inside six months. Tier 2 will be reopened the moment H-1 fails — that is the contract, not a hope. Concept B is a v2 pilot in 12–18 months, gated on shopper trust data and store-fleet readiness. Concept C is the v3 strategic deepening, gated on Concept A producing the data that justifies the Fabric investment. The commitments are how we hold ourselves accountable. Source: solution-architecture.md §9 and §11.</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prstGeom prst="rect">
            <a:avLst/>
          </a:prstGeom>
          <a:noFill/>
        </p:spPr>
        <p:txBody>
          <a:bodyPr wrap="square" lIns="0" tIns="0" rIns="0" bIns="0" anchor="b" anchorCtr="0">
            <a:spAutoFit/>
          </a:bodyPr>
          <a:lstStyle>
            <a:lvl1pPr algn="l">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prstGeom prst="rect">
            <a:avLst/>
          </a:prstGeo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86217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5D8072-A0CA-4D25-667F-9A9BCD4E97EC}"/>
              </a:ext>
              <a:ext uri="{C183D7F6-B498-43B3-948B-1728B52AA6E4}">
                <adec:decorative xmlns:adec="http://schemas.microsoft.com/office/drawing/2017/decorative" val="1"/>
              </a:ext>
            </a:extLst>
          </p:cNvPr>
          <p:cNvPicPr>
            <a:picLocks noChangeAspect="1"/>
          </p:cNvPicPr>
          <p:nvPr userDrawn="1"/>
        </p:nvPicPr>
        <p:blipFill>
          <a:blip r:embed="rId2">
            <a:duotone>
              <a:schemeClr val="accent2">
                <a:shade val="45000"/>
                <a:satMod val="135000"/>
              </a:schemeClr>
              <a:prstClr val="white"/>
            </a:duotone>
            <a:alphaModFix amt="25000"/>
            <a:extLst>
              <a:ext uri="{BEBA8EAE-BF5A-486C-A8C5-ECC9F3942E4B}">
                <a14:imgProps xmlns:a14="http://schemas.microsoft.com/office/drawing/2010/main">
                  <a14:imgLayer r:embed="rId3">
                    <a14:imgEffect>
                      <a14:artisticChalkSketch/>
                    </a14:imgEffect>
                  </a14:imgLayer>
                </a14:imgProps>
              </a:ext>
            </a:extLst>
          </a:blip>
          <a:srcRect b="15625"/>
          <a:stretch>
            <a:fillRect/>
          </a:stretch>
        </p:blipFill>
        <p:spPr>
          <a:xfrm>
            <a:off x="-1" y="0"/>
            <a:ext cx="12192001" cy="6858000"/>
          </a:xfrm>
          <a:prstGeom prst="rect">
            <a:avLst/>
          </a:prstGeom>
        </p:spPr>
      </p:pic>
      <p:sp>
        <p:nvSpPr>
          <p:cNvPr id="2" name="Title 1"/>
          <p:cNvSpPr>
            <a:spLocks noGrp="1"/>
          </p:cNvSpPr>
          <p:nvPr>
            <p:ph type="title"/>
          </p:nvPr>
        </p:nvSpPr>
        <p:spPr>
          <a:xfrm>
            <a:off x="457199" y="672204"/>
            <a:ext cx="11141565" cy="553998"/>
          </a:xfrm>
          <a:prstGeom prst="rect">
            <a:avLst/>
          </a:prstGeom>
        </p:spPr>
        <p:txBody>
          <a:bodyPr vert="horz" wrap="square" lIns="0" tIns="0" rIns="0" bIns="0" rtlCol="0" anchor="t">
            <a:spAutoFit/>
          </a:bodyPr>
          <a:lstStyle>
            <a:lvl1pPr algn="l">
              <a:defRPr lang="en-US" sz="3600" b="0" cap="none" spc="-50" baseline="0" dirty="0">
                <a:ln w="3175">
                  <a:noFill/>
                </a:ln>
                <a:effectLst/>
                <a:ea typeface="+mn-ea"/>
                <a:cs typeface="Segoe UI" pitchFamily="34" charset="0"/>
              </a:defRPr>
            </a:lvl1pPr>
          </a:lstStyle>
          <a:p>
            <a:pPr lvl="0" algn="l" defTabSz="932742">
              <a:lnSpc>
                <a:spcPct val="100000"/>
              </a:lnSpc>
            </a:pPr>
            <a:r>
              <a:rPr lang="en-US"/>
              <a:t>Click to edit Master title style</a:t>
            </a:r>
          </a:p>
        </p:txBody>
      </p:sp>
      <p:sp>
        <p:nvSpPr>
          <p:cNvPr id="10" name="Rectangle 9">
            <a:extLst>
              <a:ext uri="{FF2B5EF4-FFF2-40B4-BE49-F238E27FC236}">
                <a16:creationId xmlns:a16="http://schemas.microsoft.com/office/drawing/2014/main" id="{EAEC308C-A43C-59E4-53C1-04BA0232E2EB}"/>
              </a:ext>
              <a:ext uri="{C183D7F6-B498-43B3-948B-1728B52AA6E4}">
                <adec:decorative xmlns:adec="http://schemas.microsoft.com/office/drawing/2017/decorative" val="1"/>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 Placeholder 5">
            <a:extLst>
              <a:ext uri="{FF2B5EF4-FFF2-40B4-BE49-F238E27FC236}">
                <a16:creationId xmlns:a16="http://schemas.microsoft.com/office/drawing/2014/main" id="{855F95E2-6278-840F-EAEA-A9ED2D12D8C9}"/>
              </a:ext>
            </a:extLst>
          </p:cNvPr>
          <p:cNvSpPr>
            <a:spLocks noGrp="1"/>
          </p:cNvSpPr>
          <p:nvPr>
            <p:ph type="body" sz="quarter" idx="13"/>
          </p:nvPr>
        </p:nvSpPr>
        <p:spPr>
          <a:xfrm>
            <a:off x="457199" y="291903"/>
            <a:ext cx="11141564" cy="365125"/>
          </a:xfrm>
          <a:prstGeom prst="rect">
            <a:avLst/>
          </a:prstGeom>
        </p:spPr>
        <p:txBody>
          <a:bodyPr lIns="0"/>
          <a:lstStyle>
            <a:lvl1pPr algn="l">
              <a:buNone/>
              <a:defRPr sz="1400" b="1" i="0">
                <a:solidFill>
                  <a:srgbClr val="3175D2"/>
                </a:solidFill>
              </a:defRPr>
            </a:lvl1pPr>
          </a:lstStyle>
          <a:p>
            <a:pPr lvl="0"/>
            <a:endParaRPr lang="en-US"/>
          </a:p>
        </p:txBody>
      </p:sp>
      <p:sp>
        <p:nvSpPr>
          <p:cNvPr id="12" name="TextBox 11">
            <a:extLst>
              <a:ext uri="{FF2B5EF4-FFF2-40B4-BE49-F238E27FC236}">
                <a16:creationId xmlns:a16="http://schemas.microsoft.com/office/drawing/2014/main" id="{963E57D3-82F1-3802-8E63-E01E3EC547C2}"/>
              </a:ext>
            </a:extLst>
          </p:cNvPr>
          <p:cNvSpPr txBox="1"/>
          <p:nvPr userDrawn="1"/>
        </p:nvSpPr>
        <p:spPr>
          <a:xfrm>
            <a:off x="365760" y="6537960"/>
            <a:ext cx="4458272" cy="230832"/>
          </a:xfrm>
          <a:prstGeom prst="rect">
            <a:avLst/>
          </a:prstGeom>
          <a:noFill/>
        </p:spPr>
        <p:txBody>
          <a:bodyPr wrap="none">
            <a:spAutoFit/>
          </a:bodyPr>
          <a:lstStyle/>
          <a:p>
            <a:pPr algn="l">
              <a:spcBef>
                <a:spcPts val="0"/>
              </a:spcBef>
              <a:spcAft>
                <a:spcPts val="600"/>
              </a:spcAft>
              <a:defRPr sz="900" b="0" i="1">
                <a:solidFill>
                  <a:srgbClr val="6B6B6B"/>
                </a:solidFill>
                <a:latin typeface="Calibri"/>
              </a:defRPr>
            </a:pPr>
            <a:r>
              <a:rPr lang="en-US"/>
              <a:t>AI-First Architecting Value with AI  |  Technical Architecture Research &amp; Future-State Design</a:t>
            </a:r>
          </a:p>
        </p:txBody>
      </p:sp>
    </p:spTree>
    <p:extLst>
      <p:ext uri="{BB962C8B-B14F-4D97-AF65-F5344CB8AC3E}">
        <p14:creationId xmlns:p14="http://schemas.microsoft.com/office/powerpoint/2010/main" val="17088054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wrap="square" lIns="0" tIns="0" rIns="0" bIns="0" rtlCol="0" anchor="t">
            <a:spAutoFit/>
          </a:bodyPr>
          <a:lstStyle>
            <a:lvl1pPr>
              <a:defRPr lang="en-US" sz="3600" b="0" cap="none" spc="-50" baseline="0" dirty="0">
                <a:ln w="3175">
                  <a:noFill/>
                </a:ln>
                <a:effectLst/>
                <a:ea typeface="+mn-ea"/>
                <a:cs typeface="Segoe UI" pitchFamily="34" charset="0"/>
              </a:defRPr>
            </a:lvl1pPr>
          </a:lstStyle>
          <a:p>
            <a:pPr lvl="0" algn="l" defTabSz="932742">
              <a:lnSpc>
                <a:spcPct val="100000"/>
              </a:lnSpc>
            </a:pPr>
            <a:r>
              <a:rPr lang="en-US"/>
              <a:t>Click to edit Master title style</a:t>
            </a:r>
          </a:p>
        </p:txBody>
      </p:sp>
      <p:sp>
        <p:nvSpPr>
          <p:cNvPr id="3" name="Content Placeholder 2"/>
          <p:cNvSpPr>
            <a:spLocks noGrp="1"/>
          </p:cNvSpPr>
          <p:nvPr>
            <p:ph idx="1"/>
          </p:nvPr>
        </p:nvSpPr>
        <p:spPr>
          <a:xfrm>
            <a:off x="457200" y="1600200"/>
            <a:ext cx="11239756"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5/13/2026</a:t>
            </a:fld>
            <a:endParaRPr lang="en-US"/>
          </a:p>
        </p:txBody>
      </p:sp>
      <p:sp>
        <p:nvSpPr>
          <p:cNvPr id="7" name="Footer Placeholder 5">
            <a:extLst>
              <a:ext uri="{FF2B5EF4-FFF2-40B4-BE49-F238E27FC236}">
                <a16:creationId xmlns:a16="http://schemas.microsoft.com/office/drawing/2014/main" id="{E4C3F4F8-4402-CF7F-453A-5D791400ADC2}"/>
              </a:ext>
            </a:extLst>
          </p:cNvPr>
          <p:cNvSpPr>
            <a:spLocks noGrp="1"/>
          </p:cNvSpPr>
          <p:nvPr>
            <p:ph type="ftr" sz="quarter" idx="11"/>
          </p:nvPr>
        </p:nvSpPr>
        <p:spPr>
          <a:xfrm>
            <a:off x="4648200" y="6356350"/>
            <a:ext cx="2895600" cy="365125"/>
          </a:xfrm>
          <a:prstGeom prst="rect">
            <a:avLst/>
          </a:prstGeom>
        </p:spPr>
        <p:txBody>
          <a:bodyPr/>
          <a:lstStyle>
            <a:lvl1pPr algn="ctr">
              <a:defRPr/>
            </a:lvl1pPr>
          </a:lstStyle>
          <a:p>
            <a:pPr algn="ctr"/>
            <a:endParaRPr lang="en-US"/>
          </a:p>
        </p:txBody>
      </p:sp>
      <p:sp>
        <p:nvSpPr>
          <p:cNvPr id="8" name="Slide Number Placeholder 6">
            <a:extLst>
              <a:ext uri="{FF2B5EF4-FFF2-40B4-BE49-F238E27FC236}">
                <a16:creationId xmlns:a16="http://schemas.microsoft.com/office/drawing/2014/main" id="{7DDEBC48-607B-D42F-7241-33415344D59A}"/>
              </a:ext>
            </a:extLst>
          </p:cNvPr>
          <p:cNvSpPr>
            <a:spLocks noGrp="1"/>
          </p:cNvSpPr>
          <p:nvPr>
            <p:ph type="sldNum" sz="quarter" idx="12"/>
          </p:nvPr>
        </p:nvSpPr>
        <p:spPr>
          <a:xfrm>
            <a:off x="10573900" y="6348721"/>
            <a:ext cx="1420695" cy="365125"/>
          </a:xfrm>
          <a:prstGeom prst="rect">
            <a:avLst/>
          </a:prstGeom>
        </p:spPr>
        <p:txBody>
          <a:bodyPr/>
          <a:lstStyle>
            <a:lvl1pPr algn="r">
              <a:defRPr/>
            </a:lvl1pPr>
          </a:lstStyle>
          <a:p>
            <a:pPr algn="r"/>
            <a:fld id="{C1FF6DA9-008F-8B48-92A6-B652298478BF}" type="slidenum">
              <a:rPr lang="en-US" smtClean="0"/>
              <a:pPr algn="r"/>
              <a:t>‹#›</a:t>
            </a:fld>
            <a:endParaRPr lang="en-US"/>
          </a:p>
        </p:txBody>
      </p:sp>
      <p:sp>
        <p:nvSpPr>
          <p:cNvPr id="10" name="Rectangle 9">
            <a:extLst>
              <a:ext uri="{FF2B5EF4-FFF2-40B4-BE49-F238E27FC236}">
                <a16:creationId xmlns:a16="http://schemas.microsoft.com/office/drawing/2014/main" id="{E670D57D-346B-F858-6872-677AA80CE591}"/>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20982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vert="horz" wrap="square" lIns="0" tIns="0" rIns="0" bIns="0" rtlCol="0" anchor="t">
            <a:spAutoFit/>
          </a:bodyPr>
          <a:lstStyle>
            <a:lvl1pPr>
              <a:defRPr lang="en-US" sz="3600" b="0" cap="none" spc="-50" baseline="0" dirty="0">
                <a:ln w="3175">
                  <a:noFill/>
                </a:ln>
                <a:effectLst/>
                <a:ea typeface="+mn-ea"/>
                <a:cs typeface="Segoe UI" pitchFamily="34" charset="0"/>
              </a:defRPr>
            </a:lvl1pPr>
          </a:lstStyle>
          <a:p>
            <a:pPr lvl="0" algn="l" defTabSz="932742">
              <a:lnSpc>
                <a:spcPct val="100000"/>
              </a:lnSpc>
            </a:pPr>
            <a:r>
              <a:rPr lang="en-US"/>
              <a:t>Click to edit Master title style</a:t>
            </a:r>
          </a:p>
        </p:txBody>
      </p:sp>
      <p:sp>
        <p:nvSpPr>
          <p:cNvPr id="3" name="Content Placeholder 2"/>
          <p:cNvSpPr>
            <a:spLocks noGrp="1"/>
          </p:cNvSpPr>
          <p:nvPr>
            <p:ph idx="1"/>
          </p:nvPr>
        </p:nvSpPr>
        <p:spPr>
          <a:xfrm>
            <a:off x="457200" y="1600200"/>
            <a:ext cx="11319536"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5/13/2026</a:t>
            </a:fld>
            <a:endParaRPr lang="en-US"/>
          </a:p>
        </p:txBody>
      </p:sp>
      <p:sp>
        <p:nvSpPr>
          <p:cNvPr id="7" name="Footer Placeholder 5">
            <a:extLst>
              <a:ext uri="{FF2B5EF4-FFF2-40B4-BE49-F238E27FC236}">
                <a16:creationId xmlns:a16="http://schemas.microsoft.com/office/drawing/2014/main" id="{8DAE3174-F8CC-E826-BCB8-60B5A9B28626}"/>
              </a:ext>
            </a:extLst>
          </p:cNvPr>
          <p:cNvSpPr>
            <a:spLocks noGrp="1"/>
          </p:cNvSpPr>
          <p:nvPr>
            <p:ph type="ftr" sz="quarter" idx="11"/>
          </p:nvPr>
        </p:nvSpPr>
        <p:spPr>
          <a:xfrm>
            <a:off x="4648200" y="6356350"/>
            <a:ext cx="2895600" cy="365125"/>
          </a:xfrm>
          <a:prstGeom prst="rect">
            <a:avLst/>
          </a:prstGeom>
        </p:spPr>
        <p:txBody>
          <a:bodyPr/>
          <a:lstStyle>
            <a:lvl1pPr algn="ctr">
              <a:defRPr/>
            </a:lvl1pPr>
          </a:lstStyle>
          <a:p>
            <a:pPr algn="ctr"/>
            <a:endParaRPr lang="en-US"/>
          </a:p>
        </p:txBody>
      </p:sp>
      <p:sp>
        <p:nvSpPr>
          <p:cNvPr id="8" name="Slide Number Placeholder 6">
            <a:extLst>
              <a:ext uri="{FF2B5EF4-FFF2-40B4-BE49-F238E27FC236}">
                <a16:creationId xmlns:a16="http://schemas.microsoft.com/office/drawing/2014/main" id="{5CCB410E-B977-86A8-D057-373BA578028C}"/>
              </a:ext>
            </a:extLst>
          </p:cNvPr>
          <p:cNvSpPr>
            <a:spLocks noGrp="1"/>
          </p:cNvSpPr>
          <p:nvPr>
            <p:ph type="sldNum" sz="quarter" idx="12"/>
          </p:nvPr>
        </p:nvSpPr>
        <p:spPr>
          <a:xfrm>
            <a:off x="10573900" y="6348721"/>
            <a:ext cx="1420695" cy="365125"/>
          </a:xfrm>
          <a:prstGeom prst="rect">
            <a:avLst/>
          </a:prstGeom>
        </p:spPr>
        <p:txBody>
          <a:bodyPr/>
          <a:lstStyle>
            <a:lvl1pPr algn="r">
              <a:defRPr/>
            </a:lvl1pPr>
          </a:lstStyle>
          <a:p>
            <a:pPr algn="r"/>
            <a:fld id="{C1FF6DA9-008F-8B48-92A6-B652298478BF}" type="slidenum">
              <a:rPr lang="en-US" smtClean="0"/>
              <a:pPr algn="r"/>
              <a:t>‹#›</a:t>
            </a:fld>
            <a:endParaRPr lang="en-US"/>
          </a:p>
        </p:txBody>
      </p:sp>
      <p:sp>
        <p:nvSpPr>
          <p:cNvPr id="10" name="Rectangle 9">
            <a:extLst>
              <a:ext uri="{FF2B5EF4-FFF2-40B4-BE49-F238E27FC236}">
                <a16:creationId xmlns:a16="http://schemas.microsoft.com/office/drawing/2014/main" id="{5C0804A2-2884-0625-86F6-605CEA464243}"/>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831195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5/13/2026</a:t>
            </a:fld>
            <a:endParaRPr lang="en-US"/>
          </a:p>
        </p:txBody>
      </p:sp>
      <p:sp>
        <p:nvSpPr>
          <p:cNvPr id="5" name="Footer Placeholder 5">
            <a:extLst>
              <a:ext uri="{FF2B5EF4-FFF2-40B4-BE49-F238E27FC236}">
                <a16:creationId xmlns:a16="http://schemas.microsoft.com/office/drawing/2014/main" id="{26F9B73C-310F-FBBC-B1C5-EE1B1E2C8618}"/>
              </a:ext>
            </a:extLst>
          </p:cNvPr>
          <p:cNvSpPr>
            <a:spLocks noGrp="1"/>
          </p:cNvSpPr>
          <p:nvPr>
            <p:ph type="ftr" sz="quarter" idx="11"/>
          </p:nvPr>
        </p:nvSpPr>
        <p:spPr>
          <a:xfrm>
            <a:off x="4648200" y="6356350"/>
            <a:ext cx="2895600" cy="365125"/>
          </a:xfrm>
          <a:prstGeom prst="rect">
            <a:avLst/>
          </a:prstGeom>
        </p:spPr>
        <p:txBody>
          <a:bodyPr/>
          <a:lstStyle>
            <a:lvl1pPr algn="ctr">
              <a:defRPr/>
            </a:lvl1pPr>
          </a:lstStyle>
          <a:p>
            <a:pPr algn="ctr"/>
            <a:endParaRPr lang="en-US"/>
          </a:p>
        </p:txBody>
      </p:sp>
      <p:sp>
        <p:nvSpPr>
          <p:cNvPr id="6" name="Slide Number Placeholder 6">
            <a:extLst>
              <a:ext uri="{FF2B5EF4-FFF2-40B4-BE49-F238E27FC236}">
                <a16:creationId xmlns:a16="http://schemas.microsoft.com/office/drawing/2014/main" id="{0B6206A7-CB8F-639C-EA9C-3F263D65AA59}"/>
              </a:ext>
            </a:extLst>
          </p:cNvPr>
          <p:cNvSpPr>
            <a:spLocks noGrp="1"/>
          </p:cNvSpPr>
          <p:nvPr>
            <p:ph type="sldNum" sz="quarter" idx="12"/>
          </p:nvPr>
        </p:nvSpPr>
        <p:spPr>
          <a:xfrm>
            <a:off x="10573900" y="6348721"/>
            <a:ext cx="1420695" cy="365125"/>
          </a:xfrm>
          <a:prstGeom prst="rect">
            <a:avLst/>
          </a:prstGeom>
        </p:spPr>
        <p:txBody>
          <a:bodyPr/>
          <a:lstStyle>
            <a:lvl1pPr algn="r">
              <a:defRPr/>
            </a:lvl1pPr>
          </a:lstStyle>
          <a:p>
            <a:pPr algn="r"/>
            <a:fld id="{C1FF6DA9-008F-8B48-92A6-B652298478BF}" type="slidenum">
              <a:rPr lang="en-US" smtClean="0"/>
              <a:pPr algn="r"/>
              <a:t>‹#›</a:t>
            </a:fld>
            <a:endParaRPr lang="en-US"/>
          </a:p>
        </p:txBody>
      </p:sp>
      <p:sp>
        <p:nvSpPr>
          <p:cNvPr id="8" name="Rectangle 7">
            <a:extLst>
              <a:ext uri="{FF2B5EF4-FFF2-40B4-BE49-F238E27FC236}">
                <a16:creationId xmlns:a16="http://schemas.microsoft.com/office/drawing/2014/main" id="{57A63FEE-F13E-E890-68A6-1C8EB5D30E87}"/>
              </a:ext>
              <a:ext uri="{C183D7F6-B498-43B3-948B-1728B52AA6E4}">
                <adec:decorative xmlns:adec="http://schemas.microsoft.com/office/drawing/2017/decorative" val="1"/>
              </a:ext>
            </a:extLst>
          </p:cNvPr>
          <p:cNvSpPr/>
          <p:nvPr userDrawn="1"/>
        </p:nvSpPr>
        <p:spPr>
          <a:xfrm>
            <a:off x="0" y="0"/>
            <a:ext cx="164592"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1234251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picture containing screenshot, colorfulness&#10;&#10;Description automatically generated">
            <a:extLst>
              <a:ext uri="{FF2B5EF4-FFF2-40B4-BE49-F238E27FC236}">
                <a16:creationId xmlns:a16="http://schemas.microsoft.com/office/drawing/2014/main" id="{FBE4EE1B-40D7-D076-6049-390D913335E3}"/>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12353532" y="0"/>
            <a:ext cx="1040075" cy="6858000"/>
          </a:xfrm>
          <a:prstGeom prst="rect">
            <a:avLst/>
          </a:prstGeom>
        </p:spPr>
      </p:pic>
    </p:spTree>
    <p:extLst>
      <p:ext uri="{BB962C8B-B14F-4D97-AF65-F5344CB8AC3E}">
        <p14:creationId xmlns:p14="http://schemas.microsoft.com/office/powerpoint/2010/main" val="22607141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ver Background"/>
          <p:cNvSpPr/>
          <p:nvPr/>
        </p:nvSpPr>
        <p:spPr>
          <a:xfrm>
            <a:off x="0" y="0"/>
            <a:ext cx="12191695" cy="685800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Brand Rail"/>
          <p:cNvSpPr/>
          <p:nvPr/>
        </p:nvSpPr>
        <p:spPr>
          <a:xfrm>
            <a:off x="0" y="0"/>
            <a:ext cx="164592" cy="6858000"/>
          </a:xfrm>
          <a:prstGeom prst="rect">
            <a:avLst/>
          </a:prstGeom>
          <a:solidFill>
            <a:srgbClr val="4F81B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Eyebrow"/>
          <p:cNvSpPr txBox="1"/>
          <p:nvPr/>
        </p:nvSpPr>
        <p:spPr>
          <a:xfrm>
            <a:off x="640080" y="1097280"/>
            <a:ext cx="5486400" cy="292608"/>
          </a:xfrm>
          <a:prstGeom prst="rect">
            <a:avLst/>
          </a:prstGeom>
          <a:noFill/>
        </p:spPr>
        <p:txBody>
          <a:bodyPr wrap="square">
            <a:spAutoFit/>
          </a:bodyPr>
          <a:lstStyle/>
          <a:p>
            <a:pPr algn="l"/>
            <a:r>
              <a:rPr sz="1300" b="1" i="0">
                <a:solidFill>
                  <a:srgbClr val="95C7E7"/>
                </a:solidFill>
                <a:latin typeface="Segoe Sans Display"/>
              </a:rPr>
              <a:t>SOLUTION ARCHITECTURE  •  RETAIL TEAM</a:t>
            </a:r>
          </a:p>
        </p:txBody>
      </p:sp>
      <p:sp>
        <p:nvSpPr>
          <p:cNvPr id="5" name="Brand Title"/>
          <p:cNvSpPr txBox="1"/>
          <p:nvPr/>
        </p:nvSpPr>
        <p:spPr>
          <a:xfrm>
            <a:off x="640080" y="1783080"/>
            <a:ext cx="10972800" cy="1280160"/>
          </a:xfrm>
          <a:prstGeom prst="rect">
            <a:avLst/>
          </a:prstGeom>
          <a:noFill/>
        </p:spPr>
        <p:txBody>
          <a:bodyPr wrap="square">
            <a:spAutoFit/>
          </a:bodyPr>
          <a:lstStyle/>
          <a:p>
            <a:pPr algn="l"/>
            <a:r>
              <a:rPr sz="5000" b="1" i="0">
                <a:solidFill>
                  <a:srgbClr val="FFFFFF"/>
                </a:solidFill>
                <a:latin typeface="Segoe Sans Display"/>
              </a:rPr>
              <a:t>AI Clothing Fit Assessment Agent</a:t>
            </a:r>
          </a:p>
        </p:txBody>
      </p:sp>
      <p:sp>
        <p:nvSpPr>
          <p:cNvPr id="6" name="Subtitle"/>
          <p:cNvSpPr txBox="1"/>
          <p:nvPr/>
        </p:nvSpPr>
        <p:spPr>
          <a:xfrm>
            <a:off x="640080" y="3063240"/>
            <a:ext cx="10972800" cy="640080"/>
          </a:xfrm>
          <a:prstGeom prst="rect">
            <a:avLst/>
          </a:prstGeom>
          <a:noFill/>
        </p:spPr>
        <p:txBody>
          <a:bodyPr wrap="square">
            <a:spAutoFit/>
          </a:bodyPr>
          <a:lstStyle/>
          <a:p>
            <a:pPr algn="l"/>
            <a:r>
              <a:rPr sz="3200" b="1" i="0">
                <a:solidFill>
                  <a:srgbClr val="8DC8E8"/>
                </a:solidFill>
                <a:latin typeface="Segoe Sans Display"/>
              </a:rPr>
              <a:t>Phase A Research + Phase B Future-State Design</a:t>
            </a:r>
          </a:p>
        </p:txBody>
      </p:sp>
      <p:sp>
        <p:nvSpPr>
          <p:cNvPr id="7" name="Tagline"/>
          <p:cNvSpPr txBox="1"/>
          <p:nvPr/>
        </p:nvSpPr>
        <p:spPr>
          <a:xfrm>
            <a:off x="640080" y="4754880"/>
            <a:ext cx="10515600" cy="365760"/>
          </a:xfrm>
          <a:prstGeom prst="rect">
            <a:avLst/>
          </a:prstGeom>
          <a:noFill/>
        </p:spPr>
        <p:txBody>
          <a:bodyPr wrap="square">
            <a:spAutoFit/>
          </a:bodyPr>
          <a:lstStyle/>
          <a:p>
            <a:pPr algn="l"/>
            <a:r>
              <a:rPr sz="1800" b="0" i="1">
                <a:solidFill>
                  <a:srgbClr val="FFFFFF"/>
                </a:solidFill>
                <a:latin typeface="Segoe Sans Display"/>
              </a:rPr>
              <a:t>Microsoft AI stack, multi-tenant from day one, humans accountable for every decision.</a:t>
            </a:r>
          </a:p>
        </p:txBody>
      </p:sp>
      <p:sp>
        <p:nvSpPr>
          <p:cNvPr id="8" name="Footer"/>
          <p:cNvSpPr txBox="1"/>
          <p:nvPr/>
        </p:nvSpPr>
        <p:spPr>
          <a:xfrm>
            <a:off x="640080" y="6537960"/>
            <a:ext cx="8229600" cy="230428"/>
          </a:xfrm>
          <a:prstGeom prst="rect">
            <a:avLst/>
          </a:prstGeom>
          <a:noFill/>
        </p:spPr>
        <p:txBody>
          <a:bodyPr wrap="square">
            <a:spAutoFit/>
          </a:bodyPr>
          <a:lstStyle/>
          <a:p>
            <a:pPr algn="l"/>
            <a:r>
              <a:rPr sz="1000" b="0" i="1">
                <a:solidFill>
                  <a:srgbClr val="6B6B6B"/>
                </a:solidFill>
                <a:latin typeface="Segoe Sans Display"/>
              </a:rPr>
              <a:t>Solution Architecture v2.0.0  ·  2026-05-13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Executive Summary</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What it is — and what it is not</a:t>
            </a:r>
          </a:p>
        </p:txBody>
      </p:sp>
      <p:sp>
        <p:nvSpPr>
          <p:cNvPr id="4" name="Problem Header"/>
          <p:cNvSpPr/>
          <p:nvPr/>
        </p:nvSpPr>
        <p:spPr>
          <a:xfrm>
            <a:off x="457200" y="2104034"/>
            <a:ext cx="5562295" cy="59436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2000" b="1" i="0">
                <a:solidFill>
                  <a:srgbClr val="FFFFFF"/>
                </a:solidFill>
                <a:latin typeface="Segoe Sans Display"/>
              </a:rPr>
              <a:t>The Problem</a:t>
            </a:r>
          </a:p>
        </p:txBody>
      </p:sp>
      <p:sp>
        <p:nvSpPr>
          <p:cNvPr id="5" name="Solution Header"/>
          <p:cNvSpPr/>
          <p:nvPr/>
        </p:nvSpPr>
        <p:spPr>
          <a:xfrm>
            <a:off x="6339535" y="2104034"/>
            <a:ext cx="5562295"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2000" b="1" i="0">
                <a:solidFill>
                  <a:srgbClr val="FFFFFF"/>
                </a:solidFill>
                <a:latin typeface="Segoe Sans Display"/>
              </a:rPr>
              <a:t>The Solution</a:t>
            </a:r>
          </a:p>
        </p:txBody>
      </p:sp>
      <p:sp>
        <p:nvSpPr>
          <p:cNvPr id="6" name="Problem Body"/>
          <p:cNvSpPr/>
          <p:nvPr/>
        </p:nvSpPr>
        <p:spPr>
          <a:xfrm>
            <a:off x="457200" y="2698394"/>
            <a:ext cx="5562295"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Solution Body"/>
          <p:cNvSpPr/>
          <p:nvPr/>
        </p:nvSpPr>
        <p:spPr>
          <a:xfrm>
            <a:off x="6339535" y="2698394"/>
            <a:ext cx="5562295"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docs/architecture/solution-architecture.md §1 (Executive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Phase A · Five Research Lenses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Treat outputs as hypotheses. Separate likely from confirmed. Cite sources where possible.</a:t>
            </a:r>
          </a:p>
        </p:txBody>
      </p:sp>
      <p:sp>
        <p:nvSpPr>
          <p:cNvPr id="4" name="Lens 1 Card"/>
          <p:cNvSpPr/>
          <p:nvPr/>
        </p:nvSpPr>
        <p:spPr>
          <a:xfrm>
            <a:off x="457200"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Lens 1 Oval"/>
          <p:cNvSpPr/>
          <p:nvPr/>
        </p:nvSpPr>
        <p:spPr>
          <a:xfrm>
            <a:off x="690372"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1</a:t>
            </a:r>
          </a:p>
        </p:txBody>
      </p:sp>
      <p:sp>
        <p:nvSpPr>
          <p:cNvPr id="6" name="Lens 2 Card"/>
          <p:cNvSpPr/>
          <p:nvPr/>
        </p:nvSpPr>
        <p:spPr>
          <a:xfrm>
            <a:off x="2764231"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Lens 2 Oval"/>
          <p:cNvSpPr/>
          <p:nvPr/>
        </p:nvSpPr>
        <p:spPr>
          <a:xfrm>
            <a:off x="2996488"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2</a:t>
            </a:r>
          </a:p>
        </p:txBody>
      </p:sp>
      <p:sp>
        <p:nvSpPr>
          <p:cNvPr id="8" name="Lens 3 Card"/>
          <p:cNvSpPr/>
          <p:nvPr/>
        </p:nvSpPr>
        <p:spPr>
          <a:xfrm>
            <a:off x="5070348"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Lens 3 Oval"/>
          <p:cNvSpPr/>
          <p:nvPr/>
        </p:nvSpPr>
        <p:spPr>
          <a:xfrm>
            <a:off x="5303520"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3</a:t>
            </a:r>
          </a:p>
        </p:txBody>
      </p:sp>
      <p:sp>
        <p:nvSpPr>
          <p:cNvPr id="10" name="Lens 4 Card"/>
          <p:cNvSpPr/>
          <p:nvPr/>
        </p:nvSpPr>
        <p:spPr>
          <a:xfrm>
            <a:off x="7377379"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Lens 4 Oval"/>
          <p:cNvSpPr/>
          <p:nvPr/>
        </p:nvSpPr>
        <p:spPr>
          <a:xfrm>
            <a:off x="7610551"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4</a:t>
            </a:r>
          </a:p>
        </p:txBody>
      </p:sp>
      <p:sp>
        <p:nvSpPr>
          <p:cNvPr id="12" name="Lens 5 Card"/>
          <p:cNvSpPr/>
          <p:nvPr/>
        </p:nvSpPr>
        <p:spPr>
          <a:xfrm>
            <a:off x="9684410" y="1884578"/>
            <a:ext cx="2202789" cy="2563063"/>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Lens 5 Oval"/>
          <p:cNvSpPr/>
          <p:nvPr/>
        </p:nvSpPr>
        <p:spPr>
          <a:xfrm>
            <a:off x="9916668" y="2019909"/>
            <a:ext cx="502920" cy="50292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200" b="1" i="0">
                <a:solidFill>
                  <a:srgbClr val="FFFFFF"/>
                </a:solidFill>
                <a:latin typeface="Segoe Sans Display"/>
              </a:rPr>
              <a:t>5</a:t>
            </a:r>
          </a:p>
        </p:txBody>
      </p:sp>
      <p:sp>
        <p:nvSpPr>
          <p:cNvPr id="14" name="Eyebrow Footer"/>
          <p:cNvSpPr txBox="1"/>
          <p:nvPr/>
        </p:nvSpPr>
        <p:spPr>
          <a:xfrm>
            <a:off x="457200" y="4742078"/>
            <a:ext cx="11430000" cy="308152"/>
          </a:xfrm>
          <a:prstGeom prst="rect">
            <a:avLst/>
          </a:prstGeom>
          <a:noFill/>
        </p:spPr>
        <p:txBody>
          <a:bodyPr wrap="square">
            <a:spAutoFit/>
          </a:bodyPr>
          <a:lstStyle/>
          <a:p>
            <a:pPr algn="ctr"/>
            <a:r>
              <a:rPr sz="1300" b="0" i="1">
                <a:solidFill>
                  <a:srgbClr val="1F1F1F"/>
                </a:solidFill>
                <a:latin typeface="Segoe Sans Display"/>
              </a:rPr>
              <a:t>Five lenses, one synthesis — every claim is Verified, a Hypothesis, or an Assumption, with the source cited.</a:t>
            </a:r>
          </a:p>
        </p:txBody>
      </p:sp>
      <p:sp>
        <p:nvSpPr>
          <p:cNvPr id="15"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research.md (R1–R7) · decision-register.md (ADR-001/007/011) · solution-architecture.md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Retail Industry Personas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Three personas the architecture must serve.</a:t>
            </a:r>
          </a:p>
        </p:txBody>
      </p:sp>
      <p:sp>
        <p:nvSpPr>
          <p:cNvPr id="4" name="Persona 1 Header"/>
          <p:cNvSpPr/>
          <p:nvPr/>
        </p:nvSpPr>
        <p:spPr>
          <a:xfrm>
            <a:off x="457200" y="2104034"/>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Online Shopper</a:t>
            </a:r>
          </a:p>
        </p:txBody>
      </p:sp>
      <p:sp>
        <p:nvSpPr>
          <p:cNvPr id="5" name="Persona 2 Header"/>
          <p:cNvSpPr/>
          <p:nvPr/>
        </p:nvSpPr>
        <p:spPr>
          <a:xfrm>
            <a:off x="4351629" y="2104034"/>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Digital Transformation Leader</a:t>
            </a:r>
          </a:p>
        </p:txBody>
      </p:sp>
      <p:sp>
        <p:nvSpPr>
          <p:cNvPr id="6" name="Persona 3 Header"/>
          <p:cNvSpPr/>
          <p:nvPr/>
        </p:nvSpPr>
        <p:spPr>
          <a:xfrm>
            <a:off x="8246059" y="2104034"/>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800" b="1" i="0">
                <a:solidFill>
                  <a:srgbClr val="FFFFFF"/>
                </a:solidFill>
                <a:latin typeface="Segoe Sans Display"/>
              </a:rPr>
              <a:t>Risk / Compliance Officer</a:t>
            </a:r>
          </a:p>
        </p:txBody>
      </p:sp>
      <p:sp>
        <p:nvSpPr>
          <p:cNvPr id="7" name="Persona 1 Body"/>
          <p:cNvSpPr/>
          <p:nvPr/>
        </p:nvSpPr>
        <p:spPr>
          <a:xfrm>
            <a:off x="457200" y="2698394"/>
            <a:ext cx="3713378"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Persona 2 Body"/>
          <p:cNvSpPr/>
          <p:nvPr/>
        </p:nvSpPr>
        <p:spPr>
          <a:xfrm>
            <a:off x="4351629" y="2698394"/>
            <a:ext cx="3713378"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rsona 3 Body"/>
          <p:cNvSpPr/>
          <p:nvPr/>
        </p:nvSpPr>
        <p:spPr>
          <a:xfrm>
            <a:off x="8246059" y="2698394"/>
            <a:ext cx="3713378" cy="32004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Eyebrow Footer"/>
          <p:cNvSpPr txBox="1"/>
          <p:nvPr/>
        </p:nvSpPr>
        <p:spPr>
          <a:xfrm>
            <a:off x="457200" y="6080760"/>
            <a:ext cx="11430000" cy="308152"/>
          </a:xfrm>
          <a:prstGeom prst="rect">
            <a:avLst/>
          </a:prstGeom>
          <a:noFill/>
        </p:spPr>
        <p:txBody>
          <a:bodyPr wrap="square">
            <a:spAutoFit/>
          </a:bodyPr>
          <a:lstStyle/>
          <a:p>
            <a:pPr algn="ctr"/>
            <a:r>
              <a:rPr sz="1300" b="1" i="1">
                <a:solidFill>
                  <a:srgbClr val="B7410E"/>
                </a:solidFill>
                <a:latin typeface="Segoe Sans Display"/>
              </a:rPr>
              <a:t>AI augments shoppers and associates. Humans retain accountability for every purchase, recommendation, and policy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Phase B · Three Architecture Concepts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Three concepts, one architecture. Concept A ships v1; B and C are documented evolution paths, not parallel builds.</a:t>
            </a:r>
          </a:p>
        </p:txBody>
      </p:sp>
      <p:sp>
        <p:nvSpPr>
          <p:cNvPr id="4" name="Concept A Header"/>
          <p:cNvSpPr/>
          <p:nvPr/>
        </p:nvSpPr>
        <p:spPr>
          <a:xfrm>
            <a:off x="457200" y="2275941"/>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A.  Cloud-Centric Platform</a:t>
            </a:r>
          </a:p>
        </p:txBody>
      </p:sp>
      <p:sp>
        <p:nvSpPr>
          <p:cNvPr id="5" name="Concept B Header"/>
          <p:cNvSpPr/>
          <p:nvPr/>
        </p:nvSpPr>
        <p:spPr>
          <a:xfrm>
            <a:off x="4351629" y="2275941"/>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B.  Edge + AI Agent Operations</a:t>
            </a:r>
          </a:p>
        </p:txBody>
      </p:sp>
      <p:sp>
        <p:nvSpPr>
          <p:cNvPr id="6" name="Concept C Header"/>
          <p:cNvSpPr/>
          <p:nvPr/>
        </p:nvSpPr>
        <p:spPr>
          <a:xfrm>
            <a:off x="8246059" y="2275941"/>
            <a:ext cx="3713378"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C.  Data Fabric / Intelligence Layer</a:t>
            </a:r>
          </a:p>
        </p:txBody>
      </p:sp>
      <p:sp>
        <p:nvSpPr>
          <p:cNvPr id="7" name="Concept A Body"/>
          <p:cNvSpPr/>
          <p:nvPr/>
        </p:nvSpPr>
        <p:spPr>
          <a:xfrm>
            <a:off x="457200" y="2870301"/>
            <a:ext cx="3713378" cy="27432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oncept B Body"/>
          <p:cNvSpPr/>
          <p:nvPr/>
        </p:nvSpPr>
        <p:spPr>
          <a:xfrm>
            <a:off x="4351629" y="2870301"/>
            <a:ext cx="3713378" cy="27432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oncept C Body"/>
          <p:cNvSpPr/>
          <p:nvPr/>
        </p:nvSpPr>
        <p:spPr>
          <a:xfrm>
            <a:off x="8246059" y="2870301"/>
            <a:ext cx="3713378" cy="27432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Eyebrow Footer"/>
          <p:cNvSpPr txBox="1"/>
          <p:nvPr/>
        </p:nvSpPr>
        <p:spPr>
          <a:xfrm>
            <a:off x="457200" y="5852160"/>
            <a:ext cx="11430000" cy="531266"/>
          </a:xfrm>
          <a:prstGeom prst="rect">
            <a:avLst/>
          </a:prstGeom>
          <a:noFill/>
        </p:spPr>
        <p:txBody>
          <a:bodyPr wrap="square">
            <a:spAutoFit/>
          </a:bodyPr>
          <a:lstStyle/>
          <a:p>
            <a:pPr algn="ctr"/>
            <a:r>
              <a:rPr sz="1400" b="1" i="1">
                <a:solidFill>
                  <a:srgbClr val="B7410E"/>
                </a:solidFill>
                <a:latin typeface="Segoe Sans Display"/>
              </a:rPr>
              <a:t>Three concepts, one architecture. Concept A ships v1; B and C are documented evolution paths, not parallel builds.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Concept A — Cloud-Centric Platform</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v1 implementation · ships first · Microsoft-only managed services.</a:t>
            </a:r>
          </a:p>
        </p:txBody>
      </p:sp>
      <p:sp>
        <p:nvSpPr>
          <p:cNvPr id="4" name="Pillars Header"/>
          <p:cNvSpPr/>
          <p:nvPr/>
        </p:nvSpPr>
        <p:spPr>
          <a:xfrm>
            <a:off x="457200" y="1874519"/>
            <a:ext cx="6858000" cy="5029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Five Service Pillars</a:t>
            </a:r>
          </a:p>
        </p:txBody>
      </p:sp>
      <p:sp>
        <p:nvSpPr>
          <p:cNvPr id="5" name="Pillars Body"/>
          <p:cNvSpPr/>
          <p:nvPr/>
        </p:nvSpPr>
        <p:spPr>
          <a:xfrm>
            <a:off x="457200" y="2377440"/>
            <a:ext cx="6858000" cy="36576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radeoffs Header"/>
          <p:cNvSpPr/>
          <p:nvPr/>
        </p:nvSpPr>
        <p:spPr>
          <a:xfrm>
            <a:off x="7498079" y="1874519"/>
            <a:ext cx="4398264" cy="50292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Tradeoffs</a:t>
            </a:r>
          </a:p>
        </p:txBody>
      </p:sp>
      <p:sp>
        <p:nvSpPr>
          <p:cNvPr id="7" name="Tradeoffs Body"/>
          <p:cNvSpPr/>
          <p:nvPr/>
        </p:nvSpPr>
        <p:spPr>
          <a:xfrm>
            <a:off x="7498079" y="2377440"/>
            <a:ext cx="4398264" cy="22860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Hypothesis Box"/>
          <p:cNvSpPr/>
          <p:nvPr/>
        </p:nvSpPr>
        <p:spPr>
          <a:xfrm>
            <a:off x="7498079" y="4754880"/>
            <a:ext cx="4398264" cy="12801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§6.1 · ADR-001, ADR-002, ADR-008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Concept B — Edge + AI Agent Operations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v2 expansion · in-store reach · associate copilot.</a:t>
            </a:r>
          </a:p>
        </p:txBody>
      </p:sp>
      <p:sp>
        <p:nvSpPr>
          <p:cNvPr id="4" name="Body Header"/>
          <p:cNvSpPr/>
          <p:nvPr/>
        </p:nvSpPr>
        <p:spPr>
          <a:xfrm>
            <a:off x="457200" y="1874519"/>
            <a:ext cx="6858000" cy="5029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In-store + Edge AI</a:t>
            </a:r>
          </a:p>
        </p:txBody>
      </p:sp>
      <p:sp>
        <p:nvSpPr>
          <p:cNvPr id="5" name="Body Card"/>
          <p:cNvSpPr/>
          <p:nvPr/>
        </p:nvSpPr>
        <p:spPr>
          <a:xfrm>
            <a:off x="457200" y="2377440"/>
            <a:ext cx="6858000" cy="36576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radeoffs Header"/>
          <p:cNvSpPr/>
          <p:nvPr/>
        </p:nvSpPr>
        <p:spPr>
          <a:xfrm>
            <a:off x="7498079" y="1874519"/>
            <a:ext cx="4398264" cy="50292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Tradeoffs</a:t>
            </a:r>
          </a:p>
        </p:txBody>
      </p:sp>
      <p:sp>
        <p:nvSpPr>
          <p:cNvPr id="7" name="Tradeoffs Body"/>
          <p:cNvSpPr/>
          <p:nvPr/>
        </p:nvSpPr>
        <p:spPr>
          <a:xfrm>
            <a:off x="7498079" y="2377440"/>
            <a:ext cx="4398264" cy="22860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Hypothesis Box"/>
          <p:cNvSpPr/>
          <p:nvPr/>
        </p:nvSpPr>
        <p:spPr>
          <a:xfrm>
            <a:off x="7498079" y="4754880"/>
            <a:ext cx="4398264" cy="12801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§6.2 · risk-register.md (edge maturity)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Concept C — Data Fabric / Intelligence Layer</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v3 strategic · long-term · unified retail intelligence.</a:t>
            </a:r>
          </a:p>
        </p:txBody>
      </p:sp>
      <p:sp>
        <p:nvSpPr>
          <p:cNvPr id="4" name="Body Header"/>
          <p:cNvSpPr/>
          <p:nvPr/>
        </p:nvSpPr>
        <p:spPr>
          <a:xfrm>
            <a:off x="457200" y="1874519"/>
            <a:ext cx="6858000" cy="5029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Microsoft Fabric Semantic Layer</a:t>
            </a:r>
          </a:p>
        </p:txBody>
      </p:sp>
      <p:sp>
        <p:nvSpPr>
          <p:cNvPr id="5" name="Body Card"/>
          <p:cNvSpPr/>
          <p:nvPr/>
        </p:nvSpPr>
        <p:spPr>
          <a:xfrm>
            <a:off x="457200" y="2377440"/>
            <a:ext cx="6858000" cy="36576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radeoffs Header"/>
          <p:cNvSpPr/>
          <p:nvPr/>
        </p:nvSpPr>
        <p:spPr>
          <a:xfrm>
            <a:off x="7498079" y="1874519"/>
            <a:ext cx="4398264" cy="50292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Tradeoffs</a:t>
            </a:r>
          </a:p>
        </p:txBody>
      </p:sp>
      <p:sp>
        <p:nvSpPr>
          <p:cNvPr id="7" name="Tradeoffs Body"/>
          <p:cNvSpPr/>
          <p:nvPr/>
        </p:nvSpPr>
        <p:spPr>
          <a:xfrm>
            <a:off x="7498079" y="2377440"/>
            <a:ext cx="4398264" cy="22860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Hypothesis Box"/>
          <p:cNvSpPr/>
          <p:nvPr/>
        </p:nvSpPr>
        <p:spPr>
          <a:xfrm>
            <a:off x="7498079" y="4754880"/>
            <a:ext cx="4398264" cy="1280160"/>
          </a:xfrm>
          <a:prstGeom prst="rect">
            <a:avLst/>
          </a:prstGeom>
          <a:solidFill>
            <a:srgbClr val="FFFFFF"/>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§6.3 · diagrams.md (Fabric layer)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Three-Tier AI Pipeline (Concept A Detail)</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Validate first, extract second, replace later. Every tier cites the ADR that decided it.</a:t>
            </a:r>
          </a:p>
        </p:txBody>
      </p:sp>
      <p:sp>
        <p:nvSpPr>
          <p:cNvPr id="4" name="Tier 1 Header"/>
          <p:cNvSpPr/>
          <p:nvPr/>
        </p:nvSpPr>
        <p:spPr>
          <a:xfrm>
            <a:off x="457200" y="1828800"/>
            <a:ext cx="2926080" cy="13258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ier 1 Body"/>
          <p:cNvSpPr/>
          <p:nvPr/>
        </p:nvSpPr>
        <p:spPr>
          <a:xfrm>
            <a:off x="3474720" y="1828800"/>
            <a:ext cx="8257031" cy="13258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ier 2 Header"/>
          <p:cNvSpPr/>
          <p:nvPr/>
        </p:nvSpPr>
        <p:spPr>
          <a:xfrm>
            <a:off x="457200" y="3246120"/>
            <a:ext cx="2926080" cy="132588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ier 2 Body"/>
          <p:cNvSpPr/>
          <p:nvPr/>
        </p:nvSpPr>
        <p:spPr>
          <a:xfrm>
            <a:off x="3474720" y="3246120"/>
            <a:ext cx="8257031" cy="13258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er 3 Header"/>
          <p:cNvSpPr/>
          <p:nvPr/>
        </p:nvSpPr>
        <p:spPr>
          <a:xfrm>
            <a:off x="457200" y="4663440"/>
            <a:ext cx="2926080" cy="132588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er 3 Body"/>
          <p:cNvSpPr/>
          <p:nvPr/>
        </p:nvSpPr>
        <p:spPr>
          <a:xfrm>
            <a:off x="3474720" y="4663440"/>
            <a:ext cx="8257031" cy="1325880"/>
          </a:xfrm>
          <a:prstGeom prst="rect">
            <a:avLst/>
          </a:prstGeom>
          <a:solidFill>
            <a:srgbClr val="9BBB59">
              <a:alpha val="47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§6.1 (3-Tier AI Pipeline) · ADR-001, ADR-008, ADR-012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Assessment Request Flow</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End-to-end happy path — Concept A · seven steps · synchronous under SLA.</a:t>
            </a:r>
          </a:p>
        </p:txBody>
      </p:sp>
      <p:sp>
        <p:nvSpPr>
          <p:cNvPr id="4" name="Connector 1"/>
          <p:cNvSpPr/>
          <p:nvPr/>
        </p:nvSpPr>
        <p:spPr>
          <a:xfrm>
            <a:off x="1280160" y="3680460"/>
            <a:ext cx="1071676" cy="457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Connector 2"/>
          <p:cNvSpPr/>
          <p:nvPr/>
        </p:nvSpPr>
        <p:spPr>
          <a:xfrm>
            <a:off x="2991916" y="3680460"/>
            <a:ext cx="1071676" cy="457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onnector 3"/>
          <p:cNvSpPr/>
          <p:nvPr/>
        </p:nvSpPr>
        <p:spPr>
          <a:xfrm>
            <a:off x="4703673" y="3680460"/>
            <a:ext cx="1071676" cy="457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Connector 4"/>
          <p:cNvSpPr/>
          <p:nvPr/>
        </p:nvSpPr>
        <p:spPr>
          <a:xfrm>
            <a:off x="6415430" y="3680460"/>
            <a:ext cx="1071676" cy="457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onnector 5"/>
          <p:cNvSpPr/>
          <p:nvPr/>
        </p:nvSpPr>
        <p:spPr>
          <a:xfrm>
            <a:off x="8127187" y="3680460"/>
            <a:ext cx="1071676" cy="457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onnector 6"/>
          <p:cNvSpPr/>
          <p:nvPr/>
        </p:nvSpPr>
        <p:spPr>
          <a:xfrm>
            <a:off x="9838944" y="3680460"/>
            <a:ext cx="1071676" cy="457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Step 1 Oval"/>
          <p:cNvSpPr/>
          <p:nvPr/>
        </p:nvSpPr>
        <p:spPr>
          <a:xfrm>
            <a:off x="640080" y="3383280"/>
            <a:ext cx="640080" cy="64008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400" b="1" i="0">
                <a:solidFill>
                  <a:srgbClr val="FFFFFF"/>
                </a:solidFill>
                <a:latin typeface="Segoe Sans Display"/>
              </a:rPr>
              <a:t>1</a:t>
            </a:r>
          </a:p>
        </p:txBody>
      </p:sp>
      <p:sp>
        <p:nvSpPr>
          <p:cNvPr id="11" name="Step 2 Oval"/>
          <p:cNvSpPr/>
          <p:nvPr/>
        </p:nvSpPr>
        <p:spPr>
          <a:xfrm>
            <a:off x="2351836" y="3383280"/>
            <a:ext cx="640080" cy="64008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400" b="1" i="0">
                <a:solidFill>
                  <a:srgbClr val="FFFFFF"/>
                </a:solidFill>
                <a:latin typeface="Segoe Sans Display"/>
              </a:rPr>
              <a:t>2</a:t>
            </a:r>
          </a:p>
        </p:txBody>
      </p:sp>
      <p:sp>
        <p:nvSpPr>
          <p:cNvPr id="12" name="Step 3 Oval"/>
          <p:cNvSpPr/>
          <p:nvPr/>
        </p:nvSpPr>
        <p:spPr>
          <a:xfrm>
            <a:off x="4063593" y="3383280"/>
            <a:ext cx="640080" cy="64008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400" b="1" i="0">
                <a:solidFill>
                  <a:srgbClr val="FFFFFF"/>
                </a:solidFill>
                <a:latin typeface="Segoe Sans Display"/>
              </a:rPr>
              <a:t>3</a:t>
            </a:r>
          </a:p>
        </p:txBody>
      </p:sp>
      <p:sp>
        <p:nvSpPr>
          <p:cNvPr id="13" name="Step 4 Oval"/>
          <p:cNvSpPr/>
          <p:nvPr/>
        </p:nvSpPr>
        <p:spPr>
          <a:xfrm>
            <a:off x="5775350" y="3383280"/>
            <a:ext cx="640080" cy="64008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400" b="1" i="0">
                <a:solidFill>
                  <a:srgbClr val="FFFFFF"/>
                </a:solidFill>
                <a:latin typeface="Segoe Sans Display"/>
              </a:rPr>
              <a:t>4</a:t>
            </a:r>
          </a:p>
        </p:txBody>
      </p:sp>
      <p:sp>
        <p:nvSpPr>
          <p:cNvPr id="14" name="Step 5 Oval"/>
          <p:cNvSpPr/>
          <p:nvPr/>
        </p:nvSpPr>
        <p:spPr>
          <a:xfrm>
            <a:off x="7487107" y="3383280"/>
            <a:ext cx="640080" cy="64008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400" b="1" i="0">
                <a:solidFill>
                  <a:srgbClr val="FFFFFF"/>
                </a:solidFill>
                <a:latin typeface="Segoe Sans Display"/>
              </a:rPr>
              <a:t>5</a:t>
            </a:r>
          </a:p>
        </p:txBody>
      </p:sp>
      <p:sp>
        <p:nvSpPr>
          <p:cNvPr id="15" name="Step 6 Oval"/>
          <p:cNvSpPr/>
          <p:nvPr/>
        </p:nvSpPr>
        <p:spPr>
          <a:xfrm>
            <a:off x="9198864" y="3383280"/>
            <a:ext cx="640080" cy="64008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400" b="1" i="0">
                <a:solidFill>
                  <a:srgbClr val="FFFFFF"/>
                </a:solidFill>
                <a:latin typeface="Segoe Sans Display"/>
              </a:rPr>
              <a:t>6</a:t>
            </a:r>
          </a:p>
        </p:txBody>
      </p:sp>
      <p:sp>
        <p:nvSpPr>
          <p:cNvPr id="16" name="Step 7 Oval"/>
          <p:cNvSpPr/>
          <p:nvPr/>
        </p:nvSpPr>
        <p:spPr>
          <a:xfrm>
            <a:off x="10910620" y="3383280"/>
            <a:ext cx="640080" cy="640080"/>
          </a:xfrm>
          <a:prstGeom prst="ellipse">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400" b="1" i="0">
                <a:solidFill>
                  <a:srgbClr val="FFFFFF"/>
                </a:solidFill>
                <a:latin typeface="Segoe Sans Display"/>
              </a:rPr>
              <a:t>7</a:t>
            </a:r>
          </a:p>
        </p:txBody>
      </p:sp>
      <p:sp>
        <p:nvSpPr>
          <p:cNvPr id="17" name="Label 1"/>
          <p:cNvSpPr txBox="1"/>
          <p:nvPr/>
        </p:nvSpPr>
        <p:spPr>
          <a:xfrm>
            <a:off x="182880" y="2514600"/>
            <a:ext cx="1554480" cy="822960"/>
          </a:xfrm>
          <a:prstGeom prst="rect">
            <a:avLst/>
          </a:prstGeom>
          <a:noFill/>
        </p:spPr>
        <p:txBody>
          <a:bodyPr wrap="square" lIns="45720" rIns="45720" anchor="b">
            <a:noAutofit/>
          </a:bodyPr>
          <a:lstStyle/>
          <a:p>
            <a:pPr algn="ctr"/>
            <a:r>
              <a:rPr sz="1300" b="1" i="0">
                <a:solidFill>
                  <a:srgbClr val="1F1F1F"/>
                </a:solidFill>
                <a:latin typeface="Segoe Sans Display"/>
              </a:rPr>
              <a:t>Frontend POST</a:t>
            </a:r>
          </a:p>
        </p:txBody>
      </p:sp>
      <p:sp>
        <p:nvSpPr>
          <p:cNvPr id="18" name="Label 2"/>
          <p:cNvSpPr txBox="1"/>
          <p:nvPr/>
        </p:nvSpPr>
        <p:spPr>
          <a:xfrm>
            <a:off x="1894636" y="2514600"/>
            <a:ext cx="1554480" cy="822960"/>
          </a:xfrm>
          <a:prstGeom prst="rect">
            <a:avLst/>
          </a:prstGeom>
          <a:noFill/>
        </p:spPr>
        <p:txBody>
          <a:bodyPr wrap="square" lIns="45720" rIns="45720" anchor="b">
            <a:noAutofit/>
          </a:bodyPr>
          <a:lstStyle/>
          <a:p>
            <a:pPr algn="ctr"/>
            <a:r>
              <a:rPr sz="1300" b="1" i="0">
                <a:solidFill>
                  <a:srgbClr val="1F1F1F"/>
                </a:solidFill>
                <a:latin typeface="Segoe Sans Display"/>
              </a:rPr>
              <a:t>Auth + rate limit</a:t>
            </a:r>
          </a:p>
        </p:txBody>
      </p:sp>
      <p:sp>
        <p:nvSpPr>
          <p:cNvPr id="19" name="Label 3"/>
          <p:cNvSpPr txBox="1"/>
          <p:nvPr/>
        </p:nvSpPr>
        <p:spPr>
          <a:xfrm>
            <a:off x="3606393" y="2514600"/>
            <a:ext cx="1554480" cy="822960"/>
          </a:xfrm>
          <a:prstGeom prst="rect">
            <a:avLst/>
          </a:prstGeom>
          <a:noFill/>
        </p:spPr>
        <p:txBody>
          <a:bodyPr wrap="square" lIns="45720" rIns="45720" anchor="b">
            <a:noAutofit/>
          </a:bodyPr>
          <a:lstStyle/>
          <a:p>
            <a:pPr algn="ctr"/>
            <a:r>
              <a:rPr sz="1300" b="1" i="0">
                <a:solidFill>
                  <a:srgbClr val="1F1F1F"/>
                </a:solidFill>
                <a:latin typeface="Segoe Sans Display"/>
              </a:rPr>
              <a:t>Image upload (in-memory or Blob)</a:t>
            </a:r>
          </a:p>
        </p:txBody>
      </p:sp>
      <p:sp>
        <p:nvSpPr>
          <p:cNvPr id="20" name="Label 4"/>
          <p:cNvSpPr txBox="1"/>
          <p:nvPr/>
        </p:nvSpPr>
        <p:spPr>
          <a:xfrm>
            <a:off x="5318150" y="2514600"/>
            <a:ext cx="1554480" cy="822960"/>
          </a:xfrm>
          <a:prstGeom prst="rect">
            <a:avLst/>
          </a:prstGeom>
          <a:noFill/>
        </p:spPr>
        <p:txBody>
          <a:bodyPr wrap="square" lIns="45720" rIns="45720" anchor="b">
            <a:noAutofit/>
          </a:bodyPr>
          <a:lstStyle/>
          <a:p>
            <a:pPr algn="ctr"/>
            <a:r>
              <a:rPr sz="1300" b="1" i="0">
                <a:solidFill>
                  <a:srgbClr val="1F1F1F"/>
                </a:solidFill>
                <a:latin typeface="Segoe Sans Display"/>
              </a:rPr>
              <a:t>Tier 1 Validate</a:t>
            </a:r>
          </a:p>
        </p:txBody>
      </p:sp>
      <p:sp>
        <p:nvSpPr>
          <p:cNvPr id="21" name="Label 5"/>
          <p:cNvSpPr txBox="1"/>
          <p:nvPr/>
        </p:nvSpPr>
        <p:spPr>
          <a:xfrm>
            <a:off x="7029907" y="2514600"/>
            <a:ext cx="1554480" cy="822960"/>
          </a:xfrm>
          <a:prstGeom prst="rect">
            <a:avLst/>
          </a:prstGeom>
          <a:noFill/>
        </p:spPr>
        <p:txBody>
          <a:bodyPr wrap="square" lIns="45720" rIns="45720" anchor="b">
            <a:noAutofit/>
          </a:bodyPr>
          <a:lstStyle/>
          <a:p>
            <a:pPr algn="ctr"/>
            <a:r>
              <a:rPr sz="1300" b="1" i="0">
                <a:solidFill>
                  <a:srgbClr val="1F1F1F"/>
                </a:solidFill>
                <a:latin typeface="Segoe Sans Display"/>
              </a:rPr>
              <a:t>Tier 2 Extract</a:t>
            </a:r>
          </a:p>
        </p:txBody>
      </p:sp>
      <p:sp>
        <p:nvSpPr>
          <p:cNvPr id="22" name="Label 6"/>
          <p:cNvSpPr txBox="1"/>
          <p:nvPr/>
        </p:nvSpPr>
        <p:spPr>
          <a:xfrm>
            <a:off x="8741664" y="2514600"/>
            <a:ext cx="1554480" cy="822960"/>
          </a:xfrm>
          <a:prstGeom prst="rect">
            <a:avLst/>
          </a:prstGeom>
          <a:noFill/>
        </p:spPr>
        <p:txBody>
          <a:bodyPr wrap="square" lIns="45720" rIns="45720" anchor="b">
            <a:noAutofit/>
          </a:bodyPr>
          <a:lstStyle/>
          <a:p>
            <a:pPr algn="ctr"/>
            <a:r>
              <a:rPr sz="1300" b="1" i="0">
                <a:solidFill>
                  <a:srgbClr val="1F1F1F"/>
                </a:solidFill>
                <a:latin typeface="Segoe Sans Display"/>
              </a:rPr>
              <a:t>Compare vs garment data</a:t>
            </a:r>
          </a:p>
        </p:txBody>
      </p:sp>
      <p:sp>
        <p:nvSpPr>
          <p:cNvPr id="23" name="Label 7"/>
          <p:cNvSpPr txBox="1"/>
          <p:nvPr/>
        </p:nvSpPr>
        <p:spPr>
          <a:xfrm>
            <a:off x="10453420" y="2514600"/>
            <a:ext cx="1554480" cy="822960"/>
          </a:xfrm>
          <a:prstGeom prst="rect">
            <a:avLst/>
          </a:prstGeom>
          <a:noFill/>
        </p:spPr>
        <p:txBody>
          <a:bodyPr wrap="square" lIns="45720" rIns="45720" anchor="b">
            <a:noAutofit/>
          </a:bodyPr>
          <a:lstStyle/>
          <a:p>
            <a:pPr algn="ctr"/>
            <a:r>
              <a:rPr sz="1300" b="1" i="0">
                <a:solidFill>
                  <a:srgbClr val="1F1F1F"/>
                </a:solidFill>
                <a:latin typeface="Segoe Sans Display"/>
              </a:rPr>
              <a:t>Return + audit + purge image</a:t>
            </a:r>
          </a:p>
        </p:txBody>
      </p:sp>
      <p:sp>
        <p:nvSpPr>
          <p:cNvPr id="24" name="Latency Strip"/>
          <p:cNvSpPr/>
          <p:nvPr/>
        </p:nvSpPr>
        <p:spPr>
          <a:xfrm>
            <a:off x="457200" y="5029200"/>
            <a:ext cx="11277295" cy="640080"/>
          </a:xfrm>
          <a:prstGeom prst="rect">
            <a:avLst/>
          </a:prstGeom>
          <a:solidFill>
            <a:srgbClr val="F5F7FA"/>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wrap="square" lIns="365760" rIns="365760" tIns="91440" bIns="91440"/>
          <a:lstStyle/>
          <a:p>
            <a:pPr algn="ctr"/>
            <a:r>
              <a:rPr sz="1400" b="0" i="0">
                <a:solidFill>
                  <a:srgbClr val="1F1F1F"/>
                </a:solidFill>
                <a:latin typeface="Segoe Sans Display"/>
              </a:rPr>
              <a:t>p95 latency target:  &lt; 5s synchronous   ·   async overflow queue triggers above depth 50 or p95 &gt; 4s.</a:t>
            </a:r>
          </a:p>
        </p:txBody>
      </p:sp>
      <p:sp>
        <p:nvSpPr>
          <p:cNvPr id="25"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§7 (Request Flow) · openapi.yaml · ADR-006 (overflow queue)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So What? — Concepts Mapped to Stakeholders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One line per concept per stakeholder. The room should leave knowing why A goes first.</a:t>
            </a:r>
          </a:p>
        </p:txBody>
      </p:sp>
      <p:graphicFrame>
        <p:nvGraphicFramePr>
          <p:cNvPr id="4" name="SoWhat Table"/>
          <p:cNvGraphicFramePr>
            <a:graphicFrameLocks noGrp="1"/>
          </p:cNvGraphicFramePr>
          <p:nvPr/>
        </p:nvGraphicFramePr>
        <p:xfrm>
          <a:off x="457200" y="1874519"/>
          <a:ext cx="11277295" cy="3931920"/>
        </p:xfrm>
        <a:graphic>
          <a:graphicData uri="http://schemas.openxmlformats.org/drawingml/2006/table">
            <a:tbl>
              <a:tblPr firstRow="1" bandRow="1">
                <a:tableStyleId>{5C22544A-7EE6-4342-B048-85BDC9FD1C3A}</a:tableStyleId>
              </a:tblPr>
              <a:tblGrid>
                <a:gridCol w="1676095"/>
                <a:gridCol w="3200400"/>
                <a:gridCol w="3200400"/>
                <a:gridCol w="3200400"/>
              </a:tblGrid>
              <a:tr h="982980">
                <a:tc>
                  <a:txBody>
                    <a:bodyPr/>
                    <a:lstStyle/>
                    <a:p>
                      <a:r>
                        <a:rPr b="1" sz="1300">
                          <a:solidFill>
                            <a:srgbClr val="FFFFFF"/>
                          </a:solidFill>
                          <a:latin typeface="Segoe Sans Display"/>
                        </a:rPr>
                        <a:t>Concept</a:t>
                      </a:r>
                    </a:p>
                  </a:txBody>
                  <a:tcPr anchor="ctr">
                    <a:solidFill>
                      <a:srgbClr val="000000"/>
                    </a:solidFill>
                  </a:tcPr>
                </a:tc>
                <a:tc>
                  <a:txBody>
                    <a:bodyPr/>
                    <a:lstStyle/>
                    <a:p>
                      <a:r>
                        <a:rPr b="1" sz="1300">
                          <a:solidFill>
                            <a:srgbClr val="FFFFFF"/>
                          </a:solidFill>
                          <a:latin typeface="Segoe Sans Display"/>
                        </a:rPr>
                        <a:t>CIO · VP Tech</a:t>
                      </a:r>
                    </a:p>
                  </a:txBody>
                  <a:tcPr anchor="ctr">
                    <a:solidFill>
                      <a:srgbClr val="000000"/>
                    </a:solidFill>
                  </a:tcPr>
                </a:tc>
                <a:tc>
                  <a:txBody>
                    <a:bodyPr/>
                    <a:lstStyle/>
                    <a:p>
                      <a:r>
                        <a:rPr b="1" sz="1300">
                          <a:solidFill>
                            <a:srgbClr val="FFFFFF"/>
                          </a:solidFill>
                          <a:latin typeface="Segoe Sans Display"/>
                        </a:rPr>
                        <a:t>Business · Ops</a:t>
                      </a:r>
                    </a:p>
                  </a:txBody>
                  <a:tcPr anchor="ctr">
                    <a:solidFill>
                      <a:srgbClr val="000000"/>
                    </a:solidFill>
                  </a:tcPr>
                </a:tc>
                <a:tc>
                  <a:txBody>
                    <a:bodyPr/>
                    <a:lstStyle/>
                    <a:p>
                      <a:r>
                        <a:rPr b="1" sz="1300">
                          <a:solidFill>
                            <a:srgbClr val="FFFFFF"/>
                          </a:solidFill>
                          <a:latin typeface="Segoe Sans Display"/>
                        </a:rPr>
                        <a:t>Risk · Compliance</a:t>
                      </a:r>
                    </a:p>
                  </a:txBody>
                  <a:tcPr anchor="ctr">
                    <a:solidFill>
                      <a:srgbClr val="000000"/>
                    </a:solidFill>
                  </a:tcPr>
                </a:tc>
              </a:tr>
              <a:tr h="982980">
                <a:tc>
                  <a:txBody>
                    <a:bodyPr/>
                    <a:lstStyle/>
                    <a:p>
                      <a:r>
                        <a:rPr b="1" sz="1300">
                          <a:solidFill>
                            <a:srgbClr val="FFFFFF"/>
                          </a:solidFill>
                          <a:latin typeface="Segoe Sans Display"/>
                        </a:rPr>
                        <a:t>A · Cloud-Centric Platform</a:t>
                      </a:r>
                    </a:p>
                  </a:txBody>
                  <a:tcPr anchor="ctr">
                    <a:solidFill>
                      <a:srgbClr val="14366E"/>
                    </a:solidFill>
                  </a:tcPr>
                </a:tc>
                <a:tc>
                  <a:txBody>
                    <a:bodyPr/>
                    <a:lstStyle/>
                    <a:p>
                      <a:r>
                        <a:rPr sz="1200">
                          <a:latin typeface="Segoe Sans Display"/>
                        </a:rPr>
                        <a:t>Microsoft-only managed services — ships v1 in months, not quarters; engineering effort stays on the fit feature, not on infra plumbing.</a:t>
                      </a:r>
                    </a:p>
                  </a:txBody>
                  <a:tcPr anchor="ctr"/>
                </a:tc>
                <a:tc>
                  <a:txBody>
                    <a:bodyPr/>
                    <a:lstStyle/>
                    <a:p>
                      <a:r>
                        <a:rPr sz="1200">
                          <a:latin typeface="Segoe Sans Display"/>
                        </a:rPr>
                        <a:t>Online shoppers get a confident size recommendation; the associate-facing copilot lands in v2 on the same backbone.</a:t>
                      </a:r>
                    </a:p>
                  </a:txBody>
                  <a:tcPr anchor="ctr"/>
                </a:tc>
                <a:tc>
                  <a:txBody>
                    <a:bodyPr/>
                    <a:lstStyle/>
                    <a:p>
                      <a:r>
                        <a:rPr sz="1200">
                          <a:latin typeface="Segoe Sans Display"/>
                        </a:rPr>
                        <a:t>Multi-tenant safety enforced at the engine level (Cosmos hierarchical PK); 60s blob TTL keeps the privacy posture defensible.</a:t>
                      </a:r>
                    </a:p>
                  </a:txBody>
                  <a:tcPr anchor="ctr"/>
                </a:tc>
              </a:tr>
              <a:tr h="982980">
                <a:tc>
                  <a:txBody>
                    <a:bodyPr/>
                    <a:lstStyle/>
                    <a:p>
                      <a:r>
                        <a:rPr b="1" sz="1300">
                          <a:solidFill>
                            <a:srgbClr val="FFFFFF"/>
                          </a:solidFill>
                          <a:latin typeface="Segoe Sans Display"/>
                        </a:rPr>
                        <a:t>B · Edge + AI Agent Operations</a:t>
                      </a:r>
                    </a:p>
                  </a:txBody>
                  <a:tcPr anchor="ctr">
                    <a:solidFill>
                      <a:srgbClr val="14366E"/>
                    </a:solidFill>
                  </a:tcPr>
                </a:tc>
                <a:tc>
                  <a:txBody>
                    <a:bodyPr/>
                    <a:lstStyle/>
                    <a:p>
                      <a:r>
                        <a:rPr sz="1200">
                          <a:latin typeface="Segoe Sans Display"/>
                        </a:rPr>
                        <a:t>v2 expansion — requires device-fleet management and model-distribution maturity; reuses Concept A's APIs.</a:t>
                      </a:r>
                    </a:p>
                  </a:txBody>
                  <a:tcPr anchor="ctr"/>
                </a:tc>
                <a:tc>
                  <a:txBody>
                    <a:bodyPr/>
                    <a:lstStyle/>
                    <a:p>
                      <a:r>
                        <a:rPr sz="1200">
                          <a:latin typeface="Segoe Sans Display"/>
                        </a:rPr>
                        <a:t>Extends reach into the store; the AI copilot augments the associate but accountability for advice stays human.</a:t>
                      </a:r>
                    </a:p>
                  </a:txBody>
                  <a:tcPr anchor="ctr"/>
                </a:tc>
                <a:tc>
                  <a:txBody>
                    <a:bodyPr/>
                    <a:lstStyle/>
                    <a:p>
                      <a:r>
                        <a:rPr sz="1200">
                          <a:latin typeface="Segoe Sans Display"/>
                        </a:rPr>
                        <a:t>Strongest privacy posture (processing stays local); hardware capex and patching cadence are the new risks.</a:t>
                      </a:r>
                    </a:p>
                  </a:txBody>
                  <a:tcPr anchor="ctr"/>
                </a:tc>
              </a:tr>
              <a:tr h="982980">
                <a:tc>
                  <a:txBody>
                    <a:bodyPr/>
                    <a:lstStyle/>
                    <a:p>
                      <a:r>
                        <a:rPr b="1" sz="1300">
                          <a:solidFill>
                            <a:srgbClr val="FFFFFF"/>
                          </a:solidFill>
                          <a:latin typeface="Segoe Sans Display"/>
                        </a:rPr>
                        <a:t>C · Data Fabric / Intelligence Layer</a:t>
                      </a:r>
                    </a:p>
                  </a:txBody>
                  <a:tcPr anchor="ctr">
                    <a:solidFill>
                      <a:srgbClr val="14366E"/>
                    </a:solidFill>
                  </a:tcPr>
                </a:tc>
                <a:tc>
                  <a:txBody>
                    <a:bodyPr/>
                    <a:lstStyle/>
                    <a:p>
                      <a:r>
                        <a:rPr sz="1200">
                          <a:latin typeface="Segoe Sans Display"/>
                        </a:rPr>
                        <a:t>v3 strategic — Fabric capex and longer time-to-insight; opens only after Concept A produces 12+ months of fit data.</a:t>
                      </a:r>
                    </a:p>
                  </a:txBody>
                  <a:tcPr anchor="ctr"/>
                </a:tc>
                <a:tc>
                  <a:txBody>
                    <a:bodyPr/>
                    <a:lstStyle/>
                    <a:p>
                      <a:r>
                        <a:rPr sz="1200">
                          <a:latin typeface="Segoe Sans Display"/>
                        </a:rPr>
                        <a:t>Joins fit, returns, profiles, and catalog for merchandising correction and return-rate intervention.</a:t>
                      </a:r>
                    </a:p>
                  </a:txBody>
                  <a:tcPr anchor="ctr"/>
                </a:tc>
                <a:tc>
                  <a:txBody>
                    <a:bodyPr/>
                    <a:lstStyle/>
                    <a:p>
                      <a:r>
                        <a:rPr sz="1200">
                          <a:latin typeface="Segoe Sans Display"/>
                        </a:rPr>
                        <a:t>Governed lineage; the copilot supports the merchandising analyst's catalog accountability rather than replacing it.</a:t>
                      </a:r>
                    </a:p>
                  </a:txBody>
                  <a:tcPr anchor="ctr"/>
                </a:tc>
              </a:tr>
            </a:tbl>
          </a:graphicData>
        </a:graphic>
      </p:graphicFrame>
      <p:sp>
        <p:nvSpPr>
          <p:cNvPr id="5" name="Eyebrow Footer"/>
          <p:cNvSpPr txBox="1"/>
          <p:nvPr/>
        </p:nvSpPr>
        <p:spPr>
          <a:xfrm>
            <a:off x="457200" y="5920740"/>
            <a:ext cx="10972800" cy="531266"/>
          </a:xfrm>
          <a:prstGeom prst="rect">
            <a:avLst/>
          </a:prstGeom>
          <a:noFill/>
        </p:spPr>
        <p:txBody>
          <a:bodyPr wrap="square">
            <a:spAutoFit/>
          </a:bodyPr>
          <a:lstStyle/>
          <a:p>
            <a:pPr algn="ctr"/>
            <a:r>
              <a:rPr sz="1300" b="1" i="1">
                <a:solidFill>
                  <a:srgbClr val="B7410E"/>
                </a:solidFill>
                <a:latin typeface="Segoe Sans Display"/>
              </a:rPr>
              <a:t>A ships v1.   B is the v2 expansion path.   C is the v3 strategic move — gated on A's data.</a:t>
            </a:r>
          </a:p>
        </p:txBody>
      </p:sp>
      <p:sp>
        <p:nvSpPr>
          <p:cNvPr id="6" name="Source Footer"/>
          <p:cNvSpPr txBox="1"/>
          <p:nvPr/>
        </p:nvSpPr>
        <p:spPr>
          <a:xfrm>
            <a:off x="457200" y="644652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§6, §9 (sequencing) · risk-register.md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Business Value · Four Drivers + the Microsoft IQs</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Tie technology to outcomes. Map each capability to a value driver and a Microsoft IQ.</a:t>
            </a:r>
          </a:p>
        </p:txBody>
      </p:sp>
      <p:sp>
        <p:nvSpPr>
          <p:cNvPr id="4" name="Drivers Header"/>
          <p:cNvSpPr/>
          <p:nvPr/>
        </p:nvSpPr>
        <p:spPr>
          <a:xfrm>
            <a:off x="457200" y="1874519"/>
            <a:ext cx="5562295"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Four Value Drivers</a:t>
            </a:r>
          </a:p>
        </p:txBody>
      </p:sp>
      <p:sp>
        <p:nvSpPr>
          <p:cNvPr id="5" name="Drivers Body"/>
          <p:cNvSpPr/>
          <p:nvPr/>
        </p:nvSpPr>
        <p:spPr>
          <a:xfrm>
            <a:off x="457200" y="2468880"/>
            <a:ext cx="5562295" cy="361188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IQ Header"/>
          <p:cNvSpPr/>
          <p:nvPr/>
        </p:nvSpPr>
        <p:spPr>
          <a:xfrm>
            <a:off x="6172200" y="1874519"/>
            <a:ext cx="5562295" cy="59436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Three Microsoft IQs — Where Each Shows Up</a:t>
            </a:r>
          </a:p>
        </p:txBody>
      </p:sp>
      <p:graphicFrame>
        <p:nvGraphicFramePr>
          <p:cNvPr id="7" name="IQ Table"/>
          <p:cNvGraphicFramePr>
            <a:graphicFrameLocks noGrp="1"/>
          </p:cNvGraphicFramePr>
          <p:nvPr/>
        </p:nvGraphicFramePr>
        <p:xfrm>
          <a:off x="6172200" y="2468880"/>
          <a:ext cx="5562295" cy="3611880"/>
        </p:xfrm>
        <a:graphic>
          <a:graphicData uri="http://schemas.openxmlformats.org/drawingml/2006/table">
            <a:tbl>
              <a:tblPr firstRow="1" bandRow="1">
                <a:tableStyleId>{5C22544A-7EE6-4342-B048-85BDC9FD1C3A}</a:tableStyleId>
              </a:tblPr>
              <a:tblGrid>
                <a:gridCol w="1538935"/>
                <a:gridCol w="4023360"/>
              </a:tblGrid>
              <a:tr h="902970">
                <a:tc>
                  <a:txBody>
                    <a:bodyPr/>
                    <a:lstStyle/>
                    <a:p>
                      <a:r>
                        <a:rPr b="1" sz="1300">
                          <a:solidFill>
                            <a:srgbClr val="FFFFFF"/>
                          </a:solidFill>
                          <a:latin typeface="Segoe Sans Display"/>
                        </a:rPr>
                        <a:t>Microsoft IQ</a:t>
                      </a:r>
                    </a:p>
                  </a:txBody>
                  <a:tcPr anchor="ctr">
                    <a:solidFill>
                      <a:srgbClr val="14366E"/>
                    </a:solidFill>
                  </a:tcPr>
                </a:tc>
                <a:tc>
                  <a:txBody>
                    <a:bodyPr/>
                    <a:lstStyle/>
                    <a:p>
                      <a:r>
                        <a:rPr b="1" sz="1300">
                          <a:solidFill>
                            <a:srgbClr val="FFFFFF"/>
                          </a:solidFill>
                          <a:latin typeface="Segoe Sans Display"/>
                        </a:rPr>
                        <a:t>Where it shows up in this architecture</a:t>
                      </a:r>
                    </a:p>
                  </a:txBody>
                  <a:tcPr anchor="ctr">
                    <a:solidFill>
                      <a:srgbClr val="14366E"/>
                    </a:solidFill>
                  </a:tcPr>
                </a:tc>
              </a:tr>
              <a:tr h="902970">
                <a:tc>
                  <a:txBody>
                    <a:bodyPr/>
                    <a:lstStyle/>
                    <a:p>
                      <a:r>
                        <a:rPr b="1" sz="1300">
                          <a:solidFill>
                            <a:srgbClr val="0B5594"/>
                          </a:solidFill>
                          <a:latin typeface="Segoe Sans Display"/>
                        </a:rPr>
                        <a:t>Work IQ</a:t>
                      </a:r>
                    </a:p>
                  </a:txBody>
                  <a:tcPr anchor="ctr"/>
                </a:tc>
                <a:tc>
                  <a:txBody>
                    <a:bodyPr/>
                    <a:lstStyle/>
                    <a:p>
                      <a:r>
                        <a:rPr sz="1200">
                          <a:solidFill>
                            <a:srgbClr val="1F1F1F"/>
                          </a:solidFill>
                          <a:latin typeface="Segoe Sans Display"/>
                        </a:rPr>
                        <a:t>In-workflow recommendations — the shopper-facing fit recommendation today; the associate copilot (Concept B) tomorrow.</a:t>
                      </a:r>
                    </a:p>
                  </a:txBody>
                  <a:tcPr anchor="ctr"/>
                </a:tc>
              </a:tr>
              <a:tr h="902970">
                <a:tc>
                  <a:txBody>
                    <a:bodyPr/>
                    <a:lstStyle/>
                    <a:p>
                      <a:r>
                        <a:rPr b="1" sz="1300">
                          <a:solidFill>
                            <a:srgbClr val="0B5594"/>
                          </a:solidFill>
                          <a:latin typeface="Segoe Sans Display"/>
                        </a:rPr>
                        <a:t>Foundry IQ</a:t>
                      </a:r>
                    </a:p>
                  </a:txBody>
                  <a:tcPr anchor="ctr"/>
                </a:tc>
                <a:tc>
                  <a:txBody>
                    <a:bodyPr/>
                    <a:lstStyle/>
                    <a:p>
                      <a:r>
                        <a:rPr sz="1200">
                          <a:solidFill>
                            <a:srgbClr val="1F1F1F"/>
                          </a:solidFill>
                          <a:latin typeface="Segoe Sans Display"/>
                        </a:rPr>
                        <a:t>The three-tier AI pipeline — Vision + Content Safety + GPT-4o, and the future SMPL body model on Azure AI Foundry.</a:t>
                      </a:r>
                    </a:p>
                  </a:txBody>
                  <a:tcPr anchor="ctr"/>
                </a:tc>
              </a:tr>
              <a:tr h="902970">
                <a:tc>
                  <a:txBody>
                    <a:bodyPr/>
                    <a:lstStyle/>
                    <a:p>
                      <a:r>
                        <a:rPr b="1" sz="1300">
                          <a:solidFill>
                            <a:srgbClr val="0B5594"/>
                          </a:solidFill>
                          <a:latin typeface="Segoe Sans Display"/>
                        </a:rPr>
                        <a:t>Fabric IQ</a:t>
                      </a:r>
                    </a:p>
                  </a:txBody>
                  <a:tcPr anchor="ctr"/>
                </a:tc>
                <a:tc>
                  <a:txBody>
                    <a:bodyPr/>
                    <a:lstStyle/>
                    <a:p>
                      <a:r>
                        <a:rPr sz="1200">
                          <a:solidFill>
                            <a:srgbClr val="1F1F1F"/>
                          </a:solidFill>
                          <a:latin typeface="Segoe Sans Display"/>
                        </a:rPr>
                        <a:t>Governed data foundation — Concept C path; semantic layer over fit, returns, profiles, and catalog.</a:t>
                      </a:r>
                    </a:p>
                  </a:txBody>
                  <a:tcPr anchor="ctr"/>
                </a:tc>
              </a:tr>
            </a:tbl>
          </a:graphicData>
        </a:graphic>
      </p:graphicFrame>
      <p:sp>
        <p:nvSpPr>
          <p:cNvPr id="8"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§8 (Business Value) · Microsoft ISD value-driver framework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Decisions That Shape v1 · Risks We're Tracking</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Every decision cites its ADR. Every risk has an owner and a severity.</a:t>
            </a:r>
          </a:p>
        </p:txBody>
      </p:sp>
      <p:sp>
        <p:nvSpPr>
          <p:cNvPr id="4" name="Decisions Header"/>
          <p:cNvSpPr/>
          <p:nvPr/>
        </p:nvSpPr>
        <p:spPr>
          <a:xfrm>
            <a:off x="457200" y="1874519"/>
            <a:ext cx="5562295" cy="59436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Decisions That Shape v1</a:t>
            </a:r>
          </a:p>
        </p:txBody>
      </p:sp>
      <p:sp>
        <p:nvSpPr>
          <p:cNvPr id="5" name="Decisions Body"/>
          <p:cNvSpPr/>
          <p:nvPr/>
        </p:nvSpPr>
        <p:spPr>
          <a:xfrm>
            <a:off x="457200" y="2468880"/>
            <a:ext cx="5562295" cy="36576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isks Header"/>
          <p:cNvSpPr/>
          <p:nvPr/>
        </p:nvSpPr>
        <p:spPr>
          <a:xfrm>
            <a:off x="6172200" y="1874519"/>
            <a:ext cx="5562295" cy="594360"/>
          </a:xfrm>
          <a:prstGeom prst="rect">
            <a:avLst/>
          </a:prstGeom>
          <a:solidFill>
            <a:srgbClr val="000000"/>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Risks We're Tracking</a:t>
            </a:r>
          </a:p>
        </p:txBody>
      </p:sp>
      <p:sp>
        <p:nvSpPr>
          <p:cNvPr id="7" name="Risks Body"/>
          <p:cNvSpPr/>
          <p:nvPr/>
        </p:nvSpPr>
        <p:spPr>
          <a:xfrm>
            <a:off x="6172200" y="2468880"/>
            <a:ext cx="5562295" cy="365760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Source Footer"/>
          <p:cNvSpPr txBox="1"/>
          <p:nvPr/>
        </p:nvSpPr>
        <p:spPr>
          <a:xfrm>
            <a:off x="457200" y="6172200"/>
            <a:ext cx="10972800" cy="308152"/>
          </a:xfrm>
          <a:prstGeom prst="rect">
            <a:avLst/>
          </a:prstGeom>
          <a:noFill/>
        </p:spPr>
        <p:txBody>
          <a:bodyPr wrap="square">
            <a:spAutoFit/>
          </a:bodyPr>
          <a:lstStyle/>
          <a:p>
            <a:pPr algn="l"/>
            <a:r>
              <a:rPr sz="1100" b="0" i="1">
                <a:solidFill>
                  <a:srgbClr val="6B6B6B"/>
                </a:solidFill>
                <a:latin typeface="Segoe Sans Display"/>
              </a:rPr>
              <a:t>Source — decision-register.md (ADR-001, 002, 004, 008, 011) · risk-register.md (R-001, R-002, R-003, R-005, R-007)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Hypotheses · What We'd Need to See to Change Course</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Six hypotheses. Each carries the test that settles it.</a:t>
            </a:r>
          </a:p>
        </p:txBody>
      </p:sp>
      <p:graphicFrame>
        <p:nvGraphicFramePr>
          <p:cNvPr id="4" name="Hypotheses Table"/>
          <p:cNvGraphicFramePr>
            <a:graphicFrameLocks noGrp="1"/>
          </p:cNvGraphicFramePr>
          <p:nvPr/>
        </p:nvGraphicFramePr>
        <p:xfrm>
          <a:off x="457200" y="1874519"/>
          <a:ext cx="11277295" cy="4160520"/>
        </p:xfrm>
        <a:graphic>
          <a:graphicData uri="http://schemas.openxmlformats.org/drawingml/2006/table">
            <a:tbl>
              <a:tblPr firstRow="1" bandRow="1">
                <a:tableStyleId>{5C22544A-7EE6-4342-B048-85BDC9FD1C3A}</a:tableStyleId>
              </a:tblPr>
              <a:tblGrid>
                <a:gridCol w="640080"/>
                <a:gridCol w="5029200"/>
                <a:gridCol w="1218895"/>
                <a:gridCol w="4389120"/>
              </a:tblGrid>
              <a:tr h="594360">
                <a:tc>
                  <a:txBody>
                    <a:bodyPr/>
                    <a:lstStyle/>
                    <a:p>
                      <a:r>
                        <a:rPr b="1" sz="1300">
                          <a:solidFill>
                            <a:srgbClr val="FFFFFF"/>
                          </a:solidFill>
                          <a:latin typeface="Segoe Sans Display"/>
                        </a:rPr>
                        <a:t>ID</a:t>
                      </a:r>
                    </a:p>
                  </a:txBody>
                  <a:tcPr anchor="ctr">
                    <a:solidFill>
                      <a:srgbClr val="000000"/>
                    </a:solidFill>
                  </a:tcPr>
                </a:tc>
                <a:tc>
                  <a:txBody>
                    <a:bodyPr/>
                    <a:lstStyle/>
                    <a:p>
                      <a:r>
                        <a:rPr b="1" sz="1300">
                          <a:solidFill>
                            <a:srgbClr val="FFFFFF"/>
                          </a:solidFill>
                          <a:latin typeface="Segoe Sans Display"/>
                        </a:rPr>
                        <a:t>Hypothesis</a:t>
                      </a:r>
                    </a:p>
                  </a:txBody>
                  <a:tcPr anchor="ctr">
                    <a:solidFill>
                      <a:srgbClr val="000000"/>
                    </a:solidFill>
                  </a:tcPr>
                </a:tc>
                <a:tc>
                  <a:txBody>
                    <a:bodyPr/>
                    <a:lstStyle/>
                    <a:p>
                      <a:r>
                        <a:rPr b="1" sz="1300">
                          <a:solidFill>
                            <a:srgbClr val="FFFFFF"/>
                          </a:solidFill>
                          <a:latin typeface="Segoe Sans Display"/>
                        </a:rPr>
                        <a:t>Status</a:t>
                      </a:r>
                    </a:p>
                  </a:txBody>
                  <a:tcPr anchor="ctr">
                    <a:solidFill>
                      <a:srgbClr val="000000"/>
                    </a:solidFill>
                  </a:tcPr>
                </a:tc>
                <a:tc>
                  <a:txBody>
                    <a:bodyPr/>
                    <a:lstStyle/>
                    <a:p>
                      <a:r>
                        <a:rPr b="1" sz="1300">
                          <a:solidFill>
                            <a:srgbClr val="FFFFFF"/>
                          </a:solidFill>
                          <a:latin typeface="Segoe Sans Display"/>
                        </a:rPr>
                        <a:t>Validation Method</a:t>
                      </a:r>
                    </a:p>
                  </a:txBody>
                  <a:tcPr anchor="ctr">
                    <a:solidFill>
                      <a:srgbClr val="000000"/>
                    </a:solidFill>
                  </a:tcPr>
                </a:tc>
              </a:tr>
              <a:tr h="594360">
                <a:tc>
                  <a:txBody>
                    <a:bodyPr/>
                    <a:lstStyle/>
                    <a:p>
                      <a:r>
                        <a:rPr b="1" sz="1300">
                          <a:solidFill>
                            <a:srgbClr val="14366E"/>
                          </a:solidFill>
                          <a:latin typeface="Segoe Sans Display"/>
                        </a:rPr>
                        <a:t>H-1</a:t>
                      </a:r>
                    </a:p>
                  </a:txBody>
                  <a:tcPr anchor="ctr"/>
                </a:tc>
                <a:tc>
                  <a:txBody>
                    <a:bodyPr/>
                    <a:lstStyle/>
                    <a:p>
                      <a:r>
                        <a:rPr sz="1200">
                          <a:solidFill>
                            <a:srgbClr val="1F1F1F"/>
                          </a:solidFill>
                          <a:latin typeface="Segoe Sans Display"/>
                        </a:rPr>
                        <a:t>GPT-4o Vision + mandatory height delivers ±2–4 cm measurement accuracy good enough for size recommendation.</a:t>
                      </a:r>
                    </a:p>
                  </a:txBody>
                  <a:tcPr anchor="ctr"/>
                </a:tc>
                <a:tc>
                  <a:txBody>
                    <a:bodyPr/>
                    <a:lstStyle/>
                    <a:p>
                      <a:r>
                        <a:rPr b="1" sz="1200">
                          <a:solidFill>
                            <a:srgbClr val="0B5594"/>
                          </a:solidFill>
                          <a:latin typeface="Segoe Sans Display"/>
                        </a:rPr>
                        <a:t>Hypothesis</a:t>
                      </a:r>
                    </a:p>
                  </a:txBody>
                  <a:tcPr anchor="ctr">
                    <a:solidFill>
                      <a:srgbClr val="FFFFFF"/>
                    </a:solidFill>
                  </a:tcPr>
                </a:tc>
                <a:tc>
                  <a:txBody>
                    <a:bodyPr/>
                    <a:lstStyle/>
                    <a:p>
                      <a:r>
                        <a:rPr sz="1200">
                          <a:solidFill>
                            <a:srgbClr val="1F1F1F"/>
                          </a:solidFill>
                          <a:latin typeface="Segoe Sans Display"/>
                        </a:rPr>
                        <a:t>Integration testing on a labeled measurement set; spot-check against tape-measured ground truth.</a:t>
                      </a:r>
                    </a:p>
                  </a:txBody>
                  <a:tcPr anchor="ctr"/>
                </a:tc>
              </a:tr>
              <a:tr h="594360">
                <a:tc>
                  <a:txBody>
                    <a:bodyPr/>
                    <a:lstStyle/>
                    <a:p>
                      <a:r>
                        <a:rPr b="1" sz="1300">
                          <a:solidFill>
                            <a:srgbClr val="14366E"/>
                          </a:solidFill>
                          <a:latin typeface="Segoe Sans Display"/>
                        </a:rPr>
                        <a:t>H-2</a:t>
                      </a:r>
                    </a:p>
                  </a:txBody>
                  <a:tcPr anchor="ctr"/>
                </a:tc>
                <a:tc>
                  <a:txBody>
                    <a:bodyPr/>
                    <a:lstStyle/>
                    <a:p>
                      <a:r>
                        <a:rPr sz="1200">
                          <a:solidFill>
                            <a:srgbClr val="1F1F1F"/>
                          </a:solidFill>
                          <a:latin typeface="Segoe Sans Display"/>
                        </a:rPr>
                        <a:t>A 70% confidence threshold is the right shopper-trust line for showing or hiding the size recommendation.</a:t>
                      </a:r>
                    </a:p>
                  </a:txBody>
                  <a:tcPr anchor="ctr"/>
                </a:tc>
                <a:tc>
                  <a:txBody>
                    <a:bodyPr/>
                    <a:lstStyle/>
                    <a:p>
                      <a:r>
                        <a:rPr b="1" sz="1200">
                          <a:solidFill>
                            <a:srgbClr val="0B5594"/>
                          </a:solidFill>
                          <a:latin typeface="Segoe Sans Display"/>
                        </a:rPr>
                        <a:t>Hypothesis</a:t>
                      </a:r>
                    </a:p>
                  </a:txBody>
                  <a:tcPr anchor="ctr">
                    <a:solidFill>
                      <a:srgbClr val="FFFFFF"/>
                    </a:solidFill>
                  </a:tcPr>
                </a:tc>
                <a:tc>
                  <a:txBody>
                    <a:bodyPr/>
                    <a:lstStyle/>
                    <a:p>
                      <a:r>
                        <a:rPr sz="1200">
                          <a:solidFill>
                            <a:srgbClr val="1F1F1F"/>
                          </a:solidFill>
                          <a:latin typeface="Segoe Sans Display"/>
                        </a:rPr>
                        <a:t>A/B test threshold variants vs return rate and shopper conversion in pilot tenant.</a:t>
                      </a:r>
                    </a:p>
                  </a:txBody>
                  <a:tcPr anchor="ctr"/>
                </a:tc>
              </a:tr>
              <a:tr h="594360">
                <a:tc>
                  <a:txBody>
                    <a:bodyPr/>
                    <a:lstStyle/>
                    <a:p>
                      <a:r>
                        <a:rPr b="1" sz="1300">
                          <a:solidFill>
                            <a:srgbClr val="14366E"/>
                          </a:solidFill>
                          <a:latin typeface="Segoe Sans Display"/>
                        </a:rPr>
                        <a:t>H-3</a:t>
                      </a:r>
                    </a:p>
                  </a:txBody>
                  <a:tcPr anchor="ctr"/>
                </a:tc>
                <a:tc>
                  <a:txBody>
                    <a:bodyPr/>
                    <a:lstStyle/>
                    <a:p>
                      <a:r>
                        <a:rPr sz="1200">
                          <a:solidFill>
                            <a:srgbClr val="1F1F1F"/>
                          </a:solidFill>
                          <a:latin typeface="Segoe Sans Display"/>
                        </a:rPr>
                        <a:t>Cosmos hierarchical partition keys (tenant + body + assessment) prevent cross-tenant queries at the engine level.</a:t>
                      </a:r>
                    </a:p>
                  </a:txBody>
                  <a:tcPr anchor="ctr"/>
                </a:tc>
                <a:tc>
                  <a:txBody>
                    <a:bodyPr/>
                    <a:lstStyle/>
                    <a:p>
                      <a:r>
                        <a:rPr b="1" sz="1200">
                          <a:solidFill>
                            <a:srgbClr val="FFFFFF"/>
                          </a:solidFill>
                          <a:latin typeface="Segoe Sans Display"/>
                        </a:rPr>
                        <a:t>Verified</a:t>
                      </a:r>
                    </a:p>
                  </a:txBody>
                  <a:tcPr anchor="ctr">
                    <a:solidFill>
                      <a:srgbClr val="9BBB59"/>
                    </a:solidFill>
                  </a:tcPr>
                </a:tc>
                <a:tc>
                  <a:txBody>
                    <a:bodyPr/>
                    <a:lstStyle/>
                    <a:p>
                      <a:r>
                        <a:rPr sz="1200">
                          <a:solidFill>
                            <a:srgbClr val="1F1F1F"/>
                          </a:solidFill>
                          <a:latin typeface="Segoe Sans Display"/>
                        </a:rPr>
                        <a:t>Schema compile-time validation + integration tests confirming query-pattern enforcement.</a:t>
                      </a:r>
                    </a:p>
                  </a:txBody>
                  <a:tcPr anchor="ctr"/>
                </a:tc>
              </a:tr>
              <a:tr h="594360">
                <a:tc>
                  <a:txBody>
                    <a:bodyPr/>
                    <a:lstStyle/>
                    <a:p>
                      <a:r>
                        <a:rPr b="1" sz="1300">
                          <a:solidFill>
                            <a:srgbClr val="14366E"/>
                          </a:solidFill>
                          <a:latin typeface="Segoe Sans Display"/>
                        </a:rPr>
                        <a:t>H-4</a:t>
                      </a:r>
                    </a:p>
                  </a:txBody>
                  <a:tcPr anchor="ctr"/>
                </a:tc>
                <a:tc>
                  <a:txBody>
                    <a:bodyPr/>
                    <a:lstStyle/>
                    <a:p>
                      <a:r>
                        <a:rPr sz="1200">
                          <a:solidFill>
                            <a:srgbClr val="1F1F1F"/>
                          </a:solidFill>
                          <a:latin typeface="Segoe Sans Display"/>
                        </a:rPr>
                        <a:t>60-second blob TTL meets the privacy and regulatory bar for biometric-adjacent image data.</a:t>
                      </a:r>
                    </a:p>
                  </a:txBody>
                  <a:tcPr anchor="ctr"/>
                </a:tc>
                <a:tc>
                  <a:txBody>
                    <a:bodyPr/>
                    <a:lstStyle/>
                    <a:p>
                      <a:r>
                        <a:rPr b="1" sz="1200">
                          <a:solidFill>
                            <a:srgbClr val="0B5594"/>
                          </a:solidFill>
                          <a:latin typeface="Segoe Sans Display"/>
                        </a:rPr>
                        <a:t>Hypothesis</a:t>
                      </a:r>
                    </a:p>
                  </a:txBody>
                  <a:tcPr anchor="ctr">
                    <a:solidFill>
                      <a:srgbClr val="FFFFFF"/>
                    </a:solidFill>
                  </a:tcPr>
                </a:tc>
                <a:tc>
                  <a:txBody>
                    <a:bodyPr/>
                    <a:lstStyle/>
                    <a:p>
                      <a:r>
                        <a:rPr sz="1200">
                          <a:solidFill>
                            <a:srgbClr val="1F1F1F"/>
                          </a:solidFill>
                          <a:latin typeface="Segoe Sans Display"/>
                        </a:rPr>
                        <a:t>DPIA review and external counsel sign-off before pilot expansion beyond first tenant.</a:t>
                      </a:r>
                    </a:p>
                  </a:txBody>
                  <a:tcPr anchor="ctr"/>
                </a:tc>
              </a:tr>
              <a:tr h="594360">
                <a:tc>
                  <a:txBody>
                    <a:bodyPr/>
                    <a:lstStyle/>
                    <a:p>
                      <a:r>
                        <a:rPr b="1" sz="1300">
                          <a:solidFill>
                            <a:srgbClr val="14366E"/>
                          </a:solidFill>
                          <a:latin typeface="Segoe Sans Display"/>
                        </a:rPr>
                        <a:t>H-5</a:t>
                      </a:r>
                    </a:p>
                  </a:txBody>
                  <a:tcPr anchor="ctr"/>
                </a:tc>
                <a:tc>
                  <a:txBody>
                    <a:bodyPr/>
                    <a:lstStyle/>
                    <a:p>
                      <a:r>
                        <a:rPr sz="1200">
                          <a:solidFill>
                            <a:srgbClr val="1F1F1F"/>
                          </a:solidFill>
                          <a:latin typeface="Segoe Sans Display"/>
                        </a:rPr>
                        <a:t>ASP.NET Core middleware rate limiting absorbs 2× expected peak load without breaching p95.</a:t>
                      </a:r>
                    </a:p>
                  </a:txBody>
                  <a:tcPr anchor="ctr"/>
                </a:tc>
                <a:tc>
                  <a:txBody>
                    <a:bodyPr/>
                    <a:lstStyle/>
                    <a:p>
                      <a:r>
                        <a:rPr b="1" sz="1200">
                          <a:solidFill>
                            <a:srgbClr val="0B5594"/>
                          </a:solidFill>
                          <a:latin typeface="Segoe Sans Display"/>
                        </a:rPr>
                        <a:t>Hypothesis</a:t>
                      </a:r>
                    </a:p>
                  </a:txBody>
                  <a:tcPr anchor="ctr">
                    <a:solidFill>
                      <a:srgbClr val="FFFFFF"/>
                    </a:solidFill>
                  </a:tcPr>
                </a:tc>
                <a:tc>
                  <a:txBody>
                    <a:bodyPr/>
                    <a:lstStyle/>
                    <a:p>
                      <a:r>
                        <a:rPr sz="1200">
                          <a:solidFill>
                            <a:srgbClr val="1F1F1F"/>
                          </a:solidFill>
                          <a:latin typeface="Segoe Sans Display"/>
                        </a:rPr>
                        <a:t>Load test at 2× projected peak; verify Service Bus overflow trigger fires before SLA breach.</a:t>
                      </a:r>
                    </a:p>
                  </a:txBody>
                  <a:tcPr anchor="ctr"/>
                </a:tc>
              </a:tr>
              <a:tr h="594360">
                <a:tc>
                  <a:txBody>
                    <a:bodyPr/>
                    <a:lstStyle/>
                    <a:p>
                      <a:r>
                        <a:rPr b="1" sz="1300">
                          <a:solidFill>
                            <a:srgbClr val="14366E"/>
                          </a:solidFill>
                          <a:latin typeface="Segoe Sans Display"/>
                        </a:rPr>
                        <a:t>H-6</a:t>
                      </a:r>
                    </a:p>
                  </a:txBody>
                  <a:tcPr anchor="ctr"/>
                </a:tc>
                <a:tc>
                  <a:txBody>
                    <a:bodyPr/>
                    <a:lstStyle/>
                    <a:p>
                      <a:r>
                        <a:rPr sz="1200">
                          <a:solidFill>
                            <a:srgbClr val="1F1F1F"/>
                          </a:solidFill>
                          <a:latin typeface="Segoe Sans Display"/>
                        </a:rPr>
                        <a:t>Edge inference (Concept B) is cost-justified vs cloud-only once in-store volume crosses a per-store threshold.</a:t>
                      </a:r>
                    </a:p>
                  </a:txBody>
                  <a:tcPr anchor="ctr"/>
                </a:tc>
                <a:tc>
                  <a:txBody>
                    <a:bodyPr/>
                    <a:lstStyle/>
                    <a:p>
                      <a:r>
                        <a:rPr b="1" sz="1200">
                          <a:solidFill>
                            <a:srgbClr val="0B5594"/>
                          </a:solidFill>
                          <a:latin typeface="Segoe Sans Display"/>
                        </a:rPr>
                        <a:t>Hypothesis</a:t>
                      </a:r>
                    </a:p>
                  </a:txBody>
                  <a:tcPr anchor="ctr">
                    <a:solidFill>
                      <a:srgbClr val="FFFFFF"/>
                    </a:solidFill>
                  </a:tcPr>
                </a:tc>
                <a:tc>
                  <a:txBody>
                    <a:bodyPr/>
                    <a:lstStyle/>
                    <a:p>
                      <a:r>
                        <a:rPr sz="1200">
                          <a:solidFill>
                            <a:srgbClr val="1F1F1F"/>
                          </a:solidFill>
                          <a:latin typeface="Segoe Sans Display"/>
                        </a:rPr>
                        <a:t>Per-store TCO model + 2-store pilot comparing edge vs cloud cost per assessment.</a:t>
                      </a:r>
                    </a:p>
                  </a:txBody>
                  <a:tcPr anchor="ctr"/>
                </a:tc>
              </a:tr>
            </a:tbl>
          </a:graphicData>
        </a:graphic>
      </p:graphicFrame>
      <p:sp>
        <p:nvSpPr>
          <p:cNvPr id="5" name="Source Footer"/>
          <p:cNvSpPr txBox="1"/>
          <p:nvPr/>
        </p:nvSpPr>
        <p:spPr>
          <a:xfrm>
            <a:off x="457200" y="612648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§10 (Hypotheses) · research.md (R1) · risk-register.md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p:nvPr/>
        </p:nvSpPr>
        <p:spPr>
          <a:xfrm>
            <a:off x="457200" y="672084"/>
            <a:ext cx="11141964" cy="523036"/>
          </a:xfrm>
          <a:prstGeom prst="rect">
            <a:avLst/>
          </a:prstGeom>
          <a:noFill/>
        </p:spPr>
        <p:txBody>
          <a:bodyPr wrap="square">
            <a:spAutoFit/>
          </a:bodyPr>
          <a:lstStyle/>
          <a:p>
            <a:r>
              <a:rPr sz="1600" b="0" i="0"/>
              <a:t>Defending the Choice</a:t>
            </a:r>
          </a:p>
        </p:txBody>
      </p:sp>
      <p:sp>
        <p:nvSpPr>
          <p:cNvPr id="3" name="Subtitle"/>
          <p:cNvSpPr txBox="1"/>
          <p:nvPr/>
        </p:nvSpPr>
        <p:spPr>
          <a:xfrm>
            <a:off x="457200" y="1345996"/>
            <a:ext cx="10972800" cy="308152"/>
          </a:xfrm>
          <a:prstGeom prst="rect">
            <a:avLst/>
          </a:prstGeom>
          <a:noFill/>
        </p:spPr>
        <p:txBody>
          <a:bodyPr wrap="square" lIns="0">
            <a:spAutoFit/>
          </a:bodyPr>
          <a:lstStyle/>
          <a:p>
            <a:pPr algn="l"/>
            <a:r>
              <a:rPr sz="1400" b="0" i="1">
                <a:solidFill>
                  <a:srgbClr val="1F1F1F"/>
                </a:solidFill>
                <a:latin typeface="Segoe Sans Display"/>
              </a:rPr>
              <a:t>Closing — workshop discussion.</a:t>
            </a:r>
          </a:p>
        </p:txBody>
      </p:sp>
      <p:sp>
        <p:nvSpPr>
          <p:cNvPr id="4" name="Big Question"/>
          <p:cNvSpPr txBox="1"/>
          <p:nvPr/>
        </p:nvSpPr>
        <p:spPr>
          <a:xfrm>
            <a:off x="457200" y="1920240"/>
            <a:ext cx="11277295" cy="1280160"/>
          </a:xfrm>
          <a:prstGeom prst="rect">
            <a:avLst/>
          </a:prstGeom>
          <a:noFill/>
        </p:spPr>
        <p:txBody>
          <a:bodyPr wrap="square" lIns="182880" rIns="182880" tIns="91440" bIns="91440" anchor="ctr">
            <a:noAutofit/>
          </a:bodyPr>
          <a:lstStyle/>
          <a:p>
            <a:pPr algn="ctr"/>
            <a:r>
              <a:rPr sz="3200" b="1" i="0">
                <a:solidFill>
                  <a:srgbClr val="14366E"/>
                </a:solidFill>
                <a:latin typeface="Segoe Sans Display"/>
              </a:rPr>
              <a:t>Why this architecture, why now, what would change our mind?</a:t>
            </a:r>
          </a:p>
        </p:txBody>
      </p:sp>
      <p:sp>
        <p:nvSpPr>
          <p:cNvPr id="5" name="Commitments Header"/>
          <p:cNvSpPr/>
          <p:nvPr/>
        </p:nvSpPr>
        <p:spPr>
          <a:xfrm>
            <a:off x="457200" y="3383280"/>
            <a:ext cx="11277295" cy="502920"/>
          </a:xfrm>
          <a:prstGeom prst="rect">
            <a:avLst/>
          </a:prstGeom>
          <a:solidFill>
            <a:srgbClr val="14366E"/>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a:lstStyle/>
          <a:p>
            <a:pPr algn="l"/>
            <a:r>
              <a:rPr sz="1600" b="1" i="0">
                <a:solidFill>
                  <a:srgbClr val="FFFFFF"/>
                </a:solidFill>
                <a:latin typeface="Segoe Sans Display"/>
              </a:rPr>
              <a:t>Our Commitments</a:t>
            </a:r>
          </a:p>
        </p:txBody>
      </p:sp>
      <p:sp>
        <p:nvSpPr>
          <p:cNvPr id="6" name="Commitments Body"/>
          <p:cNvSpPr/>
          <p:nvPr/>
        </p:nvSpPr>
        <p:spPr>
          <a:xfrm>
            <a:off x="457200" y="3886200"/>
            <a:ext cx="11277295" cy="2194560"/>
          </a:xfrm>
          <a:prstGeom prst="rect">
            <a:avLst/>
          </a:prstGeom>
          <a:solidFill>
            <a:srgbClr val="9BBB59">
              <a:alpha val="68000"/>
            </a:srgbClr>
          </a:solidFill>
          <a:ln w="6350">
            <a:solidFill>
              <a:srgbClr val="DCE3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Source Footer"/>
          <p:cNvSpPr txBox="1"/>
          <p:nvPr/>
        </p:nvSpPr>
        <p:spPr>
          <a:xfrm>
            <a:off x="457200" y="6172200"/>
            <a:ext cx="10972800" cy="308152"/>
          </a:xfrm>
          <a:prstGeom prst="rect">
            <a:avLst/>
          </a:prstGeom>
          <a:noFill/>
        </p:spPr>
        <p:txBody>
          <a:bodyPr wrap="square">
            <a:spAutoFit/>
          </a:bodyPr>
          <a:lstStyle/>
          <a:p>
            <a:pPr algn="l"/>
            <a:r>
              <a:rPr sz="1100" b="0" i="1">
                <a:solidFill>
                  <a:srgbClr val="6B6B6B"/>
                </a:solidFill>
                <a:latin typeface="Segoe Sans Display"/>
              </a:rPr>
              <a:t>Source — solution-architecture.md §9 (Sequencing) · §11 (Open Questions for the Room)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Custom 21">
      <a:dk1>
        <a:sysClr val="windowText" lastClr="000000"/>
      </a:dk1>
      <a:lt1>
        <a:srgbClr val="FFFFFF"/>
      </a:lt1>
      <a:dk2>
        <a:srgbClr val="463668"/>
      </a:dk2>
      <a:lt2>
        <a:srgbClr val="E7E6E6"/>
      </a:lt2>
      <a:accent1>
        <a:srgbClr val="434343"/>
      </a:accent1>
      <a:accent2>
        <a:srgbClr val="2A446F"/>
      </a:accent2>
      <a:accent3>
        <a:srgbClr val="8DC8E8"/>
      </a:accent3>
      <a:accent4>
        <a:srgbClr val="8661C5"/>
      </a:accent4>
      <a:accent5>
        <a:srgbClr val="225B62"/>
      </a:accent5>
      <a:accent6>
        <a:srgbClr val="2F2F2F"/>
      </a:accent6>
      <a:hlink>
        <a:srgbClr val="0078D4"/>
      </a:hlink>
      <a:folHlink>
        <a:srgbClr val="7B7B7B"/>
      </a:folHlink>
    </a:clrScheme>
    <a:fontScheme name="Custom 1">
      <a:majorFont>
        <a:latin typeface="Segoe Sans Text Semibold"/>
        <a:ea typeface=""/>
        <a:cs typeface=""/>
      </a:majorFont>
      <a:minorFont>
        <a:latin typeface="Segoe Sans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366ca2c-0331-4b68-94c5-c8ac92536882">
      <Terms xmlns="http://schemas.microsoft.com/office/infopath/2007/PartnerControls"/>
    </lcf76f155ced4ddcb4097134ff3c332f>
    <TaxCatchAll xmlns="010a4d30-4de2-46dd-b668-2c35ef8d096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29BA2C596FC949B2F4B7CB2497383C" ma:contentTypeVersion="13" ma:contentTypeDescription="Create a new document." ma:contentTypeScope="" ma:versionID="8b7cb8938f8f5cb192d5e22a256442fe">
  <xsd:schema xmlns:xsd="http://www.w3.org/2001/XMLSchema" xmlns:xs="http://www.w3.org/2001/XMLSchema" xmlns:p="http://schemas.microsoft.com/office/2006/metadata/properties" xmlns:ns1="http://schemas.microsoft.com/sharepoint/v3" xmlns:ns2="f366ca2c-0331-4b68-94c5-c8ac92536882" xmlns:ns3="010a4d30-4de2-46dd-b668-2c35ef8d0964" targetNamespace="http://schemas.microsoft.com/office/2006/metadata/properties" ma:root="true" ma:fieldsID="c6dc196e439cb4b0c24b8dc563536a53" ns1:_="" ns2:_="" ns3:_="">
    <xsd:import namespace="http://schemas.microsoft.com/sharepoint/v3"/>
    <xsd:import namespace="f366ca2c-0331-4b68-94c5-c8ac92536882"/>
    <xsd:import namespace="010a4d30-4de2-46dd-b668-2c35ef8d0964"/>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66ca2c-0331-4b68-94c5-c8ac92536882"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0a4d30-4de2-46dd-b668-2c35ef8d096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81b033c-46a0-4780-8372-6f58a352d34c}" ma:internalName="TaxCatchAll" ma:showField="CatchAllData" ma:web="010a4d30-4de2-46dd-b668-2c35ef8d096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ADAB6E-78D9-4DD7-86A0-2E041DC37127}">
  <ds:schemaRefs>
    <ds:schemaRef ds:uri="http://purl.org/dc/dcmitype/"/>
    <ds:schemaRef ds:uri="http://schemas.microsoft.com/office/2006/documentManagement/types"/>
    <ds:schemaRef ds:uri="http://schemas.openxmlformats.org/package/2006/metadata/core-properties"/>
    <ds:schemaRef ds:uri="f366ca2c-0331-4b68-94c5-c8ac92536882"/>
    <ds:schemaRef ds:uri="http://www.w3.org/XML/1998/namespace"/>
    <ds:schemaRef ds:uri="http://purl.org/dc/elements/1.1/"/>
    <ds:schemaRef ds:uri="http://schemas.microsoft.com/office/2006/metadata/properties"/>
    <ds:schemaRef ds:uri="http://schemas.microsoft.com/office/infopath/2007/PartnerControls"/>
    <ds:schemaRef ds:uri="010a4d30-4de2-46dd-b668-2c35ef8d0964"/>
    <ds:schemaRef ds:uri="http://schemas.microsoft.com/sharepoint/v3"/>
    <ds:schemaRef ds:uri="http://purl.org/dc/terms/"/>
  </ds:schemaRefs>
</ds:datastoreItem>
</file>

<file path=customXml/itemProps2.xml><?xml version="1.0" encoding="utf-8"?>
<ds:datastoreItem xmlns:ds="http://schemas.openxmlformats.org/officeDocument/2006/customXml" ds:itemID="{DD71D941-C55A-48C1-AF2E-FFD9BEE2834F}">
  <ds:schemaRefs>
    <ds:schemaRef ds:uri="http://schemas.microsoft.com/sharepoint/v3/contenttype/forms"/>
  </ds:schemaRefs>
</ds:datastoreItem>
</file>

<file path=customXml/itemProps3.xml><?xml version="1.0" encoding="utf-8"?>
<ds:datastoreItem xmlns:ds="http://schemas.openxmlformats.org/officeDocument/2006/customXml" ds:itemID="{647D9C91-6087-40D7-9D8C-1340B9E19DFB}">
  <ds:schemaRefs>
    <ds:schemaRef ds:uri="010a4d30-4de2-46dd-b668-2c35ef8d0964"/>
    <ds:schemaRef ds:uri="f366ca2c-0331-4b68-94c5-c8ac9253688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1830</Words>
  <Application>Microsoft Office PowerPoint</Application>
  <PresentationFormat>Widescreen</PresentationFormat>
  <Paragraphs>220</Paragraphs>
  <Slides>11</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Aptos</vt:lpstr>
      <vt:lpstr>Arial</vt:lpstr>
      <vt:lpstr>Calibri</vt:lpstr>
      <vt:lpstr>Segoe Sans Display</vt:lpstr>
      <vt:lpstr>Segoe Sans Text</vt:lpstr>
      <vt:lpstr>Segoe Sans Text Semibold</vt:lpstr>
      <vt:lpstr>Wingdings</vt:lpstr>
      <vt:lpstr>Office Theme</vt:lpstr>
      <vt:lpstr>1_Office Theme</vt:lpstr>
      <vt:lpstr>PowerPoint Presentation</vt:lpstr>
      <vt:lpstr>Context &amp; Goal</vt:lpstr>
      <vt:lpstr>Phase A  |  Technical Architecture Research  </vt:lpstr>
      <vt:lpstr>Phase A  |  Copilot Prompts</vt:lpstr>
      <vt:lpstr>Phase B  |  Design Future-State Architecture</vt:lpstr>
      <vt:lpstr>Deliverable 1  |  Three Architecture Concept Diagrams</vt:lpstr>
      <vt:lpstr>Deliverable 2  |  Persona-Driven Scenarios</vt:lpstr>
      <vt:lpstr>Deliverable 3  |  C-Suite Relevance  —  “So What?” </vt:lpstr>
      <vt:lpstr>Workshop Flow &amp; Quality Bar</vt:lpstr>
      <vt:lpstr>Business Value Drivers in an AI First World</vt:lpstr>
      <vt:lpstr>What this means for ISD Architects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Robert Potocnik</dc:creator>
  <cp:keywords/>
  <dc:description>generated using python-pptx</dc:description>
  <cp:lastModifiedBy>Robert Potocnik</cp:lastModifiedBy>
  <cp:revision>1</cp:revision>
  <dcterms:created xsi:type="dcterms:W3CDTF">2013-01-27T09:14:16Z</dcterms:created>
  <dcterms:modified xsi:type="dcterms:W3CDTF">2026-05-13T21:24:37Z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0x0101007729BA2C596FC949B2F4B7CB2497383C</vt:lpwstr>
  </property>
  <property fmtid="{D5CDD505-2E9C-101B-9397-08002B2CF9AE}" pid="3" name="xd_ProgID">
    <vt:lpwstr/>
  </property>
  <property fmtid="{D5CDD505-2E9C-101B-9397-08002B2CF9AE}" pid="4" name="MediaServiceImageTags">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y fmtid="{D5CDD505-2E9C-101B-9397-08002B2CF9AE}" pid="10" name="Order">
    <vt:r8>531300</vt:r8>
  </property>
</Properties>
</file>